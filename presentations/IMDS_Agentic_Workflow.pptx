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Do not walk the agenda. Read the ask once. Names in the room: Operations cares about PPAP, Supply Chain about the 5,000 open and supplier chase, Quality about wrongful-accept, HR about specialist scarcity — not headcount cut. You are Supplier Quality Director. This is a decision briefing, not a training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0:45–2:15. Four numbers, then one sentence per function. Do not debate the 5,000 — it is the reason we are here. If challenged on automation=0, confirm: no IMDS-a2/Plus, no Examiner, no Connect. HR box: say explicitly this is not a reduction program.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2:15–3:45. Stay technical but short. Rec 001, GADSL, accept-before-attach, PPAP. Dual hop is why one person lives in both inbox and outbox. Do not teach the full IMDS UI.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3:45–5:15. This is the process Quality already lives. Stress action 6: Propose vs Send. Ford/GM/VW guidelines differ; a Send when Propose is required is an instant reject. That is an auto-reject pattern in v1.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5:15–7:00. This is the most important content slide. If you run long, skip later market color, not this. Quality will nod. Ops needs to hear that OEM reject restarts PPAP. Name GMW3059, VW 91101, Ford RSMS so you sound like the desk, not a software pitch.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7:00–8:30. Ops and HR slide. 106/day is the only number that matters for the 90-day drain. Do not claim same-day on the 5,000 stock on day 1. Same-day is the target for NEW requests once auto-accept is live. HR: more FTEs still cannot encode three OEM rulebooks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8:30–10:15. Quality: auto-accept is in scope and logged. HR: human column is the remaining job — higher skill, not fewer people as the pitch. If Legal flinches at auto-accept, point at sample audit + kill switch, do not reopen the strategy.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10:15–11:45. If challenged on scraping: we automate our licensed IMDS users for our company only. We do not touch other IMDS companies. Reviewer agent is the core; chaser can slip if time is short. Do not open a DXC commercial discussion unless asked.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11:45–13:15. Keep Predco/Certivo as proof, then pivot hard to build. If someone says “just buy Plus,” answer: Plus is a paid Examiner; it does not encode GMW3059 / VW 91101 / Ford RSMS for us, and we have no budget. Build captures the rule packs we already apply by hand.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13:15–14:45. Look at Quality and HR when you read the last line. GM/VP need to hear kill switch. IT needs own-account only. Do not linger — the next slide is the commitment.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14:45–16:30. Be the adult on 5,000: same-day is for new intake once auto-accept is on; stock drains on a burn-down. 100% FPY is outbound to OEM, not a claim that every sub-supplier MDS is born perfect — reds still auto-reject. If GM/VP want a date for backlog = 0, say we will table a burn-down after day 30 when we have nodes/minute measured.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16:30–18:00 then stop for questions (2 min buffer). Read the four asks. Close on the gold bar — do not add a new idea. If they ask budget, say own effort only. If they ask headcount, say role redesign not reduction. If they ask buy vs build, say build; vendors are evidence. Leave silence after the last line so VP/GM can endorse.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use only if asked in Q&amp;A; do not present in the 20-minute slot unless someone asks for definitions. Full elaboration: Air cover = VP/GM publicly defends automation. Parallel inbox = hiring without encoding rules. Directed buy example: GM directs Tier-2 bracket; they Propose to GM and to us. Dummy child chase = email sub-suppliers with missing accepted child MDS. Orphan decision = audit cannot replay which rule version applied. Amber examples: weight near limit, new supplier. Novel: derogation, new chemistry. OEM-rule owner job description: maintain rule packs, audit auto-greens, coach suppliers. Sources: public.mdsystem.com OEM guides, GMW3059, VW 91101, Ford RSMS.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73152" cy="6858000"/>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10972800" cy="256032"/>
          </a:xfrm>
          <a:prstGeom prst="rect">
            <a:avLst/>
          </a:prstGeom>
          <a:noFill/>
        </p:spPr>
        <p:txBody>
          <a:bodyPr wrap="square"/>
          <a:lstStyle/>
          <a:p>
            <a:pPr algn="l">
              <a:spcBef>
                <a:spcPts val="0"/>
              </a:spcBef>
              <a:spcAft>
                <a:spcPts val="600"/>
              </a:spcAft>
            </a:pPr>
            <a:r>
              <a:rPr sz="1100" b="1" i="0">
                <a:solidFill>
                  <a:srgbClr val="C4A35A"/>
                </a:solidFill>
                <a:latin typeface="Calibri"/>
              </a:rPr>
              <a:t>INTERNAL CONFIDENTIAL  ·  20-MINUTE DECISION BRIEFING  ·  AUGUST 2026</a:t>
            </a:r>
          </a:p>
        </p:txBody>
      </p:sp>
      <p:sp>
        <p:nvSpPr>
          <p:cNvPr id="6" name="TextBox 5"/>
          <p:cNvSpPr txBox="1"/>
          <p:nvPr/>
        </p:nvSpPr>
        <p:spPr>
          <a:xfrm>
            <a:off x="640080" y="1051560"/>
            <a:ext cx="11064240" cy="1234440"/>
          </a:xfrm>
          <a:prstGeom prst="rect">
            <a:avLst/>
          </a:prstGeom>
          <a:noFill/>
        </p:spPr>
        <p:txBody>
          <a:bodyPr wrap="square"/>
          <a:lstStyle/>
          <a:p>
            <a:pPr algn="l">
              <a:spcBef>
                <a:spcPts val="0"/>
              </a:spcBef>
              <a:spcAft>
                <a:spcPts val="600"/>
              </a:spcAft>
            </a:pPr>
            <a:r>
              <a:rPr sz="3400" b="1" i="0">
                <a:solidFill>
                  <a:srgbClr val="FFFFFF"/>
                </a:solidFill>
                <a:latin typeface="Calibri"/>
              </a:rPr>
              <a:t>Own the IMDS desk.
Build the agentic workflow.</a:t>
            </a:r>
          </a:p>
        </p:txBody>
      </p:sp>
      <p:sp>
        <p:nvSpPr>
          <p:cNvPr id="7" name="TextBox 6"/>
          <p:cNvSpPr txBox="1"/>
          <p:nvPr/>
        </p:nvSpPr>
        <p:spPr>
          <a:xfrm>
            <a:off x="640080" y="2468880"/>
            <a:ext cx="10789920" cy="640080"/>
          </a:xfrm>
          <a:prstGeom prst="rect">
            <a:avLst/>
          </a:prstGeom>
          <a:noFill/>
        </p:spPr>
        <p:txBody>
          <a:bodyPr wrap="square"/>
          <a:lstStyle/>
          <a:p>
            <a:pPr algn="l">
              <a:spcBef>
                <a:spcPts val="0"/>
              </a:spcBef>
              <a:spcAft>
                <a:spcPts val="600"/>
              </a:spcAft>
            </a:pPr>
            <a:r>
              <a:rPr sz="1600" b="0" i="0">
                <a:solidFill>
                  <a:srgbClr val="C5D0DC"/>
                </a:solidFill>
                <a:latin typeface="Calibri"/>
              </a:rPr>
              <a:t>From a 5,000-MDS backlog and OEM-specific rejects (GM, VW, Ford) to same-day accept and zero PPAP delay — with an internally built auto-accept / auto-reject workflow. No software budget.</a:t>
            </a:r>
          </a:p>
        </p:txBody>
      </p:sp>
      <p:sp>
        <p:nvSpPr>
          <p:cNvPr id="8" name="Rounded Rectangle 7"/>
          <p:cNvSpPr/>
          <p:nvPr/>
        </p:nvSpPr>
        <p:spPr>
          <a:xfrm>
            <a:off x="640080" y="3383280"/>
            <a:ext cx="2697480" cy="1234440"/>
          </a:xfrm>
          <a:prstGeom prst="roundRect">
            <a:avLst>
              <a:gd name="adj" fmla="val 6000"/>
            </a:avLst>
          </a:prstGeom>
          <a:solidFill>
            <a:srgbClr val="143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493008"/>
            <a:ext cx="2441448" cy="256032"/>
          </a:xfrm>
          <a:prstGeom prst="rect">
            <a:avLst/>
          </a:prstGeom>
          <a:noFill/>
        </p:spPr>
        <p:txBody>
          <a:bodyPr wrap="square"/>
          <a:lstStyle/>
          <a:p>
            <a:pPr algn="l">
              <a:spcBef>
                <a:spcPts val="0"/>
              </a:spcBef>
              <a:spcAft>
                <a:spcPts val="600"/>
              </a:spcAft>
            </a:pPr>
            <a:r>
              <a:rPr sz="1000" b="1" i="0">
                <a:solidFill>
                  <a:srgbClr val="C4A35A"/>
                </a:solidFill>
                <a:latin typeface="Calibri"/>
              </a:rPr>
              <a:t>PRESENTED BY</a:t>
            </a:r>
          </a:p>
        </p:txBody>
      </p:sp>
      <p:sp>
        <p:nvSpPr>
          <p:cNvPr id="10" name="TextBox 9"/>
          <p:cNvSpPr txBox="1"/>
          <p:nvPr/>
        </p:nvSpPr>
        <p:spPr>
          <a:xfrm>
            <a:off x="768096" y="3785615"/>
            <a:ext cx="2441448" cy="658368"/>
          </a:xfrm>
          <a:prstGeom prst="rect">
            <a:avLst/>
          </a:prstGeom>
          <a:noFill/>
        </p:spPr>
        <p:txBody>
          <a:bodyPr wrap="square"/>
          <a:lstStyle/>
          <a:p>
            <a:pPr algn="l">
              <a:spcBef>
                <a:spcPts val="0"/>
              </a:spcBef>
              <a:spcAft>
                <a:spcPts val="600"/>
              </a:spcAft>
            </a:pPr>
            <a:r>
              <a:rPr sz="1300" b="0" i="0">
                <a:solidFill>
                  <a:srgbClr val="FFFFFF"/>
                </a:solidFill>
                <a:latin typeface="Calibri"/>
              </a:rPr>
              <a:t>Supplier Quality Director</a:t>
            </a:r>
          </a:p>
        </p:txBody>
      </p:sp>
      <p:sp>
        <p:nvSpPr>
          <p:cNvPr id="11" name="Rounded Rectangle 10"/>
          <p:cNvSpPr/>
          <p:nvPr/>
        </p:nvSpPr>
        <p:spPr>
          <a:xfrm>
            <a:off x="3474720" y="3383280"/>
            <a:ext cx="2697480" cy="1234440"/>
          </a:xfrm>
          <a:prstGeom prst="roundRect">
            <a:avLst>
              <a:gd name="adj" fmla="val 6000"/>
            </a:avLst>
          </a:prstGeom>
          <a:solidFill>
            <a:srgbClr val="143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3493008"/>
            <a:ext cx="2441448" cy="256032"/>
          </a:xfrm>
          <a:prstGeom prst="rect">
            <a:avLst/>
          </a:prstGeom>
          <a:noFill/>
        </p:spPr>
        <p:txBody>
          <a:bodyPr wrap="square"/>
          <a:lstStyle/>
          <a:p>
            <a:pPr algn="l">
              <a:spcBef>
                <a:spcPts val="0"/>
              </a:spcBef>
              <a:spcAft>
                <a:spcPts val="600"/>
              </a:spcAft>
            </a:pPr>
            <a:r>
              <a:rPr sz="1000" b="1" i="0">
                <a:solidFill>
                  <a:srgbClr val="C4A35A"/>
                </a:solidFill>
                <a:latin typeface="Calibri"/>
              </a:rPr>
              <a:t>AUDIENCE</a:t>
            </a:r>
          </a:p>
        </p:txBody>
      </p:sp>
      <p:sp>
        <p:nvSpPr>
          <p:cNvPr id="13" name="TextBox 12"/>
          <p:cNvSpPr txBox="1"/>
          <p:nvPr/>
        </p:nvSpPr>
        <p:spPr>
          <a:xfrm>
            <a:off x="3602736" y="3785615"/>
            <a:ext cx="2441448" cy="658368"/>
          </a:xfrm>
          <a:prstGeom prst="rect">
            <a:avLst/>
          </a:prstGeom>
          <a:noFill/>
        </p:spPr>
        <p:txBody>
          <a:bodyPr wrap="square"/>
          <a:lstStyle/>
          <a:p>
            <a:pPr algn="l">
              <a:spcBef>
                <a:spcPts val="0"/>
              </a:spcBef>
              <a:spcAft>
                <a:spcPts val="600"/>
              </a:spcAft>
            </a:pPr>
            <a:r>
              <a:rPr sz="1300" b="0" i="0">
                <a:solidFill>
                  <a:srgbClr val="FFFFFF"/>
                </a:solidFill>
                <a:latin typeface="Calibri"/>
              </a:rPr>
              <a:t>VP / GM  ·  Operations, Supply Chain, Quality, HR</a:t>
            </a:r>
          </a:p>
        </p:txBody>
      </p:sp>
      <p:sp>
        <p:nvSpPr>
          <p:cNvPr id="14" name="Rounded Rectangle 13"/>
          <p:cNvSpPr/>
          <p:nvPr/>
        </p:nvSpPr>
        <p:spPr>
          <a:xfrm>
            <a:off x="6309360" y="3383280"/>
            <a:ext cx="2697480" cy="1234440"/>
          </a:xfrm>
          <a:prstGeom prst="roundRect">
            <a:avLst>
              <a:gd name="adj" fmla="val 6000"/>
            </a:avLst>
          </a:prstGeom>
          <a:solidFill>
            <a:srgbClr val="143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3493008"/>
            <a:ext cx="2441448" cy="256032"/>
          </a:xfrm>
          <a:prstGeom prst="rect">
            <a:avLst/>
          </a:prstGeom>
          <a:noFill/>
        </p:spPr>
        <p:txBody>
          <a:bodyPr wrap="square"/>
          <a:lstStyle/>
          <a:p>
            <a:pPr algn="l">
              <a:spcBef>
                <a:spcPts val="0"/>
              </a:spcBef>
              <a:spcAft>
                <a:spcPts val="600"/>
              </a:spcAft>
            </a:pPr>
            <a:r>
              <a:rPr sz="1000" b="1" i="0">
                <a:solidFill>
                  <a:srgbClr val="C4A35A"/>
                </a:solidFill>
                <a:latin typeface="Calibri"/>
              </a:rPr>
              <a:t>OUR ROLE</a:t>
            </a:r>
          </a:p>
        </p:txBody>
      </p:sp>
      <p:sp>
        <p:nvSpPr>
          <p:cNvPr id="16" name="TextBox 15"/>
          <p:cNvSpPr txBox="1"/>
          <p:nvPr/>
        </p:nvSpPr>
        <p:spPr>
          <a:xfrm>
            <a:off x="6437376" y="3785615"/>
            <a:ext cx="2441448" cy="658368"/>
          </a:xfrm>
          <a:prstGeom prst="rect">
            <a:avLst/>
          </a:prstGeom>
          <a:noFill/>
        </p:spPr>
        <p:txBody>
          <a:bodyPr wrap="square"/>
          <a:lstStyle/>
          <a:p>
            <a:pPr algn="l">
              <a:spcBef>
                <a:spcPts val="0"/>
              </a:spcBef>
              <a:spcAft>
                <a:spcPts val="600"/>
              </a:spcAft>
            </a:pPr>
            <a:r>
              <a:rPr sz="1300" b="0" i="0">
                <a:solidFill>
                  <a:srgbClr val="FFFFFF"/>
                </a:solidFill>
                <a:latin typeface="Calibri"/>
              </a:rPr>
              <a:t>Tier-1 and Tier-2 supplier</a:t>
            </a:r>
          </a:p>
        </p:txBody>
      </p:sp>
      <p:sp>
        <p:nvSpPr>
          <p:cNvPr id="17" name="Rounded Rectangle 16"/>
          <p:cNvSpPr/>
          <p:nvPr/>
        </p:nvSpPr>
        <p:spPr>
          <a:xfrm>
            <a:off x="9144000" y="3383280"/>
            <a:ext cx="2697480" cy="1234440"/>
          </a:xfrm>
          <a:prstGeom prst="roundRect">
            <a:avLst>
              <a:gd name="adj" fmla="val 6000"/>
            </a:avLst>
          </a:prstGeom>
          <a:solidFill>
            <a:srgbClr val="143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72016" y="3493008"/>
            <a:ext cx="2441448" cy="256032"/>
          </a:xfrm>
          <a:prstGeom prst="rect">
            <a:avLst/>
          </a:prstGeom>
          <a:noFill/>
        </p:spPr>
        <p:txBody>
          <a:bodyPr wrap="square"/>
          <a:lstStyle/>
          <a:p>
            <a:pPr algn="l">
              <a:spcBef>
                <a:spcPts val="0"/>
              </a:spcBef>
              <a:spcAft>
                <a:spcPts val="600"/>
              </a:spcAft>
            </a:pPr>
            <a:r>
              <a:rPr sz="1000" b="1" i="0">
                <a:solidFill>
                  <a:srgbClr val="C4A35A"/>
                </a:solidFill>
                <a:latin typeface="Calibri"/>
              </a:rPr>
              <a:t>CUSTOMERS IN SCOPE</a:t>
            </a:r>
          </a:p>
        </p:txBody>
      </p:sp>
      <p:sp>
        <p:nvSpPr>
          <p:cNvPr id="19" name="TextBox 18"/>
          <p:cNvSpPr txBox="1"/>
          <p:nvPr/>
        </p:nvSpPr>
        <p:spPr>
          <a:xfrm>
            <a:off x="9272016" y="3785615"/>
            <a:ext cx="2441448" cy="658368"/>
          </a:xfrm>
          <a:prstGeom prst="rect">
            <a:avLst/>
          </a:prstGeom>
          <a:noFill/>
        </p:spPr>
        <p:txBody>
          <a:bodyPr wrap="square"/>
          <a:lstStyle/>
          <a:p>
            <a:pPr algn="l">
              <a:spcBef>
                <a:spcPts val="0"/>
              </a:spcBef>
              <a:spcAft>
                <a:spcPts val="600"/>
              </a:spcAft>
            </a:pPr>
            <a:r>
              <a:rPr sz="1300" b="0" i="0">
                <a:solidFill>
                  <a:srgbClr val="FFFFFF"/>
                </a:solidFill>
                <a:latin typeface="Calibri"/>
              </a:rPr>
              <a:t>GM  ·  VW  ·  Ford</a:t>
            </a:r>
          </a:p>
        </p:txBody>
      </p:sp>
      <p:sp>
        <p:nvSpPr>
          <p:cNvPr id="20" name="TextBox 19"/>
          <p:cNvSpPr txBox="1"/>
          <p:nvPr/>
        </p:nvSpPr>
        <p:spPr>
          <a:xfrm>
            <a:off x="640080" y="4892040"/>
            <a:ext cx="10972800" cy="320040"/>
          </a:xfrm>
          <a:prstGeom prst="rect">
            <a:avLst/>
          </a:prstGeom>
          <a:noFill/>
        </p:spPr>
        <p:txBody>
          <a:bodyPr wrap="square"/>
          <a:lstStyle/>
          <a:p>
            <a:pPr algn="l">
              <a:spcBef>
                <a:spcPts val="0"/>
              </a:spcBef>
              <a:spcAft>
                <a:spcPts val="600"/>
              </a:spcAft>
            </a:pPr>
            <a:r>
              <a:rPr sz="1100" b="1" i="0">
                <a:solidFill>
                  <a:srgbClr val="C4A35A"/>
                </a:solidFill>
                <a:latin typeface="Calibri"/>
              </a:rPr>
              <a:t>TODAY’S ASK</a:t>
            </a:r>
          </a:p>
        </p:txBody>
      </p:sp>
      <p:sp>
        <p:nvSpPr>
          <p:cNvPr id="21" name="TextBox 20"/>
          <p:cNvSpPr txBox="1"/>
          <p:nvPr/>
        </p:nvSpPr>
        <p:spPr>
          <a:xfrm>
            <a:off x="640080" y="5166360"/>
            <a:ext cx="10972800" cy="822960"/>
          </a:xfrm>
          <a:prstGeom prst="rect">
            <a:avLst/>
          </a:prstGeom>
          <a:noFill/>
        </p:spPr>
        <p:txBody>
          <a:bodyPr wrap="square"/>
          <a:lstStyle/>
          <a:p>
            <a:pPr algn="l">
              <a:spcBef>
                <a:spcPts val="0"/>
              </a:spcBef>
              <a:spcAft>
                <a:spcPts val="600"/>
              </a:spcAft>
            </a:pPr>
            <a:r>
              <a:rPr sz="1500" b="0" i="0">
                <a:solidFill>
                  <a:srgbClr val="FFFFFF"/>
                </a:solidFill>
                <a:latin typeface="Calibri"/>
              </a:rPr>
              <a:t>Endorse Supplier Quality as accountable owner of an internally led build. Give air cover to automate our own IMDS company account. Recognize this as the house approach to a production-gate problem hiring cannot solve.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01  ·  THE OPERATING PICTURE</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The IMDS desk is a production gate run as a manual inbox</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Facts as of this briefing. No Examiner, no IMDS Plus, no Connect, no third-party platform.</a:t>
            </a:r>
          </a:p>
        </p:txBody>
      </p:sp>
      <p:sp>
        <p:nvSpPr>
          <p:cNvPr id="8" name="Rounded Rectangle 7"/>
          <p:cNvSpPr/>
          <p:nvPr/>
        </p:nvSpPr>
        <p:spPr>
          <a:xfrm>
            <a:off x="457200" y="1371600"/>
            <a:ext cx="2743200" cy="141732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481328"/>
            <a:ext cx="2487168" cy="384048"/>
          </a:xfrm>
          <a:prstGeom prst="rect">
            <a:avLst/>
          </a:prstGeom>
          <a:noFill/>
        </p:spPr>
        <p:txBody>
          <a:bodyPr wrap="square"/>
          <a:lstStyle/>
          <a:p>
            <a:pPr algn="l">
              <a:spcBef>
                <a:spcPts val="0"/>
              </a:spcBef>
              <a:spcAft>
                <a:spcPts val="600"/>
              </a:spcAft>
            </a:pPr>
            <a:r>
              <a:rPr sz="2600" b="1" i="0">
                <a:solidFill>
                  <a:srgbClr val="FFFFFF"/>
                </a:solidFill>
                <a:latin typeface="Calibri"/>
              </a:rPr>
              <a:t>50</a:t>
            </a:r>
          </a:p>
        </p:txBody>
      </p:sp>
      <p:sp>
        <p:nvSpPr>
          <p:cNvPr id="10" name="TextBox 9"/>
          <p:cNvSpPr txBox="1"/>
          <p:nvPr/>
        </p:nvSpPr>
        <p:spPr>
          <a:xfrm>
            <a:off x="603504" y="1865376"/>
            <a:ext cx="2487168" cy="329184"/>
          </a:xfrm>
          <a:prstGeom prst="rect">
            <a:avLst/>
          </a:prstGeom>
          <a:noFill/>
        </p:spPr>
        <p:txBody>
          <a:bodyPr wrap="square"/>
          <a:lstStyle/>
          <a:p>
            <a:pPr algn="l">
              <a:spcBef>
                <a:spcPts val="0"/>
              </a:spcBef>
              <a:spcAft>
                <a:spcPts val="600"/>
              </a:spcAft>
            </a:pPr>
            <a:r>
              <a:rPr sz="1200" b="0" i="0">
                <a:solidFill>
                  <a:srgbClr val="C4A35A"/>
                </a:solidFill>
                <a:latin typeface="Calibri"/>
              </a:rPr>
              <a:t>MDS received / day</a:t>
            </a:r>
          </a:p>
        </p:txBody>
      </p:sp>
      <p:sp>
        <p:nvSpPr>
          <p:cNvPr id="11" name="TextBox 10"/>
          <p:cNvSpPr txBox="1"/>
          <p:nvPr/>
        </p:nvSpPr>
        <p:spPr>
          <a:xfrm>
            <a:off x="603504" y="2194560"/>
            <a:ext cx="2487168" cy="384048"/>
          </a:xfrm>
          <a:prstGeom prst="rect">
            <a:avLst/>
          </a:prstGeom>
          <a:noFill/>
        </p:spPr>
        <p:txBody>
          <a:bodyPr wrap="square"/>
          <a:lstStyle/>
          <a:p>
            <a:pPr algn="l">
              <a:spcBef>
                <a:spcPts val="0"/>
              </a:spcBef>
              <a:spcAft>
                <a:spcPts val="600"/>
              </a:spcAft>
            </a:pPr>
            <a:r>
              <a:rPr sz="1100" b="0" i="0">
                <a:solidFill>
                  <a:srgbClr val="C5D0DC"/>
                </a:solidFill>
                <a:latin typeface="Calibri"/>
              </a:rPr>
              <a:t>Inbound volume that must be viewed before any accept or reject</a:t>
            </a:r>
          </a:p>
        </p:txBody>
      </p:sp>
      <p:sp>
        <p:nvSpPr>
          <p:cNvPr id="12" name="Rounded Rectangle 11"/>
          <p:cNvSpPr/>
          <p:nvPr/>
        </p:nvSpPr>
        <p:spPr>
          <a:xfrm>
            <a:off x="3337560" y="1371600"/>
            <a:ext cx="2743200" cy="141732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1481328"/>
            <a:ext cx="2487168" cy="384048"/>
          </a:xfrm>
          <a:prstGeom prst="rect">
            <a:avLst/>
          </a:prstGeom>
          <a:noFill/>
        </p:spPr>
        <p:txBody>
          <a:bodyPr wrap="square"/>
          <a:lstStyle/>
          <a:p>
            <a:pPr algn="l">
              <a:spcBef>
                <a:spcPts val="0"/>
              </a:spcBef>
              <a:spcAft>
                <a:spcPts val="600"/>
              </a:spcAft>
            </a:pPr>
            <a:r>
              <a:rPr sz="2600" b="1" i="0">
                <a:solidFill>
                  <a:srgbClr val="FFFFFF"/>
                </a:solidFill>
                <a:latin typeface="Calibri"/>
              </a:rPr>
              <a:t>~5,000</a:t>
            </a:r>
          </a:p>
        </p:txBody>
      </p:sp>
      <p:sp>
        <p:nvSpPr>
          <p:cNvPr id="14" name="TextBox 13"/>
          <p:cNvSpPr txBox="1"/>
          <p:nvPr/>
        </p:nvSpPr>
        <p:spPr>
          <a:xfrm>
            <a:off x="3483864" y="1865376"/>
            <a:ext cx="2487168" cy="329184"/>
          </a:xfrm>
          <a:prstGeom prst="rect">
            <a:avLst/>
          </a:prstGeom>
          <a:noFill/>
        </p:spPr>
        <p:txBody>
          <a:bodyPr wrap="square"/>
          <a:lstStyle/>
          <a:p>
            <a:pPr algn="l">
              <a:spcBef>
                <a:spcPts val="0"/>
              </a:spcBef>
              <a:spcAft>
                <a:spcPts val="600"/>
              </a:spcAft>
            </a:pPr>
            <a:r>
              <a:rPr sz="1200" b="0" i="0">
                <a:solidFill>
                  <a:srgbClr val="C4A35A"/>
                </a:solidFill>
                <a:latin typeface="Calibri"/>
              </a:rPr>
              <a:t>Open outstanding MDS</a:t>
            </a:r>
          </a:p>
        </p:txBody>
      </p:sp>
      <p:sp>
        <p:nvSpPr>
          <p:cNvPr id="15" name="TextBox 14"/>
          <p:cNvSpPr txBox="1"/>
          <p:nvPr/>
        </p:nvSpPr>
        <p:spPr>
          <a:xfrm>
            <a:off x="3483864" y="2194560"/>
            <a:ext cx="2487168" cy="384048"/>
          </a:xfrm>
          <a:prstGeom prst="rect">
            <a:avLst/>
          </a:prstGeom>
          <a:noFill/>
        </p:spPr>
        <p:txBody>
          <a:bodyPr wrap="square"/>
          <a:lstStyle/>
          <a:p>
            <a:pPr algn="l">
              <a:spcBef>
                <a:spcPts val="0"/>
              </a:spcBef>
              <a:spcAft>
                <a:spcPts val="600"/>
              </a:spcAft>
            </a:pPr>
            <a:r>
              <a:rPr sz="1100" b="0" i="0">
                <a:solidFill>
                  <a:srgbClr val="C5D0DC"/>
                </a:solidFill>
                <a:latin typeface="Calibri"/>
              </a:rPr>
              <a:t>Structural backlog — ~100 working days of intake if inbound froze</a:t>
            </a:r>
          </a:p>
        </p:txBody>
      </p:sp>
      <p:sp>
        <p:nvSpPr>
          <p:cNvPr id="16" name="Rounded Rectangle 15"/>
          <p:cNvSpPr/>
          <p:nvPr/>
        </p:nvSpPr>
        <p:spPr>
          <a:xfrm>
            <a:off x="6217920" y="1371600"/>
            <a:ext cx="2743200" cy="141732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481328"/>
            <a:ext cx="2487168" cy="384048"/>
          </a:xfrm>
          <a:prstGeom prst="rect">
            <a:avLst/>
          </a:prstGeom>
          <a:noFill/>
        </p:spPr>
        <p:txBody>
          <a:bodyPr wrap="square"/>
          <a:lstStyle/>
          <a:p>
            <a:pPr algn="l">
              <a:spcBef>
                <a:spcPts val="0"/>
              </a:spcBef>
              <a:spcAft>
                <a:spcPts val="600"/>
              </a:spcAft>
            </a:pPr>
            <a:r>
              <a:rPr sz="2600" b="1" i="0">
                <a:solidFill>
                  <a:srgbClr val="FFFFFF"/>
                </a:solidFill>
                <a:latin typeface="Calibri"/>
              </a:rPr>
              <a:t>0</a:t>
            </a:r>
          </a:p>
        </p:txBody>
      </p:sp>
      <p:sp>
        <p:nvSpPr>
          <p:cNvPr id="18" name="TextBox 17"/>
          <p:cNvSpPr txBox="1"/>
          <p:nvPr/>
        </p:nvSpPr>
        <p:spPr>
          <a:xfrm>
            <a:off x="6364224" y="1865376"/>
            <a:ext cx="2487168" cy="329184"/>
          </a:xfrm>
          <a:prstGeom prst="rect">
            <a:avLst/>
          </a:prstGeom>
          <a:noFill/>
        </p:spPr>
        <p:txBody>
          <a:bodyPr wrap="square"/>
          <a:lstStyle/>
          <a:p>
            <a:pPr algn="l">
              <a:spcBef>
                <a:spcPts val="0"/>
              </a:spcBef>
              <a:spcAft>
                <a:spcPts val="600"/>
              </a:spcAft>
            </a:pPr>
            <a:r>
              <a:rPr sz="1200" b="0" i="0">
                <a:solidFill>
                  <a:srgbClr val="C4A35A"/>
                </a:solidFill>
                <a:latin typeface="Calibri"/>
              </a:rPr>
              <a:t>Automation in place</a:t>
            </a:r>
          </a:p>
        </p:txBody>
      </p:sp>
      <p:sp>
        <p:nvSpPr>
          <p:cNvPr id="19" name="TextBox 18"/>
          <p:cNvSpPr txBox="1"/>
          <p:nvPr/>
        </p:nvSpPr>
        <p:spPr>
          <a:xfrm>
            <a:off x="6364224" y="2194560"/>
            <a:ext cx="2487168" cy="384048"/>
          </a:xfrm>
          <a:prstGeom prst="rect">
            <a:avLst/>
          </a:prstGeom>
          <a:noFill/>
        </p:spPr>
        <p:txBody>
          <a:bodyPr wrap="square"/>
          <a:lstStyle/>
          <a:p>
            <a:pPr algn="l">
              <a:spcBef>
                <a:spcPts val="0"/>
              </a:spcBef>
              <a:spcAft>
                <a:spcPts val="600"/>
              </a:spcAft>
            </a:pPr>
            <a:r>
              <a:rPr sz="1100" b="0" i="0">
                <a:solidFill>
                  <a:srgbClr val="C5D0DC"/>
                </a:solidFill>
                <a:latin typeface="Calibri"/>
              </a:rPr>
              <a:t>Classic IMDS browser only. Every node is a human click.</a:t>
            </a:r>
          </a:p>
        </p:txBody>
      </p:sp>
      <p:sp>
        <p:nvSpPr>
          <p:cNvPr id="20" name="Rounded Rectangle 19"/>
          <p:cNvSpPr/>
          <p:nvPr/>
        </p:nvSpPr>
        <p:spPr>
          <a:xfrm>
            <a:off x="9098280" y="1371600"/>
            <a:ext cx="2743200" cy="141732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4584" y="1481328"/>
            <a:ext cx="2487168" cy="384048"/>
          </a:xfrm>
          <a:prstGeom prst="rect">
            <a:avLst/>
          </a:prstGeom>
          <a:noFill/>
        </p:spPr>
        <p:txBody>
          <a:bodyPr wrap="square"/>
          <a:lstStyle/>
          <a:p>
            <a:pPr algn="l">
              <a:spcBef>
                <a:spcPts val="0"/>
              </a:spcBef>
              <a:spcAft>
                <a:spcPts val="600"/>
              </a:spcAft>
            </a:pPr>
            <a:r>
              <a:rPr sz="2600" b="1" i="0">
                <a:solidFill>
                  <a:srgbClr val="FFFFFF"/>
                </a:solidFill>
                <a:latin typeface="Calibri"/>
              </a:rPr>
              <a:t>GM / VW / Ford</a:t>
            </a:r>
          </a:p>
        </p:txBody>
      </p:sp>
      <p:sp>
        <p:nvSpPr>
          <p:cNvPr id="22" name="TextBox 21"/>
          <p:cNvSpPr txBox="1"/>
          <p:nvPr/>
        </p:nvSpPr>
        <p:spPr>
          <a:xfrm>
            <a:off x="9244584" y="1865376"/>
            <a:ext cx="2487168" cy="329184"/>
          </a:xfrm>
          <a:prstGeom prst="rect">
            <a:avLst/>
          </a:prstGeom>
          <a:noFill/>
        </p:spPr>
        <p:txBody>
          <a:bodyPr wrap="square"/>
          <a:lstStyle/>
          <a:p>
            <a:pPr algn="l">
              <a:spcBef>
                <a:spcPts val="0"/>
              </a:spcBef>
              <a:spcAft>
                <a:spcPts val="600"/>
              </a:spcAft>
            </a:pPr>
            <a:r>
              <a:rPr sz="1200" b="0" i="0">
                <a:solidFill>
                  <a:srgbClr val="C4A35A"/>
                </a:solidFill>
                <a:latin typeface="Calibri"/>
              </a:rPr>
              <a:t>Reject chaos driver</a:t>
            </a:r>
          </a:p>
        </p:txBody>
      </p:sp>
      <p:sp>
        <p:nvSpPr>
          <p:cNvPr id="23" name="TextBox 22"/>
          <p:cNvSpPr txBox="1"/>
          <p:nvPr/>
        </p:nvSpPr>
        <p:spPr>
          <a:xfrm>
            <a:off x="9244584" y="2194560"/>
            <a:ext cx="2487168" cy="384048"/>
          </a:xfrm>
          <a:prstGeom prst="rect">
            <a:avLst/>
          </a:prstGeom>
          <a:noFill/>
        </p:spPr>
        <p:txBody>
          <a:bodyPr wrap="square"/>
          <a:lstStyle/>
          <a:p>
            <a:pPr algn="l">
              <a:spcBef>
                <a:spcPts val="0"/>
              </a:spcBef>
              <a:spcAft>
                <a:spcPts val="600"/>
              </a:spcAft>
            </a:pPr>
            <a:r>
              <a:rPr sz="1100" b="0" i="0">
                <a:solidFill>
                  <a:srgbClr val="C5D0DC"/>
                </a:solidFill>
                <a:latin typeface="Calibri"/>
              </a:rPr>
              <a:t>OEM overlays on top of Rec 001 — not the IMDS system check</a:t>
            </a:r>
          </a:p>
        </p:txBody>
      </p:sp>
      <p:sp>
        <p:nvSpPr>
          <p:cNvPr id="24" name="Rounded Rectangle 23"/>
          <p:cNvSpPr/>
          <p:nvPr/>
        </p:nvSpPr>
        <p:spPr>
          <a:xfrm>
            <a:off x="457200" y="2971800"/>
            <a:ext cx="2743200" cy="28346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971800"/>
            <a:ext cx="2743200" cy="384048"/>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3044952"/>
            <a:ext cx="2487168" cy="256032"/>
          </a:xfrm>
          <a:prstGeom prst="rect">
            <a:avLst/>
          </a:prstGeom>
          <a:noFill/>
        </p:spPr>
        <p:txBody>
          <a:bodyPr wrap="square"/>
          <a:lstStyle/>
          <a:p>
            <a:pPr algn="l">
              <a:spcBef>
                <a:spcPts val="0"/>
              </a:spcBef>
              <a:spcAft>
                <a:spcPts val="600"/>
              </a:spcAft>
            </a:pPr>
            <a:r>
              <a:rPr sz="1300" b="1" i="0">
                <a:solidFill>
                  <a:srgbClr val="FFFFFF"/>
                </a:solidFill>
                <a:latin typeface="Calibri"/>
              </a:rPr>
              <a:t>Operations</a:t>
            </a:r>
          </a:p>
        </p:txBody>
      </p:sp>
      <p:sp>
        <p:nvSpPr>
          <p:cNvPr id="27" name="TextBox 26"/>
          <p:cNvSpPr txBox="1"/>
          <p:nvPr/>
        </p:nvSpPr>
        <p:spPr>
          <a:xfrm>
            <a:off x="585216" y="3474720"/>
            <a:ext cx="2487168" cy="2194560"/>
          </a:xfrm>
          <a:prstGeom prst="rect">
            <a:avLst/>
          </a:prstGeom>
          <a:noFill/>
        </p:spPr>
        <p:txBody>
          <a:bodyPr wrap="square"/>
          <a:lstStyle/>
          <a:p>
            <a:pPr algn="l">
              <a:spcBef>
                <a:spcPts val="0"/>
              </a:spcBef>
              <a:spcAft>
                <a:spcPts val="600"/>
              </a:spcAft>
            </a:pPr>
            <a:r>
              <a:rPr sz="1200" b="0" i="0">
                <a:solidFill>
                  <a:srgbClr val="3A4758"/>
                </a:solidFill>
                <a:latin typeface="Calibri"/>
              </a:rPr>
              <a:t>An accepted MDS is a PPAP prerequisite. Open MDS = open production authorization. Zero PPAP delay is the target, not a slogan.</a:t>
            </a:r>
          </a:p>
        </p:txBody>
      </p:sp>
      <p:sp>
        <p:nvSpPr>
          <p:cNvPr id="28" name="Rounded Rectangle 27"/>
          <p:cNvSpPr/>
          <p:nvPr/>
        </p:nvSpPr>
        <p:spPr>
          <a:xfrm>
            <a:off x="3337560" y="2971800"/>
            <a:ext cx="2743200" cy="28346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7560" y="2971800"/>
            <a:ext cx="2743200" cy="384048"/>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65576" y="3044952"/>
            <a:ext cx="2487168" cy="256032"/>
          </a:xfrm>
          <a:prstGeom prst="rect">
            <a:avLst/>
          </a:prstGeom>
          <a:noFill/>
        </p:spPr>
        <p:txBody>
          <a:bodyPr wrap="square"/>
          <a:lstStyle/>
          <a:p>
            <a:pPr algn="l">
              <a:spcBef>
                <a:spcPts val="0"/>
              </a:spcBef>
              <a:spcAft>
                <a:spcPts val="600"/>
              </a:spcAft>
            </a:pPr>
            <a:r>
              <a:rPr sz="1300" b="1" i="0">
                <a:solidFill>
                  <a:srgbClr val="FFFFFF"/>
                </a:solidFill>
                <a:latin typeface="Calibri"/>
              </a:rPr>
              <a:t>Supply chain</a:t>
            </a:r>
          </a:p>
        </p:txBody>
      </p:sp>
      <p:sp>
        <p:nvSpPr>
          <p:cNvPr id="31" name="TextBox 30"/>
          <p:cNvSpPr txBox="1"/>
          <p:nvPr/>
        </p:nvSpPr>
        <p:spPr>
          <a:xfrm>
            <a:off x="3465576" y="3474720"/>
            <a:ext cx="2487168" cy="2194560"/>
          </a:xfrm>
          <a:prstGeom prst="rect">
            <a:avLst/>
          </a:prstGeom>
          <a:noFill/>
        </p:spPr>
        <p:txBody>
          <a:bodyPr wrap="square"/>
          <a:lstStyle/>
          <a:p>
            <a:pPr algn="l">
              <a:spcBef>
                <a:spcPts val="0"/>
              </a:spcBef>
              <a:spcAft>
                <a:spcPts val="600"/>
              </a:spcAft>
            </a:pPr>
            <a:r>
              <a:rPr sz="1200" b="0" i="0">
                <a:solidFill>
                  <a:srgbClr val="3A4758"/>
                </a:solidFill>
                <a:latin typeface="Calibri"/>
              </a:rPr>
              <a:t>We sit in two hops at once: Tier-2 to our customer and Tier-1 to the OEM. Dummy or unaccepted child MDS blocks the whole tree.</a:t>
            </a:r>
          </a:p>
        </p:txBody>
      </p:sp>
      <p:sp>
        <p:nvSpPr>
          <p:cNvPr id="32" name="Rounded Rectangle 31"/>
          <p:cNvSpPr/>
          <p:nvPr/>
        </p:nvSpPr>
        <p:spPr>
          <a:xfrm>
            <a:off x="6217920" y="2971800"/>
            <a:ext cx="2743200" cy="28346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2971800"/>
            <a:ext cx="2743200" cy="384048"/>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3044952"/>
            <a:ext cx="2487168" cy="256032"/>
          </a:xfrm>
          <a:prstGeom prst="rect">
            <a:avLst/>
          </a:prstGeom>
          <a:noFill/>
        </p:spPr>
        <p:txBody>
          <a:bodyPr wrap="square"/>
          <a:lstStyle/>
          <a:p>
            <a:pPr algn="l">
              <a:spcBef>
                <a:spcPts val="0"/>
              </a:spcBef>
              <a:spcAft>
                <a:spcPts val="600"/>
              </a:spcAft>
            </a:pPr>
            <a:r>
              <a:rPr sz="1300" b="1" i="0">
                <a:solidFill>
                  <a:srgbClr val="FFFFFF"/>
                </a:solidFill>
                <a:latin typeface="Calibri"/>
              </a:rPr>
              <a:t>Quality</a:t>
            </a:r>
          </a:p>
        </p:txBody>
      </p:sp>
      <p:sp>
        <p:nvSpPr>
          <p:cNvPr id="35" name="TextBox 34"/>
          <p:cNvSpPr txBox="1"/>
          <p:nvPr/>
        </p:nvSpPr>
        <p:spPr>
          <a:xfrm>
            <a:off x="6345936" y="3474720"/>
            <a:ext cx="2487168" cy="2194560"/>
          </a:xfrm>
          <a:prstGeom prst="rect">
            <a:avLst/>
          </a:prstGeom>
          <a:noFill/>
        </p:spPr>
        <p:txBody>
          <a:bodyPr wrap="square"/>
          <a:lstStyle/>
          <a:p>
            <a:pPr algn="l">
              <a:spcBef>
                <a:spcPts val="0"/>
              </a:spcBef>
              <a:spcAft>
                <a:spcPts val="600"/>
              </a:spcAft>
            </a:pPr>
            <a:r>
              <a:rPr sz="1200" b="0" i="0">
                <a:solidFill>
                  <a:srgbClr val="3A4758"/>
                </a:solidFill>
                <a:latin typeface="Calibri"/>
              </a:rPr>
              <a:t>Passing IMDS Check is not OEM acceptance. IMDS 15.2 says further manual review may be required. GM, VW, and Ford each add naming, weight, and structure rules.</a:t>
            </a:r>
          </a:p>
        </p:txBody>
      </p:sp>
      <p:sp>
        <p:nvSpPr>
          <p:cNvPr id="36" name="Rounded Rectangle 35"/>
          <p:cNvSpPr/>
          <p:nvPr/>
        </p:nvSpPr>
        <p:spPr>
          <a:xfrm>
            <a:off x="9098280" y="2971800"/>
            <a:ext cx="2743200" cy="28346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8280" y="2971800"/>
            <a:ext cx="2743200" cy="384048"/>
          </a:xfrm>
          <a:prstGeom prst="rect">
            <a:avLst/>
          </a:prstGeom>
          <a:solidFill>
            <a:srgbClr val="C9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6296" y="3044952"/>
            <a:ext cx="2487168" cy="256032"/>
          </a:xfrm>
          <a:prstGeom prst="rect">
            <a:avLst/>
          </a:prstGeom>
          <a:noFill/>
        </p:spPr>
        <p:txBody>
          <a:bodyPr wrap="square"/>
          <a:lstStyle/>
          <a:p>
            <a:pPr algn="l">
              <a:spcBef>
                <a:spcPts val="0"/>
              </a:spcBef>
              <a:spcAft>
                <a:spcPts val="600"/>
              </a:spcAft>
            </a:pPr>
            <a:r>
              <a:rPr sz="1300" b="1" i="0">
                <a:solidFill>
                  <a:srgbClr val="FFFFFF"/>
                </a:solidFill>
                <a:latin typeface="Calibri"/>
              </a:rPr>
              <a:t>HR</a:t>
            </a:r>
          </a:p>
        </p:txBody>
      </p:sp>
      <p:sp>
        <p:nvSpPr>
          <p:cNvPr id="39" name="TextBox 38"/>
          <p:cNvSpPr txBox="1"/>
          <p:nvPr/>
        </p:nvSpPr>
        <p:spPr>
          <a:xfrm>
            <a:off x="9226296" y="3474720"/>
            <a:ext cx="2487168" cy="2194560"/>
          </a:xfrm>
          <a:prstGeom prst="rect">
            <a:avLst/>
          </a:prstGeom>
          <a:noFill/>
        </p:spPr>
        <p:txBody>
          <a:bodyPr wrap="square"/>
          <a:lstStyle/>
          <a:p>
            <a:pPr algn="l">
              <a:spcBef>
                <a:spcPts val="0"/>
              </a:spcBef>
              <a:spcAft>
                <a:spcPts val="600"/>
              </a:spcAft>
            </a:pPr>
            <a:r>
              <a:rPr sz="1200" b="0" i="0">
                <a:solidFill>
                  <a:srgbClr val="3A4758"/>
                </a:solidFill>
                <a:latin typeface="Calibri"/>
              </a:rPr>
              <a:t>Judgment sits in a few specialists’ heads. Leave or peak volume stalls launches. The answer is to encode OEM rule packs — not to hire a parallel inbox.</a:t>
            </a:r>
          </a:p>
        </p:txBody>
      </p:sp>
      <p:sp>
        <p:nvSpPr>
          <p:cNvPr id="40" name="Rectangle 39"/>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43" name="TextBox 42"/>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02  ·  INTRODUCTION OF IMDS</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IMDS is the industry mechanism behind ELV, GADSL, and PPAP</a:t>
            </a:r>
          </a:p>
        </p:txBody>
      </p:sp>
      <p:sp>
        <p:nvSpPr>
          <p:cNvPr id="7" name="Rounded Rectangle 6"/>
          <p:cNvSpPr/>
          <p:nvPr/>
        </p:nvSpPr>
        <p:spPr>
          <a:xfrm>
            <a:off x="457200" y="1051560"/>
            <a:ext cx="6720840" cy="521208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07008"/>
            <a:ext cx="6355080" cy="292608"/>
          </a:xfrm>
          <a:prstGeom prst="rect">
            <a:avLst/>
          </a:prstGeom>
          <a:noFill/>
        </p:spPr>
        <p:txBody>
          <a:bodyPr wrap="square"/>
          <a:lstStyle/>
          <a:p>
            <a:pPr algn="l">
              <a:spcBef>
                <a:spcPts val="0"/>
              </a:spcBef>
              <a:spcAft>
                <a:spcPts val="600"/>
              </a:spcAft>
            </a:pPr>
            <a:r>
              <a:rPr sz="1500" b="1" i="0">
                <a:solidFill>
                  <a:srgbClr val="0B1F3A"/>
                </a:solidFill>
                <a:latin typeface="Calibri"/>
              </a:rPr>
              <a:t>What the room must share as language</a:t>
            </a:r>
          </a:p>
        </p:txBody>
      </p:sp>
      <p:sp>
        <p:nvSpPr>
          <p:cNvPr id="9" name="TextBox 8"/>
          <p:cNvSpPr txBox="1"/>
          <p:nvPr/>
        </p:nvSpPr>
        <p:spPr>
          <a:xfrm>
            <a:off x="658368" y="1600200"/>
            <a:ext cx="6309360" cy="4434840"/>
          </a:xfrm>
          <a:prstGeom prst="rect">
            <a:avLst/>
          </a:prstGeom>
          <a:noFill/>
        </p:spPr>
        <p:txBody>
          <a:bodyPr wrap="square">
            <a:spAutoFit/>
          </a:bodyPr>
          <a:lstStyle/>
          <a:p>
            <a:pPr algn="l">
              <a:spcBef>
                <a:spcPts val="0"/>
              </a:spcBef>
              <a:spcAft>
                <a:spcPts val="800"/>
              </a:spcAft>
            </a:pPr>
            <a:r>
              <a:rPr sz="1300" b="0" i="0">
                <a:solidFill>
                  <a:srgbClr val="3A4758"/>
                </a:solidFill>
                <a:latin typeface="Calibri"/>
              </a:rPr>
              <a:t>▸  IMDS (International Material Data System) is the OEM-mandated repository for every material in a finished vehicle. DXC administers it. Basic browser access is free; we use only that today.</a:t>
            </a:r>
          </a:p>
          <a:p>
            <a:pPr algn="l">
              <a:spcBef>
                <a:spcPts val="0"/>
              </a:spcBef>
              <a:spcAft>
                <a:spcPts val="800"/>
              </a:spcAft>
            </a:pPr>
            <a:r>
              <a:rPr sz="1300" b="0" i="0">
                <a:solidFill>
                  <a:srgbClr val="3A4758"/>
                </a:solidFill>
                <a:latin typeface="Calibri"/>
              </a:rPr>
              <a:t>▸  An MDS is a tree: component / semi-component → material → basic substance (CAS, 1 g resolution). Every node must sum to 100%. Rec 001 is the structure and quality bible (10% wildcard cap, legal node types, polymer marking, application codes).</a:t>
            </a:r>
          </a:p>
          <a:p>
            <a:pPr algn="l">
              <a:spcBef>
                <a:spcPts val="0"/>
              </a:spcBef>
              <a:spcAft>
                <a:spcPts val="800"/>
              </a:spcAft>
            </a:pPr>
            <a:r>
              <a:rPr sz="1300" b="0" i="0">
                <a:solidFill>
                  <a:srgbClr val="3A4758"/>
                </a:solidFill>
                <a:latin typeface="Calibri"/>
              </a:rPr>
              <a:t>▸  IMDS was built for the ELV Directive. It also carries GADSL (P / D / D/P), REACH SVHC, and, since IMDS 15, PCF fields (Rec 027). We are not asking for PCF in v1.</a:t>
            </a:r>
          </a:p>
          <a:p>
            <a:pPr algn="l">
              <a:spcBef>
                <a:spcPts val="0"/>
              </a:spcBef>
              <a:spcAft>
                <a:spcPts val="800"/>
              </a:spcAft>
            </a:pPr>
            <a:r>
              <a:rPr sz="1300" b="0" i="0">
                <a:solidFill>
                  <a:srgbClr val="3A4758"/>
                </a:solidFill>
                <a:latin typeface="Calibri"/>
              </a:rPr>
              <a:t>▸  Most OEMs will not grant PPAP without an accepted MDS for that part number. A rejected MDS is a launch delay.</a:t>
            </a:r>
          </a:p>
        </p:txBody>
      </p:sp>
      <p:sp>
        <p:nvSpPr>
          <p:cNvPr id="10" name="Rounded Rectangle 9"/>
          <p:cNvSpPr/>
          <p:nvPr/>
        </p:nvSpPr>
        <p:spPr>
          <a:xfrm>
            <a:off x="7406640" y="1051560"/>
            <a:ext cx="4297680" cy="1207008"/>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71231" y="1179576"/>
            <a:ext cx="3977639" cy="292608"/>
          </a:xfrm>
          <a:prstGeom prst="rect">
            <a:avLst/>
          </a:prstGeom>
          <a:noFill/>
        </p:spPr>
        <p:txBody>
          <a:bodyPr wrap="square"/>
          <a:lstStyle/>
          <a:p>
            <a:pPr algn="l">
              <a:spcBef>
                <a:spcPts val="0"/>
              </a:spcBef>
              <a:spcAft>
                <a:spcPts val="600"/>
              </a:spcAft>
            </a:pPr>
            <a:r>
              <a:rPr sz="1300" b="1" i="0">
                <a:solidFill>
                  <a:srgbClr val="0F6E6E"/>
                </a:solidFill>
                <a:latin typeface="Calibri"/>
              </a:rPr>
              <a:t>Material / Tier-3</a:t>
            </a:r>
          </a:p>
        </p:txBody>
      </p:sp>
      <p:sp>
        <p:nvSpPr>
          <p:cNvPr id="12" name="TextBox 11"/>
          <p:cNvSpPr txBox="1"/>
          <p:nvPr/>
        </p:nvSpPr>
        <p:spPr>
          <a:xfrm>
            <a:off x="7571231" y="1508760"/>
            <a:ext cx="3977639" cy="621792"/>
          </a:xfrm>
          <a:prstGeom prst="rect">
            <a:avLst/>
          </a:prstGeom>
          <a:noFill/>
        </p:spPr>
        <p:txBody>
          <a:bodyPr wrap="square"/>
          <a:lstStyle/>
          <a:p>
            <a:pPr algn="l">
              <a:spcBef>
                <a:spcPts val="0"/>
              </a:spcBef>
              <a:spcAft>
                <a:spcPts val="600"/>
              </a:spcAft>
            </a:pPr>
            <a:r>
              <a:rPr sz="1200" b="0" i="0">
                <a:solidFill>
                  <a:srgbClr val="3A4758"/>
                </a:solidFill>
                <a:latin typeface="Calibri"/>
              </a:rPr>
              <a:t>Propose child MDS to us</a:t>
            </a:r>
          </a:p>
        </p:txBody>
      </p:sp>
      <p:sp>
        <p:nvSpPr>
          <p:cNvPr id="13" name="Rounded Rectangle 12"/>
          <p:cNvSpPr/>
          <p:nvPr/>
        </p:nvSpPr>
        <p:spPr>
          <a:xfrm>
            <a:off x="7406640" y="2350008"/>
            <a:ext cx="4297680" cy="1207008"/>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2478024"/>
            <a:ext cx="3977639" cy="292608"/>
          </a:xfrm>
          <a:prstGeom prst="rect">
            <a:avLst/>
          </a:prstGeom>
          <a:noFill/>
        </p:spPr>
        <p:txBody>
          <a:bodyPr wrap="square"/>
          <a:lstStyle/>
          <a:p>
            <a:pPr algn="l">
              <a:spcBef>
                <a:spcPts val="0"/>
              </a:spcBef>
              <a:spcAft>
                <a:spcPts val="600"/>
              </a:spcAft>
            </a:pPr>
            <a:r>
              <a:rPr sz="1300" b="1" i="0">
                <a:solidFill>
                  <a:srgbClr val="0F6E6E"/>
                </a:solidFill>
                <a:latin typeface="Calibri"/>
              </a:rPr>
              <a:t>Us as customer</a:t>
            </a:r>
          </a:p>
        </p:txBody>
      </p:sp>
      <p:sp>
        <p:nvSpPr>
          <p:cNvPr id="15" name="TextBox 14"/>
          <p:cNvSpPr txBox="1"/>
          <p:nvPr/>
        </p:nvSpPr>
        <p:spPr>
          <a:xfrm>
            <a:off x="7571231" y="2807208"/>
            <a:ext cx="3977639" cy="621792"/>
          </a:xfrm>
          <a:prstGeom prst="rect">
            <a:avLst/>
          </a:prstGeom>
          <a:noFill/>
        </p:spPr>
        <p:txBody>
          <a:bodyPr wrap="square"/>
          <a:lstStyle/>
          <a:p>
            <a:pPr algn="l">
              <a:spcBef>
                <a:spcPts val="0"/>
              </a:spcBef>
              <a:spcAft>
                <a:spcPts val="600"/>
              </a:spcAft>
            </a:pPr>
            <a:r>
              <a:rPr sz="1200" b="0" i="0">
                <a:solidFill>
                  <a:srgbClr val="3A4758"/>
                </a:solidFill>
                <a:latin typeface="Calibri"/>
              </a:rPr>
              <a:t>View → accept or reject. Only accepted children may be attached.</a:t>
            </a:r>
          </a:p>
        </p:txBody>
      </p:sp>
      <p:sp>
        <p:nvSpPr>
          <p:cNvPr id="16" name="Rounded Rectangle 15"/>
          <p:cNvSpPr/>
          <p:nvPr/>
        </p:nvSpPr>
        <p:spPr>
          <a:xfrm>
            <a:off x="7406640" y="3648456"/>
            <a:ext cx="4297680" cy="1207008"/>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776472"/>
            <a:ext cx="3977639" cy="292608"/>
          </a:xfrm>
          <a:prstGeom prst="rect">
            <a:avLst/>
          </a:prstGeom>
          <a:noFill/>
        </p:spPr>
        <p:txBody>
          <a:bodyPr wrap="square"/>
          <a:lstStyle/>
          <a:p>
            <a:pPr algn="l">
              <a:spcBef>
                <a:spcPts val="0"/>
              </a:spcBef>
              <a:spcAft>
                <a:spcPts val="600"/>
              </a:spcAft>
            </a:pPr>
            <a:r>
              <a:rPr sz="1300" b="1" i="0">
                <a:solidFill>
                  <a:srgbClr val="0F6E6E"/>
                </a:solidFill>
                <a:latin typeface="Calibri"/>
              </a:rPr>
              <a:t>Us as supplier</a:t>
            </a:r>
          </a:p>
        </p:txBody>
      </p:sp>
      <p:sp>
        <p:nvSpPr>
          <p:cNvPr id="18" name="TextBox 17"/>
          <p:cNvSpPr txBox="1"/>
          <p:nvPr/>
        </p:nvSpPr>
        <p:spPr>
          <a:xfrm>
            <a:off x="7571231" y="4105656"/>
            <a:ext cx="3977639" cy="621792"/>
          </a:xfrm>
          <a:prstGeom prst="rect">
            <a:avLst/>
          </a:prstGeom>
          <a:noFill/>
        </p:spPr>
        <p:txBody>
          <a:bodyPr wrap="square"/>
          <a:lstStyle/>
          <a:p>
            <a:pPr algn="l">
              <a:spcBef>
                <a:spcPts val="0"/>
              </a:spcBef>
              <a:spcAft>
                <a:spcPts val="600"/>
              </a:spcAft>
            </a:pPr>
            <a:r>
              <a:rPr sz="1200" b="0" i="0">
                <a:solidFill>
                  <a:srgbClr val="3A4758"/>
                </a:solidFill>
                <a:latin typeface="Calibri"/>
              </a:rPr>
              <a:t>Build our tree. Propose or Send to next customer.</a:t>
            </a:r>
          </a:p>
        </p:txBody>
      </p:sp>
      <p:sp>
        <p:nvSpPr>
          <p:cNvPr id="19" name="Rounded Rectangle 18"/>
          <p:cNvSpPr/>
          <p:nvPr/>
        </p:nvSpPr>
        <p:spPr>
          <a:xfrm>
            <a:off x="7406640" y="4946904"/>
            <a:ext cx="4297680" cy="1207008"/>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5074920"/>
            <a:ext cx="3977639" cy="292608"/>
          </a:xfrm>
          <a:prstGeom prst="rect">
            <a:avLst/>
          </a:prstGeom>
          <a:noFill/>
        </p:spPr>
        <p:txBody>
          <a:bodyPr wrap="square"/>
          <a:lstStyle/>
          <a:p>
            <a:pPr algn="l">
              <a:spcBef>
                <a:spcPts val="0"/>
              </a:spcBef>
              <a:spcAft>
                <a:spcPts val="600"/>
              </a:spcAft>
            </a:pPr>
            <a:r>
              <a:rPr sz="1300" b="1" i="0">
                <a:solidFill>
                  <a:srgbClr val="0F6E6E"/>
                </a:solidFill>
                <a:latin typeface="Calibri"/>
              </a:rPr>
              <a:t>GM / VW / Ford</a:t>
            </a:r>
          </a:p>
        </p:txBody>
      </p:sp>
      <p:sp>
        <p:nvSpPr>
          <p:cNvPr id="21" name="TextBox 20"/>
          <p:cNvSpPr txBox="1"/>
          <p:nvPr/>
        </p:nvSpPr>
        <p:spPr>
          <a:xfrm>
            <a:off x="7571231" y="5404104"/>
            <a:ext cx="3977639" cy="621792"/>
          </a:xfrm>
          <a:prstGeom prst="rect">
            <a:avLst/>
          </a:prstGeom>
          <a:noFill/>
        </p:spPr>
        <p:txBody>
          <a:bodyPr wrap="square"/>
          <a:lstStyle/>
          <a:p>
            <a:pPr algn="l">
              <a:spcBef>
                <a:spcPts val="0"/>
              </a:spcBef>
              <a:spcAft>
                <a:spcPts val="600"/>
              </a:spcAft>
            </a:pPr>
            <a:r>
              <a:rPr sz="1200" b="0" i="0">
                <a:solidFill>
                  <a:srgbClr val="3A4758"/>
                </a:solidFill>
                <a:latin typeface="Calibri"/>
              </a:rPr>
              <a:t>Accept into the vehicle. ELV / GADSL / PPAP.</a:t>
            </a:r>
          </a:p>
        </p:txBody>
      </p:sp>
      <p:sp>
        <p:nvSpPr>
          <p:cNvPr id="22" name="Rectangle 21"/>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25" name="TextBox 24"/>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03  ·  SUPPLIER ROLES</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Every MDS we touch is one of six actions — all of them are chaotic today</a:t>
            </a:r>
          </a:p>
        </p:txBody>
      </p:sp>
      <p:sp>
        <p:nvSpPr>
          <p:cNvPr id="7" name="Rounded Rectangle 6"/>
          <p:cNvSpPr/>
          <p:nvPr/>
        </p:nvSpPr>
        <p:spPr>
          <a:xfrm>
            <a:off x="457200" y="105156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1216152"/>
            <a:ext cx="347472" cy="347472"/>
          </a:xfrm>
          <a:prstGeom prst="ellipse">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25272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1</a:t>
            </a:r>
          </a:p>
        </p:txBody>
      </p:sp>
      <p:sp>
        <p:nvSpPr>
          <p:cNvPr id="10" name="TextBox 9"/>
          <p:cNvSpPr txBox="1"/>
          <p:nvPr/>
        </p:nvSpPr>
        <p:spPr>
          <a:xfrm>
            <a:off x="1078992" y="125272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Verify inbox</a:t>
            </a:r>
          </a:p>
        </p:txBody>
      </p:sp>
      <p:sp>
        <p:nvSpPr>
          <p:cNvPr id="11" name="TextBox 10"/>
          <p:cNvSpPr txBox="1"/>
          <p:nvPr/>
        </p:nvSpPr>
        <p:spPr>
          <a:xfrm>
            <a:off x="621792" y="170992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Filter received: not yet browsed, browsed, in process, cancelled by sender. 50/day plus 5,000 open.</a:t>
            </a:r>
          </a:p>
        </p:txBody>
      </p:sp>
      <p:sp>
        <p:nvSpPr>
          <p:cNvPr id="12" name="Rounded Rectangle 11"/>
          <p:cNvSpPr/>
          <p:nvPr/>
        </p:nvSpPr>
        <p:spPr>
          <a:xfrm>
            <a:off x="4297680" y="105156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62272" y="1216152"/>
            <a:ext cx="347472" cy="347472"/>
          </a:xfrm>
          <a:prstGeom prst="ellipse">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125272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2</a:t>
            </a:r>
          </a:p>
        </p:txBody>
      </p:sp>
      <p:sp>
        <p:nvSpPr>
          <p:cNvPr id="15" name="TextBox 14"/>
          <p:cNvSpPr txBox="1"/>
          <p:nvPr/>
        </p:nvSpPr>
        <p:spPr>
          <a:xfrm>
            <a:off x="4919472" y="125272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View / analyse</a:t>
            </a:r>
          </a:p>
        </p:txBody>
      </p:sp>
      <p:sp>
        <p:nvSpPr>
          <p:cNvPr id="16" name="TextBox 15"/>
          <p:cNvSpPr txBox="1"/>
          <p:nvPr/>
        </p:nvSpPr>
        <p:spPr>
          <a:xfrm>
            <a:off x="4462272" y="170992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Mandatory before accept or reject. Walk the tree vs BOM/drawing. Rec 001 + OEM overlay.</a:t>
            </a:r>
          </a:p>
        </p:txBody>
      </p:sp>
      <p:sp>
        <p:nvSpPr>
          <p:cNvPr id="17" name="Rounded Rectangle 16"/>
          <p:cNvSpPr/>
          <p:nvPr/>
        </p:nvSpPr>
        <p:spPr>
          <a:xfrm>
            <a:off x="8138160" y="105156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2752" y="1216152"/>
            <a:ext cx="347472" cy="347472"/>
          </a:xfrm>
          <a:prstGeom prst="ellipse">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125272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3</a:t>
            </a:r>
          </a:p>
        </p:txBody>
      </p:sp>
      <p:sp>
        <p:nvSpPr>
          <p:cNvPr id="20" name="TextBox 19"/>
          <p:cNvSpPr txBox="1"/>
          <p:nvPr/>
        </p:nvSpPr>
        <p:spPr>
          <a:xfrm>
            <a:off x="8759952" y="125272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Accept</a:t>
            </a:r>
          </a:p>
        </p:txBody>
      </p:sp>
      <p:sp>
        <p:nvSpPr>
          <p:cNvPr id="21" name="TextBox 20"/>
          <p:cNvSpPr txBox="1"/>
          <p:nvPr/>
        </p:nvSpPr>
        <p:spPr>
          <a:xfrm>
            <a:off x="8302752" y="170992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Irreversible in the browser. Then the child can be attached to our MDS.</a:t>
            </a:r>
          </a:p>
        </p:txBody>
      </p:sp>
      <p:sp>
        <p:nvSpPr>
          <p:cNvPr id="22" name="Rounded Rectangle 21"/>
          <p:cNvSpPr/>
          <p:nvPr/>
        </p:nvSpPr>
        <p:spPr>
          <a:xfrm>
            <a:off x="457200" y="361188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1792" y="3776472"/>
            <a:ext cx="347472" cy="347472"/>
          </a:xfrm>
          <a:prstGeom prst="ellipse">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81304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4</a:t>
            </a:r>
          </a:p>
        </p:txBody>
      </p:sp>
      <p:sp>
        <p:nvSpPr>
          <p:cNvPr id="25" name="TextBox 24"/>
          <p:cNvSpPr txBox="1"/>
          <p:nvPr/>
        </p:nvSpPr>
        <p:spPr>
          <a:xfrm>
            <a:off x="1078992" y="381304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Reject</a:t>
            </a:r>
          </a:p>
        </p:txBody>
      </p:sp>
      <p:sp>
        <p:nvSpPr>
          <p:cNvPr id="26" name="TextBox 25"/>
          <p:cNvSpPr txBox="1"/>
          <p:nvPr/>
        </p:nvSpPr>
        <p:spPr>
          <a:xfrm>
            <a:off x="621792" y="427024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Requires a usable reason. Vague Rec 001 text creates another bad version.</a:t>
            </a:r>
          </a:p>
        </p:txBody>
      </p:sp>
      <p:sp>
        <p:nvSpPr>
          <p:cNvPr id="27" name="Rounded Rectangle 26"/>
          <p:cNvSpPr/>
          <p:nvPr/>
        </p:nvSpPr>
        <p:spPr>
          <a:xfrm>
            <a:off x="4297680" y="361188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62272" y="3776472"/>
            <a:ext cx="347472" cy="347472"/>
          </a:xfrm>
          <a:prstGeom prst="ellipse">
            <a:avLst/>
          </a:prstGeom>
          <a:solidFill>
            <a:srgbClr val="C9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81304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5</a:t>
            </a:r>
          </a:p>
        </p:txBody>
      </p:sp>
      <p:sp>
        <p:nvSpPr>
          <p:cNvPr id="30" name="TextBox 29"/>
          <p:cNvSpPr txBox="1"/>
          <p:nvPr/>
        </p:nvSpPr>
        <p:spPr>
          <a:xfrm>
            <a:off x="4919472" y="381304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Forward</a:t>
            </a:r>
          </a:p>
        </p:txBody>
      </p:sp>
      <p:sp>
        <p:nvSpPr>
          <p:cNvPr id="31" name="TextBox 30"/>
          <p:cNvSpPr txBox="1"/>
          <p:nvPr/>
        </p:nvSpPr>
        <p:spPr>
          <a:xfrm>
            <a:off x="4462272" y="427024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Only after accept, and only if the creator allowed forwarding. Directed-buy pattern.</a:t>
            </a:r>
          </a:p>
        </p:txBody>
      </p:sp>
      <p:sp>
        <p:nvSpPr>
          <p:cNvPr id="32" name="Rounded Rectangle 31"/>
          <p:cNvSpPr/>
          <p:nvPr/>
        </p:nvSpPr>
        <p:spPr>
          <a:xfrm>
            <a:off x="8138160" y="3611880"/>
            <a:ext cx="3657600" cy="23957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2752" y="3776472"/>
            <a:ext cx="347472" cy="347472"/>
          </a:xfrm>
          <a:prstGeom prst="ellipse">
            <a:avLst/>
          </a:prstGeom>
          <a:solidFill>
            <a:srgbClr val="C9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2752" y="3813048"/>
            <a:ext cx="347472" cy="292608"/>
          </a:xfrm>
          <a:prstGeom prst="rect">
            <a:avLst/>
          </a:prstGeom>
          <a:noFill/>
        </p:spPr>
        <p:txBody>
          <a:bodyPr wrap="square"/>
          <a:lstStyle/>
          <a:p>
            <a:pPr algn="ctr">
              <a:spcBef>
                <a:spcPts val="0"/>
              </a:spcBef>
              <a:spcAft>
                <a:spcPts val="600"/>
              </a:spcAft>
            </a:pPr>
            <a:r>
              <a:rPr sz="1300" b="1" i="0">
                <a:solidFill>
                  <a:srgbClr val="FFFFFF"/>
                </a:solidFill>
                <a:latin typeface="Calibri"/>
              </a:rPr>
              <a:t>6</a:t>
            </a:r>
          </a:p>
        </p:txBody>
      </p:sp>
      <p:sp>
        <p:nvSpPr>
          <p:cNvPr id="35" name="TextBox 34"/>
          <p:cNvSpPr txBox="1"/>
          <p:nvPr/>
        </p:nvSpPr>
        <p:spPr>
          <a:xfrm>
            <a:off x="8759952" y="3813048"/>
            <a:ext cx="2834640" cy="292608"/>
          </a:xfrm>
          <a:prstGeom prst="rect">
            <a:avLst/>
          </a:prstGeom>
          <a:noFill/>
        </p:spPr>
        <p:txBody>
          <a:bodyPr wrap="square"/>
          <a:lstStyle/>
          <a:p>
            <a:pPr algn="l">
              <a:spcBef>
                <a:spcPts val="0"/>
              </a:spcBef>
              <a:spcAft>
                <a:spcPts val="600"/>
              </a:spcAft>
            </a:pPr>
            <a:r>
              <a:rPr sz="1500" b="1" i="0">
                <a:solidFill>
                  <a:srgbClr val="0B1F3A"/>
                </a:solidFill>
                <a:latin typeface="Calibri"/>
              </a:rPr>
              <a:t>Propose / Send</a:t>
            </a:r>
          </a:p>
        </p:txBody>
      </p:sp>
      <p:sp>
        <p:nvSpPr>
          <p:cNvPr id="36" name="TextBox 35"/>
          <p:cNvSpPr txBox="1"/>
          <p:nvPr/>
        </p:nvSpPr>
        <p:spPr>
          <a:xfrm>
            <a:off x="8302752" y="4270248"/>
            <a:ext cx="3328416" cy="1554480"/>
          </a:xfrm>
          <a:prstGeom prst="rect">
            <a:avLst/>
          </a:prstGeom>
          <a:noFill/>
        </p:spPr>
        <p:txBody>
          <a:bodyPr wrap="square"/>
          <a:lstStyle/>
          <a:p>
            <a:pPr algn="l">
              <a:spcBef>
                <a:spcPts val="0"/>
              </a:spcBef>
              <a:spcAft>
                <a:spcPts val="600"/>
              </a:spcAft>
            </a:pPr>
            <a:r>
              <a:rPr sz="1300" b="0" i="0">
                <a:solidFill>
                  <a:srgbClr val="3A4758"/>
                </a:solidFill>
                <a:latin typeface="Calibri"/>
              </a:rPr>
              <a:t>Hand our assembled MDS to the next customer. Version rules differ — get this wrong and GM/VW/Ford bounce it.</a:t>
            </a:r>
          </a:p>
        </p:txBody>
      </p:sp>
      <p:sp>
        <p:nvSpPr>
          <p:cNvPr id="37" name="Rectangle 36"/>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40" name="TextBox 39"/>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03  ·  SUPPLIER ROLES</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Rec 001 is the floor. GM, VW, and Ford are why first-pass yield dies.</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This is the failure mode. Not typing speed. Not “the IMDS check turned green.”</a:t>
            </a:r>
          </a:p>
        </p:txBody>
      </p:sp>
      <p:graphicFrame>
        <p:nvGraphicFramePr>
          <p:cNvPr id="8" name="Table 7"/>
          <p:cNvGraphicFramePr>
            <a:graphicFrameLocks noGrp="1"/>
          </p:cNvGraphicFramePr>
          <p:nvPr/>
        </p:nvGraphicFramePr>
        <p:xfrm>
          <a:off x="411480" y="1325880"/>
          <a:ext cx="11338560" cy="4160520"/>
        </p:xfrm>
        <a:graphic>
          <a:graphicData uri="http://schemas.openxmlformats.org/drawingml/2006/table">
            <a:tbl>
              <a:tblPr firstRow="1" bandRow="1">
                <a:tableStyleId>{5C22544A-7EE6-4342-B048-85BDC9FD1C3A}</a:tableStyleId>
              </a:tblPr>
              <a:tblGrid>
                <a:gridCol w="1828800"/>
                <a:gridCol w="3794760"/>
                <a:gridCol w="2148840"/>
                <a:gridCol w="3566160"/>
              </a:tblGrid>
              <a:tr h="693420">
                <a:tc>
                  <a:txBody>
                    <a:bodyPr wrap="square"/>
                    <a:lstStyle/>
                    <a:p>
                      <a:pPr algn="ctr">
                        <a:spcBef>
                          <a:spcPts val="200"/>
                        </a:spcBef>
                        <a:spcAft>
                          <a:spcPts val="200"/>
                        </a:spcAft>
                      </a:pPr>
                      <a:r>
                        <a:rPr sz="1200" b="1" i="0">
                          <a:solidFill>
                            <a:srgbClr val="FFFFFF"/>
                          </a:solidFill>
                          <a:latin typeface="Calibri"/>
                        </a:rPr>
                        <a:t>Layer</a:t>
                      </a:r>
                    </a:p>
                  </a:txBody>
                  <a:tcPr>
                    <a:solidFill>
                      <a:srgbClr val="0B1F3A"/>
                    </a:solidFill>
                  </a:tcPr>
                </a:tc>
                <a:tc>
                  <a:txBody>
                    <a:bodyPr wrap="square"/>
                    <a:lstStyle/>
                    <a:p>
                      <a:pPr algn="ctr">
                        <a:spcBef>
                          <a:spcPts val="200"/>
                        </a:spcBef>
                        <a:spcAft>
                          <a:spcPts val="200"/>
                        </a:spcAft>
                      </a:pPr>
                      <a:r>
                        <a:rPr sz="1200" b="1" i="0">
                          <a:solidFill>
                            <a:srgbClr val="FFFFFF"/>
                          </a:solidFill>
                          <a:latin typeface="Calibri"/>
                        </a:rPr>
                        <a:t>What it checks</a:t>
                      </a:r>
                    </a:p>
                  </a:txBody>
                  <a:tcPr>
                    <a:solidFill>
                      <a:srgbClr val="0B1F3A"/>
                    </a:solidFill>
                  </a:tcPr>
                </a:tc>
                <a:tc>
                  <a:txBody>
                    <a:bodyPr wrap="square"/>
                    <a:lstStyle/>
                    <a:p>
                      <a:pPr algn="ctr">
                        <a:spcBef>
                          <a:spcPts val="200"/>
                        </a:spcBef>
                        <a:spcAft>
                          <a:spcPts val="200"/>
                        </a:spcAft>
                      </a:pPr>
                      <a:r>
                        <a:rPr sz="1200" b="1" i="0">
                          <a:solidFill>
                            <a:srgbClr val="FFFFFF"/>
                          </a:solidFill>
                          <a:latin typeface="Calibri"/>
                        </a:rPr>
                        <a:t>If we only do this</a:t>
                      </a:r>
                    </a:p>
                  </a:txBody>
                  <a:tcPr>
                    <a:solidFill>
                      <a:srgbClr val="0B1F3A"/>
                    </a:solidFill>
                  </a:tcPr>
                </a:tc>
                <a:tc>
                  <a:txBody>
                    <a:bodyPr wrap="square"/>
                    <a:lstStyle/>
                    <a:p>
                      <a:pPr algn="ctr">
                        <a:spcBef>
                          <a:spcPts val="200"/>
                        </a:spcBef>
                        <a:spcAft>
                          <a:spcPts val="200"/>
                        </a:spcAft>
                      </a:pPr>
                      <a:r>
                        <a:rPr sz="1200" b="1" i="0">
                          <a:solidFill>
                            <a:srgbClr val="FFFFFF"/>
                          </a:solidFill>
                          <a:latin typeface="Calibri"/>
                        </a:rPr>
                        <a:t>What the OEM still rejects</a:t>
                      </a:r>
                    </a:p>
                  </a:txBody>
                  <a:tcPr>
                    <a:solidFill>
                      <a:srgbClr val="0B1F3A"/>
                    </a:solidFill>
                  </a:tcPr>
                </a:tc>
              </a:tr>
              <a:tr h="693420">
                <a:tc>
                  <a:txBody>
                    <a:bodyPr wrap="square"/>
                    <a:lstStyle/>
                    <a:p>
                      <a:pPr algn="l">
                        <a:spcBef>
                          <a:spcPts val="200"/>
                        </a:spcBef>
                        <a:spcAft>
                          <a:spcPts val="200"/>
                        </a:spcAft>
                      </a:pPr>
                      <a:r>
                        <a:rPr sz="1200" b="1" i="0">
                          <a:solidFill>
                            <a:srgbClr val="0B1F3A"/>
                          </a:solidFill>
                          <a:latin typeface="Calibri"/>
                        </a:rPr>
                        <a:t>IMDS Check</a:t>
                      </a:r>
                    </a:p>
                  </a:txBody>
                  <a:tcPr>
                    <a:solidFill>
                      <a:srgbClr val="F8F1E0"/>
                    </a:solidFill>
                  </a:tcPr>
                </a:tc>
                <a:tc>
                  <a:txBody>
                    <a:bodyPr wrap="square"/>
                    <a:lstStyle/>
                    <a:p>
                      <a:pPr algn="l">
                        <a:spcBef>
                          <a:spcPts val="200"/>
                        </a:spcBef>
                        <a:spcAft>
                          <a:spcPts val="200"/>
                        </a:spcAft>
                      </a:pPr>
                      <a:r>
                        <a:rPr sz="1100" b="0" i="0">
                          <a:solidFill>
                            <a:srgbClr val="3A4758"/>
                          </a:solidFill>
                          <a:latin typeface="Calibri"/>
                        </a:rPr>
                        <a:t>Completeness, some Rec 001 arithmetic</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Necessary</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IMDS 15.2: further review may be required</a:t>
                      </a:r>
                    </a:p>
                  </a:txBody>
                  <a:tcPr>
                    <a:solidFill>
                      <a:srgbClr val="FFFFFF"/>
                    </a:solidFill>
                  </a:tcPr>
                </a:tc>
              </a:tr>
              <a:tr h="693420">
                <a:tc>
                  <a:txBody>
                    <a:bodyPr wrap="square"/>
                    <a:lstStyle/>
                    <a:p>
                      <a:pPr algn="l">
                        <a:spcBef>
                          <a:spcPts val="200"/>
                        </a:spcBef>
                        <a:spcAft>
                          <a:spcPts val="200"/>
                        </a:spcAft>
                      </a:pPr>
                      <a:r>
                        <a:rPr sz="1200" b="1" i="0">
                          <a:solidFill>
                            <a:srgbClr val="0B1F3A"/>
                          </a:solidFill>
                          <a:latin typeface="Calibri"/>
                        </a:rPr>
                        <a:t>Rec 001</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Tree legality, 100% nodes, 10% wildcard, ranges, names</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Industry baseline</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Material class, polymer marking, application codes still judged</a:t>
                      </a:r>
                    </a:p>
                  </a:txBody>
                  <a:tcPr>
                    <a:solidFill>
                      <a:srgbClr val="F5F7F9"/>
                    </a:solidFill>
                  </a:tcPr>
                </a:tc>
              </a:tr>
              <a:tr h="693420">
                <a:tc>
                  <a:txBody>
                    <a:bodyPr wrap="square"/>
                    <a:lstStyle/>
                    <a:p>
                      <a:pPr algn="l">
                        <a:spcBef>
                          <a:spcPts val="200"/>
                        </a:spcBef>
                        <a:spcAft>
                          <a:spcPts val="200"/>
                        </a:spcAft>
                      </a:pPr>
                      <a:r>
                        <a:rPr sz="1200" b="1" i="0">
                          <a:solidFill>
                            <a:srgbClr val="0B1F3A"/>
                          </a:solidFill>
                          <a:latin typeface="Calibri"/>
                        </a:rPr>
                        <a:t>GM overlay</a:t>
                      </a:r>
                    </a:p>
                  </a:txBody>
                  <a:tcPr>
                    <a:solidFill>
                      <a:srgbClr val="F8F1E0"/>
                    </a:solidFill>
                  </a:tcPr>
                </a:tc>
                <a:tc>
                  <a:txBody>
                    <a:bodyPr wrap="square"/>
                    <a:lstStyle/>
                    <a:p>
                      <a:pPr algn="l">
                        <a:spcBef>
                          <a:spcPts val="200"/>
                        </a:spcBef>
                        <a:spcAft>
                          <a:spcPts val="200"/>
                        </a:spcAft>
                      </a:pPr>
                      <a:r>
                        <a:rPr sz="1100" b="0" i="0">
                          <a:solidFill>
                            <a:srgbClr val="3A4758"/>
                          </a:solidFill>
                          <a:latin typeface="Calibri"/>
                        </a:rPr>
                        <a:t>GM IMDS reporting + GMW3059 substance rules</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GM-specific</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Part naming, weight window, org unit, published-MDS policy</a:t>
                      </a:r>
                    </a:p>
                  </a:txBody>
                  <a:tcPr>
                    <a:solidFill>
                      <a:srgbClr val="FFFFFF"/>
                    </a:solidFill>
                  </a:tcPr>
                </a:tc>
              </a:tr>
              <a:tr h="693420">
                <a:tc>
                  <a:txBody>
                    <a:bodyPr wrap="square"/>
                    <a:lstStyle/>
                    <a:p>
                      <a:pPr algn="l">
                        <a:spcBef>
                          <a:spcPts val="200"/>
                        </a:spcBef>
                        <a:spcAft>
                          <a:spcPts val="200"/>
                        </a:spcAft>
                      </a:pPr>
                      <a:r>
                        <a:rPr sz="1200" b="1" i="0">
                          <a:solidFill>
                            <a:srgbClr val="0B1F3A"/>
                          </a:solidFill>
                          <a:latin typeface="Calibri"/>
                        </a:rPr>
                        <a:t>VW overlay</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VW 91101 and Konzern IMDS instructions</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VW-specific</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Structure/sibling rules, recipient data, plant org ID</a:t>
                      </a:r>
                    </a:p>
                  </a:txBody>
                  <a:tcPr>
                    <a:solidFill>
                      <a:srgbClr val="F5F7F9"/>
                    </a:solidFill>
                  </a:tcPr>
                </a:tc>
              </a:tr>
              <a:tr h="693420">
                <a:tc>
                  <a:txBody>
                    <a:bodyPr wrap="square"/>
                    <a:lstStyle/>
                    <a:p>
                      <a:pPr algn="l">
                        <a:spcBef>
                          <a:spcPts val="200"/>
                        </a:spcBef>
                        <a:spcAft>
                          <a:spcPts val="200"/>
                        </a:spcAft>
                      </a:pPr>
                      <a:r>
                        <a:rPr sz="1200" b="1" i="0">
                          <a:solidFill>
                            <a:srgbClr val="0B1F3A"/>
                          </a:solidFill>
                          <a:latin typeface="Calibri"/>
                        </a:rPr>
                        <a:t>Ford overlay</a:t>
                      </a:r>
                    </a:p>
                  </a:txBody>
                  <a:tcPr>
                    <a:solidFill>
                      <a:srgbClr val="F8F1E0"/>
                    </a:solidFill>
                  </a:tcPr>
                </a:tc>
                <a:tc>
                  <a:txBody>
                    <a:bodyPr wrap="square"/>
                    <a:lstStyle/>
                    <a:p>
                      <a:pPr algn="l">
                        <a:spcBef>
                          <a:spcPts val="200"/>
                        </a:spcBef>
                        <a:spcAft>
                          <a:spcPts val="200"/>
                        </a:spcAft>
                      </a:pPr>
                      <a:r>
                        <a:rPr sz="1100" b="0" i="0">
                          <a:solidFill>
                            <a:srgbClr val="3A4758"/>
                          </a:solidFill>
                          <a:latin typeface="Calibri"/>
                        </a:rPr>
                        <a:t>Ford RSMS + IMDS reporting guide</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Ford-specific</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Supplier code / part number pairing, legacy flags, Propose vs Send</a:t>
                      </a:r>
                    </a:p>
                  </a:txBody>
                  <a:tcPr>
                    <a:solidFill>
                      <a:srgbClr val="FFFFFF"/>
                    </a:solidFill>
                  </a:tcPr>
                </a:tc>
              </a:tr>
            </a:tbl>
          </a:graphicData>
        </a:graphic>
      </p:graphicFrame>
      <p:sp>
        <p:nvSpPr>
          <p:cNvPr id="9" name="TextBox 8"/>
          <p:cNvSpPr txBox="1"/>
          <p:nvPr/>
        </p:nvSpPr>
        <p:spPr>
          <a:xfrm>
            <a:off x="457200" y="5623560"/>
            <a:ext cx="11247120" cy="777240"/>
          </a:xfrm>
          <a:prstGeom prst="rect">
            <a:avLst/>
          </a:prstGeom>
          <a:noFill/>
        </p:spPr>
        <p:txBody>
          <a:bodyPr wrap="square"/>
          <a:lstStyle/>
          <a:p>
            <a:pPr algn="l">
              <a:spcBef>
                <a:spcPts val="0"/>
              </a:spcBef>
              <a:spcAft>
                <a:spcPts val="600"/>
              </a:spcAft>
            </a:pPr>
            <a:r>
              <a:rPr sz="1400" b="1" i="0">
                <a:solidFill>
                  <a:srgbClr val="0B1F3A"/>
                </a:solidFill>
                <a:latin typeface="Calibri"/>
              </a:rPr>
              <a:t>v1 IP is three Examiner-equivalent packs: GM, VW, Ford — applied on inbound accept/reject and on outbound Propose. That is how we get to 100% first-pass toward the OEM. One generic Rec 001 bot will not.</a:t>
            </a:r>
          </a:p>
        </p:txBody>
      </p:sp>
      <p:sp>
        <p:nvSpPr>
          <p:cNvPr id="10" name="Rectangle 9"/>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13" name="TextBox 12"/>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04  ·  DAILY TIME AND BACKLOG</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Hiring cannot drain 5,000. The math does not allow it.</a:t>
            </a:r>
          </a:p>
        </p:txBody>
      </p:sp>
      <p:sp>
        <p:nvSpPr>
          <p:cNvPr id="7" name="Rounded Rectangle 6"/>
          <p:cNvSpPr/>
          <p:nvPr/>
        </p:nvSpPr>
        <p:spPr>
          <a:xfrm>
            <a:off x="457200" y="1078992"/>
            <a:ext cx="3657600" cy="169164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188720"/>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50 / day</a:t>
            </a:r>
          </a:p>
        </p:txBody>
      </p:sp>
      <p:sp>
        <p:nvSpPr>
          <p:cNvPr id="9" name="TextBox 8"/>
          <p:cNvSpPr txBox="1"/>
          <p:nvPr/>
        </p:nvSpPr>
        <p:spPr>
          <a:xfrm>
            <a:off x="603504" y="1572768"/>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New MDS into the inbox</a:t>
            </a:r>
          </a:p>
        </p:txBody>
      </p:sp>
      <p:sp>
        <p:nvSpPr>
          <p:cNvPr id="10" name="TextBox 9"/>
          <p:cNvSpPr txBox="1"/>
          <p:nvPr/>
        </p:nvSpPr>
        <p:spPr>
          <a:xfrm>
            <a:off x="603504" y="1901952"/>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Must be viewed before accept or reject</a:t>
            </a:r>
          </a:p>
        </p:txBody>
      </p:sp>
      <p:sp>
        <p:nvSpPr>
          <p:cNvPr id="11" name="Rounded Rectangle 10"/>
          <p:cNvSpPr/>
          <p:nvPr/>
        </p:nvSpPr>
        <p:spPr>
          <a:xfrm>
            <a:off x="4251960" y="1078992"/>
            <a:ext cx="3657600" cy="169164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8264" y="1188720"/>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5,000 open</a:t>
            </a:r>
          </a:p>
        </p:txBody>
      </p:sp>
      <p:sp>
        <p:nvSpPr>
          <p:cNvPr id="13" name="TextBox 12"/>
          <p:cNvSpPr txBox="1"/>
          <p:nvPr/>
        </p:nvSpPr>
        <p:spPr>
          <a:xfrm>
            <a:off x="4398264" y="1572768"/>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Outstanding stock</a:t>
            </a:r>
          </a:p>
        </p:txBody>
      </p:sp>
      <p:sp>
        <p:nvSpPr>
          <p:cNvPr id="14" name="TextBox 13"/>
          <p:cNvSpPr txBox="1"/>
          <p:nvPr/>
        </p:nvSpPr>
        <p:spPr>
          <a:xfrm>
            <a:off x="4398264" y="1901952"/>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Equals ~100 days of intake if inbound stopped</a:t>
            </a:r>
          </a:p>
        </p:txBody>
      </p:sp>
      <p:sp>
        <p:nvSpPr>
          <p:cNvPr id="15" name="Rounded Rectangle 14"/>
          <p:cNvSpPr/>
          <p:nvPr/>
        </p:nvSpPr>
        <p:spPr>
          <a:xfrm>
            <a:off x="8046720" y="1078992"/>
            <a:ext cx="3657600" cy="169164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1188720"/>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~106 / day</a:t>
            </a:r>
          </a:p>
        </p:txBody>
      </p:sp>
      <p:sp>
        <p:nvSpPr>
          <p:cNvPr id="17" name="TextBox 16"/>
          <p:cNvSpPr txBox="1"/>
          <p:nvPr/>
        </p:nvSpPr>
        <p:spPr>
          <a:xfrm>
            <a:off x="8193024" y="1572768"/>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Decisions needed to drain in 90 days</a:t>
            </a:r>
          </a:p>
        </p:txBody>
      </p:sp>
      <p:sp>
        <p:nvSpPr>
          <p:cNvPr id="18" name="TextBox 17"/>
          <p:cNvSpPr txBox="1"/>
          <p:nvPr/>
        </p:nvSpPr>
        <p:spPr>
          <a:xfrm>
            <a:off x="8193024" y="1901952"/>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50 new + 5,000/90. Agents, not overtime.</a:t>
            </a:r>
          </a:p>
        </p:txBody>
      </p:sp>
      <p:graphicFrame>
        <p:nvGraphicFramePr>
          <p:cNvPr id="19" name="Table 18"/>
          <p:cNvGraphicFramePr>
            <a:graphicFrameLocks noGrp="1"/>
          </p:cNvGraphicFramePr>
          <p:nvPr/>
        </p:nvGraphicFramePr>
        <p:xfrm>
          <a:off x="411480" y="2926080"/>
          <a:ext cx="11338560" cy="3246120"/>
        </p:xfrm>
        <a:graphic>
          <a:graphicData uri="http://schemas.openxmlformats.org/drawingml/2006/table">
            <a:tbl>
              <a:tblPr firstRow="1" bandRow="1">
                <a:tableStyleId>{5C22544A-7EE6-4342-B048-85BDC9FD1C3A}</a:tableStyleId>
              </a:tblPr>
              <a:tblGrid>
                <a:gridCol w="2468880"/>
                <a:gridCol w="2926080"/>
                <a:gridCol w="2286000"/>
                <a:gridCol w="3657600"/>
              </a:tblGrid>
              <a:tr h="541020">
                <a:tc>
                  <a:txBody>
                    <a:bodyPr wrap="square"/>
                    <a:lstStyle/>
                    <a:p>
                      <a:pPr algn="ctr">
                        <a:spcBef>
                          <a:spcPts val="200"/>
                        </a:spcBef>
                        <a:spcAft>
                          <a:spcPts val="200"/>
                        </a:spcAft>
                      </a:pPr>
                      <a:r>
                        <a:rPr sz="1100" b="1" i="0">
                          <a:solidFill>
                            <a:srgbClr val="FFFFFF"/>
                          </a:solidFill>
                          <a:latin typeface="Calibri"/>
                        </a:rPr>
                        <a:t>Action</a:t>
                      </a:r>
                    </a:p>
                  </a:txBody>
                  <a:tcPr>
                    <a:solidFill>
                      <a:srgbClr val="0B1F3A"/>
                    </a:solidFill>
                  </a:tcPr>
                </a:tc>
                <a:tc>
                  <a:txBody>
                    <a:bodyPr wrap="square"/>
                    <a:lstStyle/>
                    <a:p>
                      <a:pPr algn="ctr">
                        <a:spcBef>
                          <a:spcPts val="200"/>
                        </a:spcBef>
                        <a:spcAft>
                          <a:spcPts val="200"/>
                        </a:spcAft>
                      </a:pPr>
                      <a:r>
                        <a:rPr sz="1100" b="1" i="0">
                          <a:solidFill>
                            <a:srgbClr val="FFFFFF"/>
                          </a:solidFill>
                          <a:latin typeface="Calibri"/>
                        </a:rPr>
                        <a:t>Time per MDS (typical)</a:t>
                      </a:r>
                    </a:p>
                  </a:txBody>
                  <a:tcPr>
                    <a:solidFill>
                      <a:srgbClr val="0B1F3A"/>
                    </a:solidFill>
                  </a:tcPr>
                </a:tc>
                <a:tc>
                  <a:txBody>
                    <a:bodyPr wrap="square"/>
                    <a:lstStyle/>
                    <a:p>
                      <a:pPr algn="ctr">
                        <a:spcBef>
                          <a:spcPts val="200"/>
                        </a:spcBef>
                        <a:spcAft>
                          <a:spcPts val="200"/>
                        </a:spcAft>
                      </a:pPr>
                      <a:r>
                        <a:rPr sz="1100" b="1" i="0">
                          <a:solidFill>
                            <a:srgbClr val="FFFFFF"/>
                          </a:solidFill>
                          <a:latin typeface="Calibri"/>
                        </a:rPr>
                        <a:t>At 50 new / day</a:t>
                      </a:r>
                    </a:p>
                  </a:txBody>
                  <a:tcPr>
                    <a:solidFill>
                      <a:srgbClr val="0B1F3A"/>
                    </a:solidFill>
                  </a:tcPr>
                </a:tc>
                <a:tc>
                  <a:txBody>
                    <a:bodyPr wrap="square"/>
                    <a:lstStyle/>
                    <a:p>
                      <a:pPr algn="ctr">
                        <a:spcBef>
                          <a:spcPts val="200"/>
                        </a:spcBef>
                        <a:spcAft>
                          <a:spcPts val="200"/>
                        </a:spcAft>
                      </a:pPr>
                      <a:r>
                        <a:rPr sz="1100" b="1" i="0">
                          <a:solidFill>
                            <a:srgbClr val="FFFFFF"/>
                          </a:solidFill>
                          <a:latin typeface="Calibri"/>
                        </a:rPr>
                        <a:t>What breaks at 5,000 open</a:t>
                      </a:r>
                    </a:p>
                  </a:txBody>
                  <a:tcPr>
                    <a:solidFill>
                      <a:srgbClr val="0B1F3A"/>
                    </a:solidFill>
                  </a:tcPr>
                </a:tc>
              </a:tr>
              <a:tr h="541020">
                <a:tc>
                  <a:txBody>
                    <a:bodyPr wrap="square"/>
                    <a:lstStyle/>
                    <a:p>
                      <a:pPr algn="l">
                        <a:spcBef>
                          <a:spcPts val="200"/>
                        </a:spcBef>
                        <a:spcAft>
                          <a:spcPts val="200"/>
                        </a:spcAft>
                      </a:pPr>
                      <a:r>
                        <a:rPr sz="1100" b="1" i="0">
                          <a:solidFill>
                            <a:srgbClr val="0B1F3A"/>
                          </a:solidFill>
                          <a:latin typeface="Calibri"/>
                        </a:rPr>
                        <a:t>Inbox verify</a:t>
                      </a:r>
                    </a:p>
                  </a:txBody>
                  <a:tcPr>
                    <a:solidFill>
                      <a:srgbClr val="E5F3F1"/>
                    </a:solidFill>
                  </a:tcPr>
                </a:tc>
                <a:tc>
                  <a:txBody>
                    <a:bodyPr wrap="square"/>
                    <a:lstStyle/>
                    <a:p>
                      <a:pPr algn="l">
                        <a:spcBef>
                          <a:spcPts val="200"/>
                        </a:spcBef>
                        <a:spcAft>
                          <a:spcPts val="200"/>
                        </a:spcAft>
                      </a:pPr>
                      <a:r>
                        <a:rPr sz="1100" b="0" i="0">
                          <a:solidFill>
                            <a:srgbClr val="3A4758"/>
                          </a:solidFill>
                          <a:latin typeface="Calibri"/>
                        </a:rPr>
                        <a:t>1–2 min</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45–90 min</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Aging, VIP OEM parts, cancelled-by-sender noise</a:t>
                      </a:r>
                    </a:p>
                  </a:txBody>
                  <a:tcPr>
                    <a:solidFill>
                      <a:srgbClr val="FFFFFF"/>
                    </a:solidFill>
                  </a:tcPr>
                </a:tc>
              </a:tr>
              <a:tr h="541020">
                <a:tc>
                  <a:txBody>
                    <a:bodyPr wrap="square"/>
                    <a:lstStyle/>
                    <a:p>
                      <a:pPr algn="l">
                        <a:spcBef>
                          <a:spcPts val="200"/>
                        </a:spcBef>
                        <a:spcAft>
                          <a:spcPts val="200"/>
                        </a:spcAft>
                      </a:pPr>
                      <a:r>
                        <a:rPr sz="1100" b="1" i="0">
                          <a:solidFill>
                            <a:srgbClr val="0B1F3A"/>
                          </a:solidFill>
                          <a:latin typeface="Calibri"/>
                        </a:rPr>
                        <a:t>View + Rec 001 + OEM pack</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8–20 min simple; 30–60 complex</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Most of the shift</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This is the bottleneck. Nodes, not MDS count.</a:t>
                      </a:r>
                    </a:p>
                  </a:txBody>
                  <a:tcPr>
                    <a:solidFill>
                      <a:srgbClr val="F5F7F9"/>
                    </a:solidFill>
                  </a:tcPr>
                </a:tc>
              </a:tr>
              <a:tr h="541020">
                <a:tc>
                  <a:txBody>
                    <a:bodyPr wrap="square"/>
                    <a:lstStyle/>
                    <a:p>
                      <a:pPr algn="l">
                        <a:spcBef>
                          <a:spcPts val="200"/>
                        </a:spcBef>
                        <a:spcAft>
                          <a:spcPts val="200"/>
                        </a:spcAft>
                      </a:pPr>
                      <a:r>
                        <a:rPr sz="1100" b="1" i="0">
                          <a:solidFill>
                            <a:srgbClr val="0B1F3A"/>
                          </a:solidFill>
                          <a:latin typeface="Calibri"/>
                        </a:rPr>
                        <a:t>Accept</a:t>
                      </a:r>
                    </a:p>
                  </a:txBody>
                  <a:tcPr>
                    <a:solidFill>
                      <a:srgbClr val="E5F3F1"/>
                    </a:solidFill>
                  </a:tcPr>
                </a:tc>
                <a:tc>
                  <a:txBody>
                    <a:bodyPr wrap="square"/>
                    <a:lstStyle/>
                    <a:p>
                      <a:pPr algn="l">
                        <a:spcBef>
                          <a:spcPts val="200"/>
                        </a:spcBef>
                        <a:spcAft>
                          <a:spcPts val="200"/>
                        </a:spcAft>
                      </a:pPr>
                      <a:r>
                        <a:rPr sz="1100" b="0" i="0">
                          <a:solidFill>
                            <a:srgbClr val="3A4758"/>
                          </a:solidFill>
                          <a:latin typeface="Calibri"/>
                        </a:rPr>
                        <a:t>1–3 min after review</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Cheap</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Irreversible. Wrongful accept is the Quality risk.</a:t>
                      </a:r>
                    </a:p>
                  </a:txBody>
                  <a:tcPr>
                    <a:solidFill>
                      <a:srgbClr val="FFFFFF"/>
                    </a:solidFill>
                  </a:tcPr>
                </a:tc>
              </a:tr>
              <a:tr h="541020">
                <a:tc>
                  <a:txBody>
                    <a:bodyPr wrap="square"/>
                    <a:lstStyle/>
                    <a:p>
                      <a:pPr algn="l">
                        <a:spcBef>
                          <a:spcPts val="200"/>
                        </a:spcBef>
                        <a:spcAft>
                          <a:spcPts val="200"/>
                        </a:spcAft>
                      </a:pPr>
                      <a:r>
                        <a:rPr sz="1100" b="1" i="0">
                          <a:solidFill>
                            <a:srgbClr val="0B1F3A"/>
                          </a:solidFill>
                          <a:latin typeface="Calibri"/>
                        </a:rPr>
                        <a:t>Reject + usable reason</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5–15 min</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High if OEM rules fire</a:t>
                      </a:r>
                    </a:p>
                  </a:txBody>
                  <a:tcPr>
                    <a:solidFill>
                      <a:srgbClr val="F5F7F9"/>
                    </a:solidFill>
                  </a:tcPr>
                </a:tc>
                <a:tc>
                  <a:txBody>
                    <a:bodyPr wrap="square"/>
                    <a:lstStyle/>
                    <a:p>
                      <a:pPr algn="l">
                        <a:spcBef>
                          <a:spcPts val="200"/>
                        </a:spcBef>
                        <a:spcAft>
                          <a:spcPts val="200"/>
                        </a:spcAft>
                      </a:pPr>
                      <a:r>
                        <a:rPr sz="1100" b="0" i="0">
                          <a:solidFill>
                            <a:srgbClr val="3A4758"/>
                          </a:solidFill>
                          <a:latin typeface="Calibri"/>
                        </a:rPr>
                        <a:t>Reason quality determines whether version N+1 is clean.</a:t>
                      </a:r>
                    </a:p>
                  </a:txBody>
                  <a:tcPr>
                    <a:solidFill>
                      <a:srgbClr val="F5F7F9"/>
                    </a:solidFill>
                  </a:tcPr>
                </a:tc>
              </a:tr>
              <a:tr h="541020">
                <a:tc>
                  <a:txBody>
                    <a:bodyPr wrap="square"/>
                    <a:lstStyle/>
                    <a:p>
                      <a:pPr algn="l">
                        <a:spcBef>
                          <a:spcPts val="200"/>
                        </a:spcBef>
                        <a:spcAft>
                          <a:spcPts val="200"/>
                        </a:spcAft>
                      </a:pPr>
                      <a:r>
                        <a:rPr sz="1100" b="1" i="0">
                          <a:solidFill>
                            <a:srgbClr val="0B1F3A"/>
                          </a:solidFill>
                          <a:latin typeface="Calibri"/>
                        </a:rPr>
                        <a:t>Forward / Propose / Send</a:t>
                      </a:r>
                    </a:p>
                  </a:txBody>
                  <a:tcPr>
                    <a:solidFill>
                      <a:srgbClr val="E5F3F1"/>
                    </a:solidFill>
                  </a:tcPr>
                </a:tc>
                <a:tc>
                  <a:txBody>
                    <a:bodyPr wrap="square"/>
                    <a:lstStyle/>
                    <a:p>
                      <a:pPr algn="l">
                        <a:spcBef>
                          <a:spcPts val="200"/>
                        </a:spcBef>
                        <a:spcAft>
                          <a:spcPts val="200"/>
                        </a:spcAft>
                      </a:pPr>
                      <a:r>
                        <a:rPr sz="1100" b="0" i="0">
                          <a:solidFill>
                            <a:srgbClr val="3A4758"/>
                          </a:solidFill>
                          <a:latin typeface="Calibri"/>
                        </a:rPr>
                        <a:t>2–5 min + 20–90 min assemble</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Outbound to GM/VW/Ford</a:t>
                      </a:r>
                    </a:p>
                  </a:txBody>
                  <a:tcPr>
                    <a:solidFill>
                      <a:srgbClr val="FFFFFF"/>
                    </a:solidFill>
                  </a:tcPr>
                </a:tc>
                <a:tc>
                  <a:txBody>
                    <a:bodyPr wrap="square"/>
                    <a:lstStyle/>
                    <a:p>
                      <a:pPr algn="l">
                        <a:spcBef>
                          <a:spcPts val="200"/>
                        </a:spcBef>
                        <a:spcAft>
                          <a:spcPts val="200"/>
                        </a:spcAft>
                      </a:pPr>
                      <a:r>
                        <a:rPr sz="1100" b="0" i="0">
                          <a:solidFill>
                            <a:srgbClr val="3A4758"/>
                          </a:solidFill>
                          <a:latin typeface="Calibri"/>
                        </a:rPr>
                        <a:t>Recipient data and version policy. Instant OEM bounce if wrong.</a:t>
                      </a:r>
                    </a:p>
                  </a:txBody>
                  <a:tcPr>
                    <a:solidFill>
                      <a:srgbClr val="FFFFFF"/>
                    </a:solidFill>
                  </a:tcPr>
                </a:tc>
              </a:tr>
            </a:tbl>
          </a:graphicData>
        </a:graphic>
      </p:graphicFrame>
      <p:sp>
        <p:nvSpPr>
          <p:cNvPr id="20" name="Rectangle 19"/>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23" name="TextBox 22"/>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05  ·  AGENTIC WORKFLOW</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v1 decides: auto-accept greens, auto-reject reds, humans on novel cases</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An agent pursues a goal — same-day inbox to a defined quality bar — with tools, memory, and a kill switch. Not a nightly spreadsheet.</a:t>
            </a:r>
          </a:p>
        </p:txBody>
      </p:sp>
      <p:sp>
        <p:nvSpPr>
          <p:cNvPr id="8" name="Rounded Rectangle 7"/>
          <p:cNvSpPr/>
          <p:nvPr/>
        </p:nvSpPr>
        <p:spPr>
          <a:xfrm>
            <a:off x="457200" y="1371600"/>
            <a:ext cx="3657600" cy="4892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71600"/>
            <a:ext cx="3657600" cy="502920"/>
          </a:xfrm>
          <a:prstGeom prst="rect">
            <a:avLst/>
          </a:prstGeom>
          <a:solidFill>
            <a:srgbClr val="1F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463040"/>
            <a:ext cx="3328416" cy="347472"/>
          </a:xfrm>
          <a:prstGeom prst="rect">
            <a:avLst/>
          </a:prstGeom>
          <a:noFill/>
        </p:spPr>
        <p:txBody>
          <a:bodyPr wrap="square"/>
          <a:lstStyle/>
          <a:p>
            <a:pPr algn="l">
              <a:spcBef>
                <a:spcPts val="0"/>
              </a:spcBef>
              <a:spcAft>
                <a:spcPts val="600"/>
              </a:spcAft>
            </a:pPr>
            <a:r>
              <a:rPr sz="1400" b="1" i="0">
                <a:solidFill>
                  <a:srgbClr val="FFFFFF"/>
                </a:solidFill>
                <a:latin typeface="Calibri"/>
              </a:rPr>
              <a:t>GREEN  ·  auto-accept</a:t>
            </a:r>
          </a:p>
        </p:txBody>
      </p:sp>
      <p:sp>
        <p:nvSpPr>
          <p:cNvPr id="11" name="TextBox 10"/>
          <p:cNvSpPr txBox="1"/>
          <p:nvPr/>
        </p:nvSpPr>
        <p:spPr>
          <a:xfrm>
            <a:off x="621792" y="2011680"/>
            <a:ext cx="3328416" cy="4023360"/>
          </a:xfrm>
          <a:prstGeom prst="rect">
            <a:avLst/>
          </a:prstGeom>
          <a:noFill/>
        </p:spPr>
        <p:txBody>
          <a:bodyPr wrap="square">
            <a:spAutoFit/>
          </a:bodyPr>
          <a:lstStyle/>
          <a:p>
            <a:pPr algn="l">
              <a:spcBef>
                <a:spcPts val="0"/>
              </a:spcBef>
              <a:spcAft>
                <a:spcPts val="900"/>
              </a:spcAft>
            </a:pPr>
            <a:r>
              <a:rPr sz="1300" b="0" i="0">
                <a:solidFill>
                  <a:srgbClr val="3A4758"/>
                </a:solidFill>
                <a:latin typeface="Calibri"/>
              </a:rPr>
              <a:t>▸  Rec 001 arithmetic clean</a:t>
            </a:r>
          </a:p>
          <a:p>
            <a:pPr algn="l">
              <a:spcBef>
                <a:spcPts val="0"/>
              </a:spcBef>
              <a:spcAft>
                <a:spcPts val="900"/>
              </a:spcAft>
            </a:pPr>
            <a:r>
              <a:rPr sz="1300" b="0" i="0">
                <a:solidFill>
                  <a:srgbClr val="3A4758"/>
                </a:solidFill>
                <a:latin typeface="Calibri"/>
              </a:rPr>
              <a:t>▸  No IMDS Check errors</a:t>
            </a:r>
          </a:p>
          <a:p>
            <a:pPr algn="l">
              <a:spcBef>
                <a:spcPts val="0"/>
              </a:spcBef>
              <a:spcAft>
                <a:spcPts val="900"/>
              </a:spcAft>
            </a:pPr>
            <a:r>
              <a:rPr sz="1300" b="0" i="0">
                <a:solidFill>
                  <a:srgbClr val="3A4758"/>
                </a:solidFill>
                <a:latin typeface="Calibri"/>
              </a:rPr>
              <a:t>▸  Matching GM or VW or Ford pack</a:t>
            </a:r>
          </a:p>
          <a:p>
            <a:pPr algn="l">
              <a:spcBef>
                <a:spcPts val="0"/>
              </a:spcBef>
              <a:spcAft>
                <a:spcPts val="900"/>
              </a:spcAft>
            </a:pPr>
            <a:r>
              <a:rPr sz="1300" b="0" i="0">
                <a:solidFill>
                  <a:srgbClr val="3A4758"/>
                </a:solidFill>
                <a:latin typeface="Calibri"/>
              </a:rPr>
              <a:t>▸  Known-good supplier / material IDs</a:t>
            </a:r>
          </a:p>
          <a:p>
            <a:pPr algn="l">
              <a:spcBef>
                <a:spcPts val="0"/>
              </a:spcBef>
              <a:spcAft>
                <a:spcPts val="900"/>
              </a:spcAft>
            </a:pPr>
            <a:r>
              <a:rPr sz="1300" b="0" i="0">
                <a:solidFill>
                  <a:srgbClr val="3A4758"/>
                </a:solidFill>
                <a:latin typeface="Calibri"/>
              </a:rPr>
              <a:t>▸  Weight inside the OEM window</a:t>
            </a:r>
          </a:p>
          <a:p>
            <a:pPr algn="l">
              <a:spcBef>
                <a:spcPts val="0"/>
              </a:spcBef>
              <a:spcAft>
                <a:spcPts val="900"/>
              </a:spcAft>
            </a:pPr>
            <a:r>
              <a:rPr sz="1300" b="0" i="0">
                <a:solidFill>
                  <a:srgbClr val="3A4758"/>
                </a:solidFill>
                <a:latin typeface="Calibri"/>
              </a:rPr>
              <a:t>▸  Logged with rule-pack version</a:t>
            </a:r>
          </a:p>
        </p:txBody>
      </p:sp>
      <p:sp>
        <p:nvSpPr>
          <p:cNvPr id="12" name="Rounded Rectangle 11"/>
          <p:cNvSpPr/>
          <p:nvPr/>
        </p:nvSpPr>
        <p:spPr>
          <a:xfrm>
            <a:off x="4251960" y="1371600"/>
            <a:ext cx="3657600" cy="4892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1371600"/>
            <a:ext cx="3657600" cy="502920"/>
          </a:xfrm>
          <a:prstGeom prst="rect">
            <a:avLst/>
          </a:prstGeom>
          <a:solidFill>
            <a:srgbClr val="B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6552" y="1463040"/>
            <a:ext cx="3328416" cy="347472"/>
          </a:xfrm>
          <a:prstGeom prst="rect">
            <a:avLst/>
          </a:prstGeom>
          <a:noFill/>
        </p:spPr>
        <p:txBody>
          <a:bodyPr wrap="square"/>
          <a:lstStyle/>
          <a:p>
            <a:pPr algn="l">
              <a:spcBef>
                <a:spcPts val="0"/>
              </a:spcBef>
              <a:spcAft>
                <a:spcPts val="600"/>
              </a:spcAft>
            </a:pPr>
            <a:r>
              <a:rPr sz="1400" b="1" i="0">
                <a:solidFill>
                  <a:srgbClr val="FFFFFF"/>
                </a:solidFill>
                <a:latin typeface="Calibri"/>
              </a:rPr>
              <a:t>RED  ·  auto-reject</a:t>
            </a:r>
          </a:p>
        </p:txBody>
      </p:sp>
      <p:sp>
        <p:nvSpPr>
          <p:cNvPr id="15" name="TextBox 14"/>
          <p:cNvSpPr txBox="1"/>
          <p:nvPr/>
        </p:nvSpPr>
        <p:spPr>
          <a:xfrm>
            <a:off x="4416552" y="2011680"/>
            <a:ext cx="3328416" cy="4023360"/>
          </a:xfrm>
          <a:prstGeom prst="rect">
            <a:avLst/>
          </a:prstGeom>
          <a:noFill/>
        </p:spPr>
        <p:txBody>
          <a:bodyPr wrap="square">
            <a:spAutoFit/>
          </a:bodyPr>
          <a:lstStyle/>
          <a:p>
            <a:pPr algn="l">
              <a:spcBef>
                <a:spcPts val="0"/>
              </a:spcBef>
              <a:spcAft>
                <a:spcPts val="900"/>
              </a:spcAft>
            </a:pPr>
            <a:r>
              <a:rPr sz="1300" b="0" i="0">
                <a:solidFill>
                  <a:srgbClr val="3A4758"/>
                </a:solidFill>
                <a:latin typeface="Calibri"/>
              </a:rPr>
              <a:t>▸  GADSL P / illegal heavy-metal code</a:t>
            </a:r>
          </a:p>
          <a:p>
            <a:pPr algn="l">
              <a:spcBef>
                <a:spcPts val="0"/>
              </a:spcBef>
              <a:spcAft>
                <a:spcPts val="900"/>
              </a:spcAft>
            </a:pPr>
            <a:r>
              <a:rPr sz="1300" b="0" i="0">
                <a:solidFill>
                  <a:srgbClr val="3A4758"/>
                </a:solidFill>
                <a:latin typeface="Calibri"/>
              </a:rPr>
              <a:t>▸  Dummy or unaccepted child node</a:t>
            </a:r>
          </a:p>
          <a:p>
            <a:pPr algn="l">
              <a:spcBef>
                <a:spcPts val="0"/>
              </a:spcBef>
              <a:spcAft>
                <a:spcPts val="900"/>
              </a:spcAft>
            </a:pPr>
            <a:r>
              <a:rPr sz="1300" b="0" i="0">
                <a:solidFill>
                  <a:srgbClr val="3A4758"/>
                </a:solidFill>
                <a:latin typeface="Calibri"/>
              </a:rPr>
              <a:t>▸  Illegal tree / mixed siblings where OEM forbids</a:t>
            </a:r>
          </a:p>
          <a:p>
            <a:pPr algn="l">
              <a:spcBef>
                <a:spcPts val="0"/>
              </a:spcBef>
              <a:spcAft>
                <a:spcPts val="900"/>
              </a:spcAft>
            </a:pPr>
            <a:r>
              <a:rPr sz="1300" b="0" i="0">
                <a:solidFill>
                  <a:srgbClr val="3A4758"/>
                </a:solidFill>
                <a:latin typeface="Calibri"/>
              </a:rPr>
              <a:t>▸  Send used where Propose is required</a:t>
            </a:r>
          </a:p>
          <a:p>
            <a:pPr algn="l">
              <a:spcBef>
                <a:spcPts val="0"/>
              </a:spcBef>
              <a:spcAft>
                <a:spcPts val="900"/>
              </a:spcAft>
            </a:pPr>
            <a:r>
              <a:rPr sz="1300" b="0" i="0">
                <a:solidFill>
                  <a:srgbClr val="3A4758"/>
                </a:solidFill>
                <a:latin typeface="Calibri"/>
              </a:rPr>
              <a:t>▸  Part number / supplier code mismatch</a:t>
            </a:r>
          </a:p>
          <a:p>
            <a:pPr algn="l">
              <a:spcBef>
                <a:spcPts val="0"/>
              </a:spcBef>
              <a:spcAft>
                <a:spcPts val="900"/>
              </a:spcAft>
            </a:pPr>
            <a:r>
              <a:rPr sz="1300" b="0" i="0">
                <a:solidFill>
                  <a:srgbClr val="3A4758"/>
                </a:solidFill>
                <a:latin typeface="Calibri"/>
              </a:rPr>
              <a:t>▸  Structured reject text, node-cited</a:t>
            </a:r>
          </a:p>
        </p:txBody>
      </p:sp>
      <p:sp>
        <p:nvSpPr>
          <p:cNvPr id="16" name="Rounded Rectangle 15"/>
          <p:cNvSpPr/>
          <p:nvPr/>
        </p:nvSpPr>
        <p:spPr>
          <a:xfrm>
            <a:off x="8046720" y="1371600"/>
            <a:ext cx="3657600" cy="4892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657600" cy="50292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463040"/>
            <a:ext cx="3328416" cy="347472"/>
          </a:xfrm>
          <a:prstGeom prst="rect">
            <a:avLst/>
          </a:prstGeom>
          <a:noFill/>
        </p:spPr>
        <p:txBody>
          <a:bodyPr wrap="square"/>
          <a:lstStyle/>
          <a:p>
            <a:pPr algn="l">
              <a:spcBef>
                <a:spcPts val="0"/>
              </a:spcBef>
              <a:spcAft>
                <a:spcPts val="600"/>
              </a:spcAft>
            </a:pPr>
            <a:r>
              <a:rPr sz="1400" b="1" i="0">
                <a:solidFill>
                  <a:srgbClr val="0B1F3A"/>
                </a:solidFill>
                <a:latin typeface="Calibri"/>
              </a:rPr>
              <a:t>HUMAN  ·  do not automate</a:t>
            </a:r>
          </a:p>
        </p:txBody>
      </p:sp>
      <p:sp>
        <p:nvSpPr>
          <p:cNvPr id="19" name="TextBox 18"/>
          <p:cNvSpPr txBox="1"/>
          <p:nvPr/>
        </p:nvSpPr>
        <p:spPr>
          <a:xfrm>
            <a:off x="8211312" y="2011680"/>
            <a:ext cx="3328416" cy="4023360"/>
          </a:xfrm>
          <a:prstGeom prst="rect">
            <a:avLst/>
          </a:prstGeom>
          <a:noFill/>
        </p:spPr>
        <p:txBody>
          <a:bodyPr wrap="square">
            <a:spAutoFit/>
          </a:bodyPr>
          <a:lstStyle/>
          <a:p>
            <a:pPr algn="l">
              <a:spcBef>
                <a:spcPts val="0"/>
              </a:spcBef>
              <a:spcAft>
                <a:spcPts val="900"/>
              </a:spcAft>
            </a:pPr>
            <a:r>
              <a:rPr sz="1300" b="0" i="0">
                <a:solidFill>
                  <a:srgbClr val="3A4758"/>
                </a:solidFill>
                <a:latin typeface="Calibri"/>
              </a:rPr>
              <a:t>▸  New chemistry / classification call</a:t>
            </a:r>
          </a:p>
          <a:p>
            <a:pPr algn="l">
              <a:spcBef>
                <a:spcPts val="0"/>
              </a:spcBef>
              <a:spcAft>
                <a:spcPts val="900"/>
              </a:spcAft>
            </a:pPr>
            <a:r>
              <a:rPr sz="1300" b="0" i="0">
                <a:solidFill>
                  <a:srgbClr val="3A4758"/>
                </a:solidFill>
                <a:latin typeface="Calibri"/>
              </a:rPr>
              <a:t>▸  OEM derogation or dispute</a:t>
            </a:r>
          </a:p>
          <a:p>
            <a:pPr algn="l">
              <a:spcBef>
                <a:spcPts val="0"/>
              </a:spcBef>
              <a:spcAft>
                <a:spcPts val="900"/>
              </a:spcAft>
            </a:pPr>
            <a:r>
              <a:rPr sz="1300" b="0" i="0">
                <a:solidFill>
                  <a:srgbClr val="3A4758"/>
                </a:solidFill>
                <a:latin typeface="Calibri"/>
              </a:rPr>
              <a:t>▸  Conflicting measured vs calculated weight near limit</a:t>
            </a:r>
          </a:p>
          <a:p>
            <a:pPr algn="l">
              <a:spcBef>
                <a:spcPts val="0"/>
              </a:spcBef>
              <a:spcAft>
                <a:spcPts val="900"/>
              </a:spcAft>
            </a:pPr>
            <a:r>
              <a:rPr sz="1300" b="0" i="0">
                <a:solidFill>
                  <a:srgbClr val="3A4758"/>
                </a:solidFill>
                <a:latin typeface="Calibri"/>
              </a:rPr>
              <a:t>▸  Directed-buy / forwarding edge cases</a:t>
            </a:r>
          </a:p>
          <a:p>
            <a:pPr algn="l">
              <a:spcBef>
                <a:spcPts val="0"/>
              </a:spcBef>
              <a:spcAft>
                <a:spcPts val="900"/>
              </a:spcAft>
            </a:pPr>
            <a:r>
              <a:rPr sz="1300" b="0" i="0">
                <a:solidFill>
                  <a:srgbClr val="3A4758"/>
                </a:solidFill>
                <a:latin typeface="Calibri"/>
              </a:rPr>
              <a:t>▸  Policy change (new GADSL / Rec)</a:t>
            </a:r>
          </a:p>
          <a:p>
            <a:pPr algn="l">
              <a:spcBef>
                <a:spcPts val="0"/>
              </a:spcBef>
              <a:spcAft>
                <a:spcPts val="900"/>
              </a:spcAft>
            </a:pPr>
            <a:r>
              <a:rPr sz="1300" b="0" i="0">
                <a:solidFill>
                  <a:srgbClr val="3A4758"/>
                </a:solidFill>
                <a:latin typeface="Calibri"/>
              </a:rPr>
              <a:t>▸  Kill-switch and sample audit of greens</a:t>
            </a:r>
          </a:p>
        </p:txBody>
      </p:sp>
      <p:sp>
        <p:nvSpPr>
          <p:cNvPr id="20" name="Rectangle 19"/>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23" name="TextBox 22"/>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05  ·  AGENTIC WORKFLOW</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What we will build — five agents on our own IMDS account</a:t>
            </a:r>
          </a:p>
        </p:txBody>
      </p:sp>
      <p:sp>
        <p:nvSpPr>
          <p:cNvPr id="7" name="Rounded Rectangle 6"/>
          <p:cNvSpPr/>
          <p:nvPr/>
        </p:nvSpPr>
        <p:spPr>
          <a:xfrm>
            <a:off x="365760" y="1078992"/>
            <a:ext cx="2194560" cy="2606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2011680" cy="640080"/>
          </a:xfrm>
          <a:prstGeom prst="rect">
            <a:avLst/>
          </a:prstGeom>
          <a:noFill/>
        </p:spPr>
        <p:txBody>
          <a:bodyPr wrap="square"/>
          <a:lstStyle/>
          <a:p>
            <a:pPr algn="ctr">
              <a:spcBef>
                <a:spcPts val="0"/>
              </a:spcBef>
              <a:spcAft>
                <a:spcPts val="600"/>
              </a:spcAft>
            </a:pPr>
            <a:r>
              <a:rPr sz="1400" b="1" i="0">
                <a:solidFill>
                  <a:srgbClr val="0B1F3A"/>
                </a:solidFill>
                <a:latin typeface="Calibri"/>
              </a:rPr>
              <a:t>Inbox
Triage</a:t>
            </a:r>
          </a:p>
        </p:txBody>
      </p:sp>
      <p:sp>
        <p:nvSpPr>
          <p:cNvPr id="9" name="TextBox 8"/>
          <p:cNvSpPr txBox="1"/>
          <p:nvPr/>
        </p:nvSpPr>
        <p:spPr>
          <a:xfrm>
            <a:off x="475488" y="1874519"/>
            <a:ext cx="1975104" cy="1645920"/>
          </a:xfrm>
          <a:prstGeom prst="rect">
            <a:avLst/>
          </a:prstGeom>
          <a:noFill/>
        </p:spPr>
        <p:txBody>
          <a:bodyPr wrap="square"/>
          <a:lstStyle/>
          <a:p>
            <a:pPr algn="ctr">
              <a:spcBef>
                <a:spcPts val="0"/>
              </a:spcBef>
              <a:spcAft>
                <a:spcPts val="600"/>
              </a:spcAft>
            </a:pPr>
            <a:r>
              <a:rPr sz="1200" b="0" i="0">
                <a:solidFill>
                  <a:srgbClr val="3A4758"/>
                </a:solidFill>
                <a:latin typeface="Calibri"/>
              </a:rPr>
              <a:t>Poll received. Deduplicate. Age. Cluster GM vs VW vs Ford.</a:t>
            </a:r>
          </a:p>
        </p:txBody>
      </p:sp>
      <p:sp>
        <p:nvSpPr>
          <p:cNvPr id="10" name="Chevron 9"/>
          <p:cNvSpPr/>
          <p:nvPr/>
        </p:nvSpPr>
        <p:spPr>
          <a:xfrm>
            <a:off x="2542032" y="2103120"/>
            <a:ext cx="201168" cy="256032"/>
          </a:xfrm>
          <a:prstGeom prst="chevron">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24912" y="1078992"/>
            <a:ext cx="2194560" cy="2606040"/>
          </a:xfrm>
          <a:prstGeom prst="roundRect">
            <a:avLst>
              <a:gd name="adj" fmla="val 6000"/>
            </a:avLst>
          </a:prstGeom>
          <a:solidFill>
            <a:srgbClr val="0B1F3A"/>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1188720"/>
            <a:ext cx="2011680" cy="640080"/>
          </a:xfrm>
          <a:prstGeom prst="rect">
            <a:avLst/>
          </a:prstGeom>
          <a:noFill/>
        </p:spPr>
        <p:txBody>
          <a:bodyPr wrap="square"/>
          <a:lstStyle/>
          <a:p>
            <a:pPr algn="ctr">
              <a:spcBef>
                <a:spcPts val="0"/>
              </a:spcBef>
              <a:spcAft>
                <a:spcPts val="600"/>
              </a:spcAft>
            </a:pPr>
            <a:r>
              <a:rPr sz="1400" b="1" i="0">
                <a:solidFill>
                  <a:srgbClr val="FFFFFF"/>
                </a:solidFill>
                <a:latin typeface="Calibri"/>
              </a:rPr>
              <a:t>Reviewer</a:t>
            </a:r>
          </a:p>
        </p:txBody>
      </p:sp>
      <p:sp>
        <p:nvSpPr>
          <p:cNvPr id="13" name="TextBox 12"/>
          <p:cNvSpPr txBox="1"/>
          <p:nvPr/>
        </p:nvSpPr>
        <p:spPr>
          <a:xfrm>
            <a:off x="2834640" y="1874519"/>
            <a:ext cx="1975104" cy="1645920"/>
          </a:xfrm>
          <a:prstGeom prst="rect">
            <a:avLst/>
          </a:prstGeom>
          <a:noFill/>
        </p:spPr>
        <p:txBody>
          <a:bodyPr wrap="square"/>
          <a:lstStyle/>
          <a:p>
            <a:pPr algn="ctr">
              <a:spcBef>
                <a:spcPts val="0"/>
              </a:spcBef>
              <a:spcAft>
                <a:spcPts val="600"/>
              </a:spcAft>
            </a:pPr>
            <a:r>
              <a:rPr sz="1200" b="0" i="0">
                <a:solidFill>
                  <a:srgbClr val="D5DEE8"/>
                </a:solidFill>
                <a:latin typeface="Calibri"/>
              </a:rPr>
              <a:t>Rec 001 + the matching OEM pack. Score G/A/R. Cite node IDs.</a:t>
            </a:r>
          </a:p>
        </p:txBody>
      </p:sp>
      <p:sp>
        <p:nvSpPr>
          <p:cNvPr id="14" name="Chevron 13"/>
          <p:cNvSpPr/>
          <p:nvPr/>
        </p:nvSpPr>
        <p:spPr>
          <a:xfrm>
            <a:off x="4901184" y="2103120"/>
            <a:ext cx="201168" cy="256032"/>
          </a:xfrm>
          <a:prstGeom prst="chevron">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84064" y="1078992"/>
            <a:ext cx="2194560" cy="2606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1188720"/>
            <a:ext cx="2011680" cy="640080"/>
          </a:xfrm>
          <a:prstGeom prst="rect">
            <a:avLst/>
          </a:prstGeom>
          <a:noFill/>
        </p:spPr>
        <p:txBody>
          <a:bodyPr wrap="square"/>
          <a:lstStyle/>
          <a:p>
            <a:pPr algn="ctr">
              <a:spcBef>
                <a:spcPts val="0"/>
              </a:spcBef>
              <a:spcAft>
                <a:spcPts val="600"/>
              </a:spcAft>
            </a:pPr>
            <a:r>
              <a:rPr sz="1400" b="1" i="0">
                <a:solidFill>
                  <a:srgbClr val="0B1F3A"/>
                </a:solidFill>
                <a:latin typeface="Calibri"/>
              </a:rPr>
              <a:t>Decision
writer</a:t>
            </a:r>
          </a:p>
        </p:txBody>
      </p:sp>
      <p:sp>
        <p:nvSpPr>
          <p:cNvPr id="17" name="TextBox 16"/>
          <p:cNvSpPr txBox="1"/>
          <p:nvPr/>
        </p:nvSpPr>
        <p:spPr>
          <a:xfrm>
            <a:off x="5193792" y="1874519"/>
            <a:ext cx="1975104" cy="1645920"/>
          </a:xfrm>
          <a:prstGeom prst="rect">
            <a:avLst/>
          </a:prstGeom>
          <a:noFill/>
        </p:spPr>
        <p:txBody>
          <a:bodyPr wrap="square"/>
          <a:lstStyle/>
          <a:p>
            <a:pPr algn="ctr">
              <a:spcBef>
                <a:spcPts val="0"/>
              </a:spcBef>
              <a:spcAft>
                <a:spcPts val="600"/>
              </a:spcAft>
            </a:pPr>
            <a:r>
              <a:rPr sz="1200" b="0" i="0">
                <a:solidFill>
                  <a:srgbClr val="3A4758"/>
                </a:solidFill>
                <a:latin typeface="Calibri"/>
              </a:rPr>
              <a:t>Auto-accept note or structured reject mapped to OEM codes.</a:t>
            </a:r>
          </a:p>
        </p:txBody>
      </p:sp>
      <p:sp>
        <p:nvSpPr>
          <p:cNvPr id="18" name="Chevron 17"/>
          <p:cNvSpPr/>
          <p:nvPr/>
        </p:nvSpPr>
        <p:spPr>
          <a:xfrm>
            <a:off x="7260336" y="2103120"/>
            <a:ext cx="201168" cy="256032"/>
          </a:xfrm>
          <a:prstGeom prst="chevron">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43216" y="1078992"/>
            <a:ext cx="2194560" cy="2606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34656" y="1188720"/>
            <a:ext cx="2011680" cy="640080"/>
          </a:xfrm>
          <a:prstGeom prst="rect">
            <a:avLst/>
          </a:prstGeom>
          <a:noFill/>
        </p:spPr>
        <p:txBody>
          <a:bodyPr wrap="square"/>
          <a:lstStyle/>
          <a:p>
            <a:pPr algn="ctr">
              <a:spcBef>
                <a:spcPts val="0"/>
              </a:spcBef>
              <a:spcAft>
                <a:spcPts val="600"/>
              </a:spcAft>
            </a:pPr>
            <a:r>
              <a:rPr sz="1400" b="1" i="0">
                <a:solidFill>
                  <a:srgbClr val="0B1F3A"/>
                </a:solidFill>
                <a:latin typeface="Calibri"/>
              </a:rPr>
              <a:t>Outbound
pre-flight</a:t>
            </a:r>
          </a:p>
        </p:txBody>
      </p:sp>
      <p:sp>
        <p:nvSpPr>
          <p:cNvPr id="21" name="TextBox 20"/>
          <p:cNvSpPr txBox="1"/>
          <p:nvPr/>
        </p:nvSpPr>
        <p:spPr>
          <a:xfrm>
            <a:off x="7552944" y="1874519"/>
            <a:ext cx="1975104" cy="1645920"/>
          </a:xfrm>
          <a:prstGeom prst="rect">
            <a:avLst/>
          </a:prstGeom>
          <a:noFill/>
        </p:spPr>
        <p:txBody>
          <a:bodyPr wrap="square"/>
          <a:lstStyle/>
          <a:p>
            <a:pPr algn="ctr">
              <a:spcBef>
                <a:spcPts val="0"/>
              </a:spcBef>
              <a:spcAft>
                <a:spcPts val="600"/>
              </a:spcAft>
            </a:pPr>
            <a:r>
              <a:rPr sz="1200" b="0" i="0">
                <a:solidFill>
                  <a:srgbClr val="3A4758"/>
                </a:solidFill>
                <a:latin typeface="Calibri"/>
              </a:rPr>
              <a:t>Before Propose/Send: recipient lint, version policy, OEM pack again.</a:t>
            </a:r>
          </a:p>
        </p:txBody>
      </p:sp>
      <p:sp>
        <p:nvSpPr>
          <p:cNvPr id="22" name="Chevron 21"/>
          <p:cNvSpPr/>
          <p:nvPr/>
        </p:nvSpPr>
        <p:spPr>
          <a:xfrm>
            <a:off x="9619488" y="2103120"/>
            <a:ext cx="201168" cy="256032"/>
          </a:xfrm>
          <a:prstGeom prst="chevron">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02368" y="1078992"/>
            <a:ext cx="2194560" cy="2606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93808" y="1188720"/>
            <a:ext cx="2011680" cy="640080"/>
          </a:xfrm>
          <a:prstGeom prst="rect">
            <a:avLst/>
          </a:prstGeom>
          <a:noFill/>
        </p:spPr>
        <p:txBody>
          <a:bodyPr wrap="square"/>
          <a:lstStyle/>
          <a:p>
            <a:pPr algn="ctr">
              <a:spcBef>
                <a:spcPts val="0"/>
              </a:spcBef>
              <a:spcAft>
                <a:spcPts val="600"/>
              </a:spcAft>
            </a:pPr>
            <a:r>
              <a:rPr sz="1400" b="1" i="0">
                <a:solidFill>
                  <a:srgbClr val="0B1F3A"/>
                </a:solidFill>
                <a:latin typeface="Calibri"/>
              </a:rPr>
              <a:t>Supplier
chaser</a:t>
            </a:r>
          </a:p>
        </p:txBody>
      </p:sp>
      <p:sp>
        <p:nvSpPr>
          <p:cNvPr id="25" name="TextBox 24"/>
          <p:cNvSpPr txBox="1"/>
          <p:nvPr/>
        </p:nvSpPr>
        <p:spPr>
          <a:xfrm>
            <a:off x="9912096" y="1874519"/>
            <a:ext cx="1975104" cy="1645920"/>
          </a:xfrm>
          <a:prstGeom prst="rect">
            <a:avLst/>
          </a:prstGeom>
          <a:noFill/>
        </p:spPr>
        <p:txBody>
          <a:bodyPr wrap="square"/>
          <a:lstStyle/>
          <a:p>
            <a:pPr algn="ctr">
              <a:spcBef>
                <a:spcPts val="0"/>
              </a:spcBef>
              <a:spcAft>
                <a:spcPts val="600"/>
              </a:spcAft>
            </a:pPr>
            <a:r>
              <a:rPr sz="1200" b="0" i="0">
                <a:solidFill>
                  <a:srgbClr val="3A4758"/>
                </a:solidFill>
                <a:latin typeface="Calibri"/>
              </a:rPr>
              <a:t>Overdue requests, dummy-child chase, reminder cadence.</a:t>
            </a:r>
          </a:p>
        </p:txBody>
      </p:sp>
      <p:sp>
        <p:nvSpPr>
          <p:cNvPr id="26" name="Rounded Rectangle 25"/>
          <p:cNvSpPr/>
          <p:nvPr/>
        </p:nvSpPr>
        <p:spPr>
          <a:xfrm>
            <a:off x="457200" y="3840480"/>
            <a:ext cx="11247120" cy="804672"/>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950208"/>
            <a:ext cx="2834640" cy="585216"/>
          </a:xfrm>
          <a:prstGeom prst="rect">
            <a:avLst/>
          </a:prstGeom>
          <a:noFill/>
        </p:spPr>
        <p:txBody>
          <a:bodyPr wrap="square"/>
          <a:lstStyle/>
          <a:p>
            <a:pPr algn="l">
              <a:spcBef>
                <a:spcPts val="0"/>
              </a:spcBef>
              <a:spcAft>
                <a:spcPts val="600"/>
              </a:spcAft>
            </a:pPr>
            <a:r>
              <a:rPr sz="1300" b="1" i="0">
                <a:solidFill>
                  <a:srgbClr val="0F6E6E"/>
                </a:solidFill>
                <a:latin typeface="Calibri"/>
              </a:rPr>
              <a:t>How we touch IMDS</a:t>
            </a:r>
          </a:p>
        </p:txBody>
      </p:sp>
      <p:sp>
        <p:nvSpPr>
          <p:cNvPr id="28" name="TextBox 27"/>
          <p:cNvSpPr txBox="1"/>
          <p:nvPr/>
        </p:nvSpPr>
        <p:spPr>
          <a:xfrm>
            <a:off x="3566160" y="3968496"/>
            <a:ext cx="7909560" cy="585216"/>
          </a:xfrm>
          <a:prstGeom prst="rect">
            <a:avLst/>
          </a:prstGeom>
          <a:noFill/>
        </p:spPr>
        <p:txBody>
          <a:bodyPr wrap="square"/>
          <a:lstStyle/>
          <a:p>
            <a:pPr algn="l">
              <a:spcBef>
                <a:spcPts val="0"/>
              </a:spcBef>
              <a:spcAft>
                <a:spcPts val="600"/>
              </a:spcAft>
            </a:pPr>
            <a:r>
              <a:rPr sz="1200" b="0" i="0">
                <a:solidFill>
                  <a:srgbClr val="3A4758"/>
                </a:solidFill>
                <a:latin typeface="Calibri"/>
              </a:rPr>
              <a:t>v1: attended/unattended automation of OUR company IMDS session only — our credentials, our inbox/outbox. No other company’s data. No marketplace scraping. IMDS Connect is a later paid option, not required to start.</a:t>
            </a:r>
          </a:p>
        </p:txBody>
      </p:sp>
      <p:sp>
        <p:nvSpPr>
          <p:cNvPr id="29" name="Rounded Rectangle 28"/>
          <p:cNvSpPr/>
          <p:nvPr/>
        </p:nvSpPr>
        <p:spPr>
          <a:xfrm>
            <a:off x="457200" y="4709160"/>
            <a:ext cx="11247120" cy="804672"/>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818888"/>
            <a:ext cx="2834640" cy="585216"/>
          </a:xfrm>
          <a:prstGeom prst="rect">
            <a:avLst/>
          </a:prstGeom>
          <a:noFill/>
        </p:spPr>
        <p:txBody>
          <a:bodyPr wrap="square"/>
          <a:lstStyle/>
          <a:p>
            <a:pPr algn="l">
              <a:spcBef>
                <a:spcPts val="0"/>
              </a:spcBef>
              <a:spcAft>
                <a:spcPts val="600"/>
              </a:spcAft>
            </a:pPr>
            <a:r>
              <a:rPr sz="1300" b="1" i="0">
                <a:solidFill>
                  <a:srgbClr val="0F6E6E"/>
                </a:solidFill>
                <a:latin typeface="Calibri"/>
              </a:rPr>
              <a:t>System of record we own</a:t>
            </a:r>
          </a:p>
        </p:txBody>
      </p:sp>
      <p:sp>
        <p:nvSpPr>
          <p:cNvPr id="31" name="TextBox 30"/>
          <p:cNvSpPr txBox="1"/>
          <p:nvPr/>
        </p:nvSpPr>
        <p:spPr>
          <a:xfrm>
            <a:off x="3566160" y="4837176"/>
            <a:ext cx="7909560" cy="585216"/>
          </a:xfrm>
          <a:prstGeom prst="rect">
            <a:avLst/>
          </a:prstGeom>
          <a:noFill/>
        </p:spPr>
        <p:txBody>
          <a:bodyPr wrap="square"/>
          <a:lstStyle/>
          <a:p>
            <a:pPr algn="l">
              <a:spcBef>
                <a:spcPts val="0"/>
              </a:spcBef>
              <a:spcAft>
                <a:spcPts val="600"/>
              </a:spcAft>
            </a:pPr>
            <a:r>
              <a:rPr sz="1200" b="0" i="0">
                <a:solidFill>
                  <a:srgbClr val="3A4758"/>
                </a:solidFill>
                <a:latin typeface="Calibri"/>
              </a:rPr>
              <a:t>GM / VW / Ford rule packs, labeled accept/reject history, rule-pack version on every decision, kill switch. That file is the IP.</a:t>
            </a:r>
          </a:p>
        </p:txBody>
      </p:sp>
      <p:sp>
        <p:nvSpPr>
          <p:cNvPr id="32" name="Rounded Rectangle 31"/>
          <p:cNvSpPr/>
          <p:nvPr/>
        </p:nvSpPr>
        <p:spPr>
          <a:xfrm>
            <a:off x="457200" y="5577840"/>
            <a:ext cx="11247120" cy="804672"/>
          </a:xfrm>
          <a:prstGeom prst="roundRect">
            <a:avLst>
              <a:gd name="adj" fmla="val 6000"/>
            </a:avLst>
          </a:prstGeom>
          <a:solidFill>
            <a:srgbClr val="F5F7F9"/>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687568"/>
            <a:ext cx="2834640" cy="585216"/>
          </a:xfrm>
          <a:prstGeom prst="rect">
            <a:avLst/>
          </a:prstGeom>
          <a:noFill/>
        </p:spPr>
        <p:txBody>
          <a:bodyPr wrap="square"/>
          <a:lstStyle/>
          <a:p>
            <a:pPr algn="l">
              <a:spcBef>
                <a:spcPts val="0"/>
              </a:spcBef>
              <a:spcAft>
                <a:spcPts val="600"/>
              </a:spcAft>
            </a:pPr>
            <a:r>
              <a:rPr sz="1300" b="1" i="0">
                <a:solidFill>
                  <a:srgbClr val="0F6E6E"/>
                </a:solidFill>
                <a:latin typeface="Calibri"/>
              </a:rPr>
              <a:t>What we will not build in v1</a:t>
            </a:r>
          </a:p>
        </p:txBody>
      </p:sp>
      <p:sp>
        <p:nvSpPr>
          <p:cNvPr id="34" name="TextBox 33"/>
          <p:cNvSpPr txBox="1"/>
          <p:nvPr/>
        </p:nvSpPr>
        <p:spPr>
          <a:xfrm>
            <a:off x="3566160" y="5705856"/>
            <a:ext cx="7909560" cy="585216"/>
          </a:xfrm>
          <a:prstGeom prst="rect">
            <a:avLst/>
          </a:prstGeom>
          <a:noFill/>
        </p:spPr>
        <p:txBody>
          <a:bodyPr wrap="square"/>
          <a:lstStyle/>
          <a:p>
            <a:pPr algn="l">
              <a:spcBef>
                <a:spcPts val="0"/>
              </a:spcBef>
              <a:spcAft>
                <a:spcPts val="600"/>
              </a:spcAft>
            </a:pPr>
            <a:r>
              <a:rPr sz="1200" b="0" i="0">
                <a:solidFill>
                  <a:srgbClr val="3A4758"/>
                </a:solidFill>
                <a:latin typeface="Calibri"/>
              </a:rPr>
              <a:t>CAMDS. PCF / Catena-X. A purchased IMDS Plus license. A vendor platform. Those can wait until the desk is under control.</a:t>
            </a:r>
          </a:p>
        </p:txBody>
      </p:sp>
      <p:sp>
        <p:nvSpPr>
          <p:cNvPr id="35" name="Rectangle 34"/>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38" name="TextBox 37"/>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06  ·  WHAT EXISTS VS WHAT WE DO</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The market proves the prize. We still build — $0, our OEM mix, our IP.</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Vendor figures below are vendor-reported. We keep them as evidence the problem is solvable. They are not a purchase recommendation.</a:t>
            </a:r>
          </a:p>
        </p:txBody>
      </p:sp>
      <p:sp>
        <p:nvSpPr>
          <p:cNvPr id="8" name="Rounded Rectangle 7"/>
          <p:cNvSpPr/>
          <p:nvPr/>
        </p:nvSpPr>
        <p:spPr>
          <a:xfrm>
            <a:off x="457200" y="1371600"/>
            <a:ext cx="5532120" cy="489204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71600"/>
            <a:ext cx="5532120" cy="438912"/>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44752"/>
            <a:ext cx="5166360" cy="292608"/>
          </a:xfrm>
          <a:prstGeom prst="rect">
            <a:avLst/>
          </a:prstGeom>
          <a:noFill/>
        </p:spPr>
        <p:txBody>
          <a:bodyPr wrap="square"/>
          <a:lstStyle/>
          <a:p>
            <a:pPr algn="l">
              <a:spcBef>
                <a:spcPts val="0"/>
              </a:spcBef>
              <a:spcAft>
                <a:spcPts val="600"/>
              </a:spcAft>
            </a:pPr>
            <a:r>
              <a:rPr sz="1400" b="1" i="0">
                <a:solidFill>
                  <a:srgbClr val="FFFFFF"/>
                </a:solidFill>
                <a:latin typeface="Calibri"/>
              </a:rPr>
              <a:t>Market proof (not a shopping list)</a:t>
            </a:r>
          </a:p>
        </p:txBody>
      </p:sp>
      <p:sp>
        <p:nvSpPr>
          <p:cNvPr id="11" name="TextBox 10"/>
          <p:cNvSpPr txBox="1"/>
          <p:nvPr/>
        </p:nvSpPr>
        <p:spPr>
          <a:xfrm>
            <a:off x="640080" y="1965960"/>
            <a:ext cx="5120640" cy="4023360"/>
          </a:xfrm>
          <a:prstGeom prst="rect">
            <a:avLst/>
          </a:prstGeom>
          <a:noFill/>
        </p:spPr>
        <p:txBody>
          <a:bodyPr wrap="square">
            <a:spAutoFit/>
          </a:bodyPr>
          <a:lstStyle/>
          <a:p>
            <a:pPr algn="l">
              <a:spcBef>
                <a:spcPts val="0"/>
              </a:spcBef>
              <a:spcAft>
                <a:spcPts val="700"/>
              </a:spcAft>
            </a:pPr>
            <a:r>
              <a:rPr sz="1300" b="0" i="0">
                <a:solidFill>
                  <a:srgbClr val="3A4758"/>
                </a:solidFill>
                <a:latin typeface="Calibri"/>
              </a:rPr>
              <a:t>▸  DXC IMDS Plus / Inbox Automation: Examiner profiles, auto-accept if no errors. Paid. We have none of it.</a:t>
            </a:r>
          </a:p>
          <a:p>
            <a:pPr algn="l">
              <a:spcBef>
                <a:spcPts val="0"/>
              </a:spcBef>
              <a:spcAft>
                <a:spcPts val="700"/>
              </a:spcAft>
            </a:pPr>
            <a:r>
              <a:rPr sz="1300" b="0" i="0">
                <a:solidFill>
                  <a:srgbClr val="3A4758"/>
                </a:solidFill>
                <a:latin typeface="Calibri"/>
              </a:rPr>
              <a:t>▸  iPoint / Assent, APA MDS Xpress: enterprise IMDS platforms. Not in our estate.</a:t>
            </a:r>
          </a:p>
          <a:p>
            <a:pPr algn="l">
              <a:spcBef>
                <a:spcPts val="0"/>
              </a:spcBef>
              <a:spcAft>
                <a:spcPts val="700"/>
              </a:spcAft>
            </a:pPr>
            <a:r>
              <a:rPr sz="1300" b="0" i="0">
                <a:solidFill>
                  <a:srgbClr val="3A4758"/>
                </a:solidFill>
                <a:latin typeface="Calibri"/>
              </a:rPr>
              <a:t>▸  Predco (vendor-reported): −89% rejects, −72% cycle, ~18 days PPAP recovery, 1.8% reject rate across 12 Tier-1s.</a:t>
            </a:r>
          </a:p>
          <a:p>
            <a:pPr algn="l">
              <a:spcBef>
                <a:spcPts val="0"/>
              </a:spcBef>
              <a:spcAft>
                <a:spcPts val="700"/>
              </a:spcAft>
            </a:pPr>
            <a:r>
              <a:rPr sz="1300" b="0" i="0">
                <a:solidFill>
                  <a:srgbClr val="3A4758"/>
                </a:solidFill>
                <a:latin typeface="Calibri"/>
              </a:rPr>
              <a:t>▸  Certivo (vendor-reported): 30–40% first-pass reject → &lt;5%; 4–6 weeks → ~4 hours; 80% less prep labor.</a:t>
            </a:r>
          </a:p>
          <a:p>
            <a:pPr algn="l">
              <a:spcBef>
                <a:spcPts val="0"/>
              </a:spcBef>
              <a:spcAft>
                <a:spcPts val="700"/>
              </a:spcAft>
            </a:pPr>
            <a:r>
              <a:rPr sz="1300" b="0" i="0">
                <a:solidFill>
                  <a:srgbClr val="3A4758"/>
                </a:solidFill>
                <a:latin typeface="Calibri"/>
              </a:rPr>
              <a:t>▸  Tetra Tech: draft trees from drawings/photos — supplier-engagement aid, not our inbox engine.</a:t>
            </a:r>
          </a:p>
        </p:txBody>
      </p:sp>
      <p:sp>
        <p:nvSpPr>
          <p:cNvPr id="12" name="Rounded Rectangle 11"/>
          <p:cNvSpPr/>
          <p:nvPr/>
        </p:nvSpPr>
        <p:spPr>
          <a:xfrm>
            <a:off x="6217920" y="1371600"/>
            <a:ext cx="5532120" cy="489204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36192"/>
            <a:ext cx="5166360" cy="292608"/>
          </a:xfrm>
          <a:prstGeom prst="rect">
            <a:avLst/>
          </a:prstGeom>
          <a:noFill/>
        </p:spPr>
        <p:txBody>
          <a:bodyPr wrap="square"/>
          <a:lstStyle/>
          <a:p>
            <a:pPr algn="l">
              <a:spcBef>
                <a:spcPts val="0"/>
              </a:spcBef>
              <a:spcAft>
                <a:spcPts val="600"/>
              </a:spcAft>
            </a:pPr>
            <a:r>
              <a:rPr sz="1400" b="1" i="0">
                <a:solidFill>
                  <a:srgbClr val="C4A35A"/>
                </a:solidFill>
                <a:latin typeface="Calibri"/>
              </a:rPr>
              <a:t>Why leadership should fund effort, not software</a:t>
            </a:r>
          </a:p>
        </p:txBody>
      </p:sp>
      <p:sp>
        <p:nvSpPr>
          <p:cNvPr id="14" name="TextBox 13"/>
          <p:cNvSpPr txBox="1"/>
          <p:nvPr/>
        </p:nvSpPr>
        <p:spPr>
          <a:xfrm>
            <a:off x="6400800" y="1965960"/>
            <a:ext cx="5120640" cy="4023360"/>
          </a:xfrm>
          <a:prstGeom prst="rect">
            <a:avLst/>
          </a:prstGeom>
          <a:noFill/>
        </p:spPr>
        <p:txBody>
          <a:bodyPr wrap="square">
            <a:spAutoFit/>
          </a:bodyPr>
          <a:lstStyle/>
          <a:p>
            <a:pPr algn="l">
              <a:spcBef>
                <a:spcPts val="0"/>
              </a:spcBef>
              <a:spcAft>
                <a:spcPts val="800"/>
              </a:spcAft>
            </a:pPr>
            <a:r>
              <a:rPr sz="1300" b="0" i="0">
                <a:solidFill>
                  <a:srgbClr val="D5DEE8"/>
                </a:solidFill>
                <a:latin typeface="Calibri"/>
              </a:rPr>
              <a:t>▸  Budget is own effort. No license, no integrator, no platform RFP.</a:t>
            </a:r>
          </a:p>
          <a:p>
            <a:pPr algn="l">
              <a:spcBef>
                <a:spcPts val="0"/>
              </a:spcBef>
              <a:spcAft>
                <a:spcPts val="800"/>
              </a:spcAft>
            </a:pPr>
            <a:r>
              <a:rPr sz="1300" b="0" i="0">
                <a:solidFill>
                  <a:srgbClr val="D5DEE8"/>
                </a:solidFill>
                <a:latin typeface="Calibri"/>
              </a:rPr>
              <a:t>▸  Nothing is installed today. Buying Plus or iPoint is a second program, not a shortcut to GM/VW/Ford packs.</a:t>
            </a:r>
          </a:p>
          <a:p>
            <a:pPr algn="l">
              <a:spcBef>
                <a:spcPts val="0"/>
              </a:spcBef>
              <a:spcAft>
                <a:spcPts val="800"/>
              </a:spcAft>
            </a:pPr>
            <a:r>
              <a:rPr sz="1300" b="0" i="0">
                <a:solidFill>
                  <a:srgbClr val="D5DEE8"/>
                </a:solidFill>
                <a:latin typeface="Calibri"/>
              </a:rPr>
              <a:t>▸  The scarce asset is labeled decisions and three OEM overlays — that knowledge already sits in Supplier Quality.</a:t>
            </a:r>
          </a:p>
          <a:p>
            <a:pPr algn="l">
              <a:spcBef>
                <a:spcPts val="0"/>
              </a:spcBef>
              <a:spcAft>
                <a:spcPts val="800"/>
              </a:spcAft>
            </a:pPr>
            <a:r>
              <a:rPr sz="1300" b="0" i="0">
                <a:solidFill>
                  <a:srgbClr val="D5DEE8"/>
                </a:solidFill>
                <a:latin typeface="Calibri"/>
              </a:rPr>
              <a:t>▸  A vendor does not know our tree conventions. We do.</a:t>
            </a:r>
          </a:p>
          <a:p>
            <a:pPr algn="l">
              <a:spcBef>
                <a:spcPts val="0"/>
              </a:spcBef>
              <a:spcAft>
                <a:spcPts val="800"/>
              </a:spcAft>
            </a:pPr>
            <a:r>
              <a:rPr sz="1300" b="0" i="0">
                <a:solidFill>
                  <a:srgbClr val="D5DEE8"/>
                </a:solidFill>
                <a:latin typeface="Calibri"/>
              </a:rPr>
              <a:t>▸  We will reuse vendor ideas (score, cite, structured reject, pre-flight). We will not rent the desk.</a:t>
            </a:r>
          </a:p>
        </p:txBody>
      </p:sp>
      <p:sp>
        <p:nvSpPr>
          <p:cNvPr id="15" name="Rectangle 14"/>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18" name="TextBox 17"/>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07  ·  CONTROLS</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Auto-accept is allowed. Uncontrolled auto-accept is not.</a:t>
            </a:r>
          </a:p>
        </p:txBody>
      </p:sp>
      <p:graphicFrame>
        <p:nvGraphicFramePr>
          <p:cNvPr id="7" name="Table 6"/>
          <p:cNvGraphicFramePr>
            <a:graphicFrameLocks noGrp="1"/>
          </p:cNvGraphicFramePr>
          <p:nvPr/>
        </p:nvGraphicFramePr>
        <p:xfrm>
          <a:off x="411480" y="1078992"/>
          <a:ext cx="11338560" cy="4434840"/>
        </p:xfrm>
        <a:graphic>
          <a:graphicData uri="http://schemas.openxmlformats.org/drawingml/2006/table">
            <a:tbl>
              <a:tblPr firstRow="1" bandRow="1">
                <a:tableStyleId>{5C22544A-7EE6-4342-B048-85BDC9FD1C3A}</a:tableStyleId>
              </a:tblPr>
              <a:tblGrid>
                <a:gridCol w="5029200"/>
                <a:gridCol w="2286000"/>
                <a:gridCol w="4023360"/>
              </a:tblGrid>
              <a:tr h="633548">
                <a:tc>
                  <a:txBody>
                    <a:bodyPr wrap="square"/>
                    <a:lstStyle/>
                    <a:p>
                      <a:pPr algn="ctr">
                        <a:spcBef>
                          <a:spcPts val="200"/>
                        </a:spcBef>
                        <a:spcAft>
                          <a:spcPts val="200"/>
                        </a:spcAft>
                      </a:pPr>
                      <a:r>
                        <a:rPr sz="1200" b="1" i="0">
                          <a:solidFill>
                            <a:srgbClr val="FFFFFF"/>
                          </a:solidFill>
                          <a:latin typeface="Calibri"/>
                        </a:rPr>
                        <a:t>Control</a:t>
                      </a:r>
                    </a:p>
                  </a:txBody>
                  <a:tcPr>
                    <a:solidFill>
                      <a:srgbClr val="0B1F3A"/>
                    </a:solidFill>
                  </a:tcPr>
                </a:tc>
                <a:tc>
                  <a:txBody>
                    <a:bodyPr wrap="square"/>
                    <a:lstStyle/>
                    <a:p>
                      <a:pPr algn="ctr">
                        <a:spcBef>
                          <a:spcPts val="200"/>
                        </a:spcBef>
                        <a:spcAft>
                          <a:spcPts val="200"/>
                        </a:spcAft>
                      </a:pPr>
                      <a:r>
                        <a:rPr sz="1200" b="1" i="0">
                          <a:solidFill>
                            <a:srgbClr val="FFFFFF"/>
                          </a:solidFill>
                          <a:latin typeface="Calibri"/>
                        </a:rPr>
                        <a:t>Owner</a:t>
                      </a:r>
                    </a:p>
                  </a:txBody>
                  <a:tcPr>
                    <a:solidFill>
                      <a:srgbClr val="0B1F3A"/>
                    </a:solidFill>
                  </a:tcPr>
                </a:tc>
                <a:tc>
                  <a:txBody>
                    <a:bodyPr wrap="square"/>
                    <a:lstStyle/>
                    <a:p>
                      <a:pPr algn="ctr">
                        <a:spcBef>
                          <a:spcPts val="200"/>
                        </a:spcBef>
                        <a:spcAft>
                          <a:spcPts val="200"/>
                        </a:spcAft>
                      </a:pPr>
                      <a:r>
                        <a:rPr sz="1200" b="1" i="0">
                          <a:solidFill>
                            <a:srgbClr val="FFFFFF"/>
                          </a:solidFill>
                          <a:latin typeface="Calibri"/>
                        </a:rPr>
                        <a:t>What it prevents</a:t>
                      </a:r>
                    </a:p>
                  </a:txBody>
                  <a:tcPr>
                    <a:solidFill>
                      <a:srgbClr val="0B1F3A"/>
                    </a:solidFill>
                  </a:tcPr>
                </a:tc>
              </a:tr>
              <a:tr h="633548">
                <a:tc>
                  <a:txBody>
                    <a:bodyPr wrap="square"/>
                    <a:lstStyle/>
                    <a:p>
                      <a:pPr algn="l">
                        <a:spcBef>
                          <a:spcPts val="200"/>
                        </a:spcBef>
                        <a:spcAft>
                          <a:spcPts val="200"/>
                        </a:spcAft>
                      </a:pPr>
                      <a:r>
                        <a:rPr sz="1200" b="1" i="0">
                          <a:solidFill>
                            <a:srgbClr val="0B1F3A"/>
                          </a:solidFill>
                          <a:latin typeface="Calibri"/>
                        </a:rPr>
                        <a:t>Rule-pack version stamped on every accept/reject</a:t>
                      </a:r>
                    </a:p>
                  </a:txBody>
                  <a:tcPr>
                    <a:solidFill>
                      <a:srgbClr val="F8F1E0"/>
                    </a:solidFill>
                  </a:tcPr>
                </a:tc>
                <a:tc>
                  <a:txBody>
                    <a:bodyPr wrap="square"/>
                    <a:lstStyle/>
                    <a:p>
                      <a:pPr algn="l">
                        <a:spcBef>
                          <a:spcPts val="200"/>
                        </a:spcBef>
                        <a:spcAft>
                          <a:spcPts val="200"/>
                        </a:spcAft>
                      </a:pPr>
                      <a:r>
                        <a:rPr sz="1200" b="0" i="0">
                          <a:solidFill>
                            <a:srgbClr val="3A4758"/>
                          </a:solidFill>
                          <a:latin typeface="Calibri"/>
                        </a:rPr>
                        <a:t>Supplier Quality</a:t>
                      </a:r>
                    </a:p>
                  </a:txBody>
                  <a:tcPr>
                    <a:solidFill>
                      <a:srgbClr val="FFFFFF"/>
                    </a:solidFill>
                  </a:tcPr>
                </a:tc>
                <a:tc>
                  <a:txBody>
                    <a:bodyPr wrap="square"/>
                    <a:lstStyle/>
                    <a:p>
                      <a:pPr algn="l">
                        <a:spcBef>
                          <a:spcPts val="200"/>
                        </a:spcBef>
                        <a:spcAft>
                          <a:spcPts val="200"/>
                        </a:spcAft>
                      </a:pPr>
                      <a:r>
                        <a:rPr sz="1200" b="0" i="0">
                          <a:solidFill>
                            <a:srgbClr val="3A4758"/>
                          </a:solidFill>
                          <a:latin typeface="Calibri"/>
                        </a:rPr>
                        <a:t>Orphan decisions after a GADSL or OEM-guide change</a:t>
                      </a:r>
                    </a:p>
                  </a:txBody>
                  <a:tcPr>
                    <a:solidFill>
                      <a:srgbClr val="FFFFFF"/>
                    </a:solidFill>
                  </a:tcPr>
                </a:tc>
              </a:tr>
              <a:tr h="633548">
                <a:tc>
                  <a:txBody>
                    <a:bodyPr wrap="square"/>
                    <a:lstStyle/>
                    <a:p>
                      <a:pPr algn="l">
                        <a:spcBef>
                          <a:spcPts val="200"/>
                        </a:spcBef>
                        <a:spcAft>
                          <a:spcPts val="200"/>
                        </a:spcAft>
                      </a:pPr>
                      <a:r>
                        <a:rPr sz="1200" b="1" i="0">
                          <a:solidFill>
                            <a:srgbClr val="0B1F3A"/>
                          </a:solidFill>
                          <a:latin typeface="Calibri"/>
                        </a:rPr>
                        <a:t>Kill switch — halt auto-accept / auto-reject in one action</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Quality + SQ Director</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A bad pack promoting into production</a:t>
                      </a:r>
                    </a:p>
                  </a:txBody>
                  <a:tcPr>
                    <a:solidFill>
                      <a:srgbClr val="F5F7F9"/>
                    </a:solidFill>
                  </a:tcPr>
                </a:tc>
              </a:tr>
              <a:tr h="633548">
                <a:tc>
                  <a:txBody>
                    <a:bodyPr wrap="square"/>
                    <a:lstStyle/>
                    <a:p>
                      <a:pPr algn="l">
                        <a:spcBef>
                          <a:spcPts val="200"/>
                        </a:spcBef>
                        <a:spcAft>
                          <a:spcPts val="200"/>
                        </a:spcAft>
                      </a:pPr>
                      <a:r>
                        <a:rPr sz="1200" b="1" i="0">
                          <a:solidFill>
                            <a:srgbClr val="0B1F3A"/>
                          </a:solidFill>
                          <a:latin typeface="Calibri"/>
                        </a:rPr>
                        <a:t>Sample audit of greens (daily at start, then weekly)</a:t>
                      </a:r>
                    </a:p>
                  </a:txBody>
                  <a:tcPr>
                    <a:solidFill>
                      <a:srgbClr val="F8F1E0"/>
                    </a:solidFill>
                  </a:tcPr>
                </a:tc>
                <a:tc>
                  <a:txBody>
                    <a:bodyPr wrap="square"/>
                    <a:lstStyle/>
                    <a:p>
                      <a:pPr algn="l">
                        <a:spcBef>
                          <a:spcPts val="200"/>
                        </a:spcBef>
                        <a:spcAft>
                          <a:spcPts val="200"/>
                        </a:spcAft>
                      </a:pPr>
                      <a:r>
                        <a:rPr sz="1200" b="0" i="0">
                          <a:solidFill>
                            <a:srgbClr val="3A4758"/>
                          </a:solidFill>
                          <a:latin typeface="Calibri"/>
                        </a:rPr>
                        <a:t>Quality</a:t>
                      </a:r>
                    </a:p>
                  </a:txBody>
                  <a:tcPr>
                    <a:solidFill>
                      <a:srgbClr val="FFFFFF"/>
                    </a:solidFill>
                  </a:tcPr>
                </a:tc>
                <a:tc>
                  <a:txBody>
                    <a:bodyPr wrap="square"/>
                    <a:lstStyle/>
                    <a:p>
                      <a:pPr algn="l">
                        <a:spcBef>
                          <a:spcPts val="200"/>
                        </a:spcBef>
                        <a:spcAft>
                          <a:spcPts val="200"/>
                        </a:spcAft>
                      </a:pPr>
                      <a:r>
                        <a:rPr sz="1200" b="0" i="0">
                          <a:solidFill>
                            <a:srgbClr val="3A4758"/>
                          </a:solidFill>
                          <a:latin typeface="Calibri"/>
                        </a:rPr>
                        <a:t>Silent wrongful-accept drift</a:t>
                      </a:r>
                    </a:p>
                  </a:txBody>
                  <a:tcPr>
                    <a:solidFill>
                      <a:srgbClr val="FFFFFF"/>
                    </a:solidFill>
                  </a:tcPr>
                </a:tc>
              </a:tr>
              <a:tr h="633548">
                <a:tc>
                  <a:txBody>
                    <a:bodyPr wrap="square"/>
                    <a:lstStyle/>
                    <a:p>
                      <a:pPr algn="l">
                        <a:spcBef>
                          <a:spcPts val="200"/>
                        </a:spcBef>
                        <a:spcAft>
                          <a:spcPts val="200"/>
                        </a:spcAft>
                      </a:pPr>
                      <a:r>
                        <a:rPr sz="1200" b="1" i="0">
                          <a:solidFill>
                            <a:srgbClr val="0B1F3A"/>
                          </a:solidFill>
                          <a:latin typeface="Calibri"/>
                        </a:rPr>
                        <a:t>Human-mandatory list (novel chemistry, derogation, dispute)</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SQ Director</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Liability and customer relationship sitting on a bot</a:t>
                      </a:r>
                    </a:p>
                  </a:txBody>
                  <a:tcPr>
                    <a:solidFill>
                      <a:srgbClr val="F5F7F9"/>
                    </a:solidFill>
                  </a:tcPr>
                </a:tc>
              </a:tr>
              <a:tr h="633548">
                <a:tc>
                  <a:txBody>
                    <a:bodyPr wrap="square"/>
                    <a:lstStyle/>
                    <a:p>
                      <a:pPr algn="l">
                        <a:spcBef>
                          <a:spcPts val="200"/>
                        </a:spcBef>
                        <a:spcAft>
                          <a:spcPts val="200"/>
                        </a:spcAft>
                      </a:pPr>
                      <a:r>
                        <a:rPr sz="1200" b="1" i="0">
                          <a:solidFill>
                            <a:srgbClr val="0B1F3A"/>
                          </a:solidFill>
                          <a:latin typeface="Calibri"/>
                        </a:rPr>
                        <a:t>Own-account only — our IMDS credentials, our company</a:t>
                      </a:r>
                    </a:p>
                  </a:txBody>
                  <a:tcPr>
                    <a:solidFill>
                      <a:srgbClr val="F8F1E0"/>
                    </a:solidFill>
                  </a:tcPr>
                </a:tc>
                <a:tc>
                  <a:txBody>
                    <a:bodyPr wrap="square"/>
                    <a:lstStyle/>
                    <a:p>
                      <a:pPr algn="l">
                        <a:spcBef>
                          <a:spcPts val="200"/>
                        </a:spcBef>
                        <a:spcAft>
                          <a:spcPts val="200"/>
                        </a:spcAft>
                      </a:pPr>
                      <a:r>
                        <a:rPr sz="1200" b="0" i="0">
                          <a:solidFill>
                            <a:srgbClr val="3A4758"/>
                          </a:solidFill>
                          <a:latin typeface="Calibri"/>
                        </a:rPr>
                        <a:t>IT / SQ</a:t>
                      </a:r>
                    </a:p>
                  </a:txBody>
                  <a:tcPr>
                    <a:solidFill>
                      <a:srgbClr val="FFFFFF"/>
                    </a:solidFill>
                  </a:tcPr>
                </a:tc>
                <a:tc>
                  <a:txBody>
                    <a:bodyPr wrap="square"/>
                    <a:lstStyle/>
                    <a:p>
                      <a:pPr algn="l">
                        <a:spcBef>
                          <a:spcPts val="200"/>
                        </a:spcBef>
                        <a:spcAft>
                          <a:spcPts val="200"/>
                        </a:spcAft>
                      </a:pPr>
                      <a:r>
                        <a:rPr sz="1200" b="0" i="0">
                          <a:solidFill>
                            <a:srgbClr val="3A4758"/>
                          </a:solidFill>
                          <a:latin typeface="Calibri"/>
                        </a:rPr>
                        <a:t>Any appearance of accessing another company’s IMDS data</a:t>
                      </a:r>
                    </a:p>
                  </a:txBody>
                  <a:tcPr>
                    <a:solidFill>
                      <a:srgbClr val="FFFFFF"/>
                    </a:solidFill>
                  </a:tcPr>
                </a:tc>
              </a:tr>
              <a:tr h="633552">
                <a:tc>
                  <a:txBody>
                    <a:bodyPr wrap="square"/>
                    <a:lstStyle/>
                    <a:p>
                      <a:pPr algn="l">
                        <a:spcBef>
                          <a:spcPts val="200"/>
                        </a:spcBef>
                        <a:spcAft>
                          <a:spcPts val="200"/>
                        </a:spcAft>
                      </a:pPr>
                      <a:r>
                        <a:rPr sz="1200" b="1" i="0">
                          <a:solidFill>
                            <a:srgbClr val="0B1F3A"/>
                          </a:solidFill>
                          <a:latin typeface="Calibri"/>
                        </a:rPr>
                        <a:t>Role redesign: specialists own OEM packs and amber/novel</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HR + SQ Director</a:t>
                      </a:r>
                    </a:p>
                  </a:txBody>
                  <a:tcPr>
                    <a:solidFill>
                      <a:srgbClr val="F5F7F9"/>
                    </a:solidFill>
                  </a:tcPr>
                </a:tc>
                <a:tc>
                  <a:txBody>
                    <a:bodyPr wrap="square"/>
                    <a:lstStyle/>
                    <a:p>
                      <a:pPr algn="l">
                        <a:spcBef>
                          <a:spcPts val="200"/>
                        </a:spcBef>
                        <a:spcAft>
                          <a:spcPts val="200"/>
                        </a:spcAft>
                      </a:pPr>
                      <a:r>
                        <a:rPr sz="1200" b="0" i="0">
                          <a:solidFill>
                            <a:srgbClr val="3A4758"/>
                          </a:solidFill>
                          <a:latin typeface="Calibri"/>
                        </a:rPr>
                        <a:t>Framing this as a headcount cut instead of a skill shift</a:t>
                      </a:r>
                    </a:p>
                  </a:txBody>
                  <a:tcPr>
                    <a:solidFill>
                      <a:srgbClr val="F5F7F9"/>
                    </a:solidFill>
                  </a:tcPr>
                </a:tc>
              </a:tr>
            </a:tbl>
          </a:graphicData>
        </a:graphic>
      </p:graphicFrame>
      <p:sp>
        <p:nvSpPr>
          <p:cNvPr id="8" name="TextBox 7"/>
          <p:cNvSpPr txBox="1"/>
          <p:nvPr/>
        </p:nvSpPr>
        <p:spPr>
          <a:xfrm>
            <a:off x="457200" y="5650992"/>
            <a:ext cx="11247120" cy="731520"/>
          </a:xfrm>
          <a:prstGeom prst="rect">
            <a:avLst/>
          </a:prstGeom>
          <a:noFill/>
        </p:spPr>
        <p:txBody>
          <a:bodyPr wrap="square"/>
          <a:lstStyle/>
          <a:p>
            <a:pPr algn="l">
              <a:spcBef>
                <a:spcPts val="0"/>
              </a:spcBef>
              <a:spcAft>
                <a:spcPts val="600"/>
              </a:spcAft>
            </a:pPr>
            <a:r>
              <a:rPr sz="1400" b="1" i="0">
                <a:solidFill>
                  <a:srgbClr val="0B1F3A"/>
                </a:solidFill>
                <a:latin typeface="Calibri"/>
              </a:rPr>
              <a:t>HR: the desk does not disappear. The job becomes OEM-rule ownership, exception judgment, and supplier coaching. That is the only staffing model that survives a 5,000-MDS backlog without a hiring wave.</a:t>
            </a:r>
          </a:p>
        </p:txBody>
      </p:sp>
      <p:sp>
        <p:nvSpPr>
          <p:cNvPr id="9" name="Rectangle 8"/>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12" name="TextBox 11"/>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08  ·  TARGETS AND 90 DAYS</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Program targets we will manage to — and what 90 days actually delivers</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100% first-pass, same-day accept, and zero PPAP delay are the operating contract. The 5,000 stock is a drain plan, not a day-1 miracle.</a:t>
            </a:r>
          </a:p>
        </p:txBody>
      </p:sp>
      <p:sp>
        <p:nvSpPr>
          <p:cNvPr id="8" name="Rounded Rectangle 7"/>
          <p:cNvSpPr/>
          <p:nvPr/>
        </p:nvSpPr>
        <p:spPr>
          <a:xfrm>
            <a:off x="457200" y="1371600"/>
            <a:ext cx="3657600" cy="1554480"/>
          </a:xfrm>
          <a:prstGeom prst="roundRect">
            <a:avLst>
              <a:gd name="adj" fmla="val 6000"/>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481328"/>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100%</a:t>
            </a:r>
          </a:p>
        </p:txBody>
      </p:sp>
      <p:sp>
        <p:nvSpPr>
          <p:cNvPr id="10" name="TextBox 9"/>
          <p:cNvSpPr txBox="1"/>
          <p:nvPr/>
        </p:nvSpPr>
        <p:spPr>
          <a:xfrm>
            <a:off x="603504" y="1865376"/>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First-pass yield to OEM</a:t>
            </a:r>
          </a:p>
        </p:txBody>
      </p:sp>
      <p:sp>
        <p:nvSpPr>
          <p:cNvPr id="11" name="TextBox 10"/>
          <p:cNvSpPr txBox="1"/>
          <p:nvPr/>
        </p:nvSpPr>
        <p:spPr>
          <a:xfrm>
            <a:off x="603504" y="2194560"/>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Outbound MDS to GM / VW / Ford pre-flighted against that OEM pack before Propose</a:t>
            </a:r>
          </a:p>
        </p:txBody>
      </p:sp>
      <p:sp>
        <p:nvSpPr>
          <p:cNvPr id="12" name="Rounded Rectangle 11"/>
          <p:cNvSpPr/>
          <p:nvPr/>
        </p:nvSpPr>
        <p:spPr>
          <a:xfrm>
            <a:off x="4251960" y="1371600"/>
            <a:ext cx="3657600" cy="1554480"/>
          </a:xfrm>
          <a:prstGeom prst="roundRect">
            <a:avLst>
              <a:gd name="adj" fmla="val 6000"/>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8264" y="1481328"/>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Same day</a:t>
            </a:r>
          </a:p>
        </p:txBody>
      </p:sp>
      <p:sp>
        <p:nvSpPr>
          <p:cNvPr id="14" name="TextBox 13"/>
          <p:cNvSpPr txBox="1"/>
          <p:nvPr/>
        </p:nvSpPr>
        <p:spPr>
          <a:xfrm>
            <a:off x="4398264" y="1865376"/>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Request-to-accept on NEW MDS</a:t>
            </a:r>
          </a:p>
        </p:txBody>
      </p:sp>
      <p:sp>
        <p:nvSpPr>
          <p:cNvPr id="15" name="TextBox 14"/>
          <p:cNvSpPr txBox="1"/>
          <p:nvPr/>
        </p:nvSpPr>
        <p:spPr>
          <a:xfrm>
            <a:off x="4398264" y="2194560"/>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Green auto-accept the day it arrives. Red auto-reject the same day with a cited reason.</a:t>
            </a:r>
          </a:p>
        </p:txBody>
      </p:sp>
      <p:sp>
        <p:nvSpPr>
          <p:cNvPr id="16" name="Rounded Rectangle 15"/>
          <p:cNvSpPr/>
          <p:nvPr/>
        </p:nvSpPr>
        <p:spPr>
          <a:xfrm>
            <a:off x="8046720" y="1371600"/>
            <a:ext cx="3657600" cy="1554480"/>
          </a:xfrm>
          <a:prstGeom prst="roundRect">
            <a:avLst>
              <a:gd name="adj" fmla="val 6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481328"/>
            <a:ext cx="3401568" cy="384048"/>
          </a:xfrm>
          <a:prstGeom prst="rect">
            <a:avLst/>
          </a:prstGeom>
          <a:noFill/>
        </p:spPr>
        <p:txBody>
          <a:bodyPr wrap="square"/>
          <a:lstStyle/>
          <a:p>
            <a:pPr algn="l">
              <a:spcBef>
                <a:spcPts val="0"/>
              </a:spcBef>
              <a:spcAft>
                <a:spcPts val="600"/>
              </a:spcAft>
            </a:pPr>
            <a:r>
              <a:rPr sz="2600" b="1" i="0">
                <a:solidFill>
                  <a:srgbClr val="FFFFFF"/>
                </a:solidFill>
                <a:latin typeface="Calibri"/>
              </a:rPr>
              <a:t>Zero</a:t>
            </a:r>
          </a:p>
        </p:txBody>
      </p:sp>
      <p:sp>
        <p:nvSpPr>
          <p:cNvPr id="18" name="TextBox 17"/>
          <p:cNvSpPr txBox="1"/>
          <p:nvPr/>
        </p:nvSpPr>
        <p:spPr>
          <a:xfrm>
            <a:off x="8193024" y="1865376"/>
            <a:ext cx="3401568" cy="329184"/>
          </a:xfrm>
          <a:prstGeom prst="rect">
            <a:avLst/>
          </a:prstGeom>
          <a:noFill/>
        </p:spPr>
        <p:txBody>
          <a:bodyPr wrap="square"/>
          <a:lstStyle/>
          <a:p>
            <a:pPr algn="l">
              <a:spcBef>
                <a:spcPts val="0"/>
              </a:spcBef>
              <a:spcAft>
                <a:spcPts val="600"/>
              </a:spcAft>
            </a:pPr>
            <a:r>
              <a:rPr sz="1200" b="0" i="0">
                <a:solidFill>
                  <a:srgbClr val="C4A35A"/>
                </a:solidFill>
                <a:latin typeface="Calibri"/>
              </a:rPr>
              <a:t>PPAP delays from IMDS</a:t>
            </a:r>
          </a:p>
        </p:txBody>
      </p:sp>
      <p:sp>
        <p:nvSpPr>
          <p:cNvPr id="19" name="TextBox 18"/>
          <p:cNvSpPr txBox="1"/>
          <p:nvPr/>
        </p:nvSpPr>
        <p:spPr>
          <a:xfrm>
            <a:off x="8193024" y="2194560"/>
            <a:ext cx="3401568" cy="384048"/>
          </a:xfrm>
          <a:prstGeom prst="rect">
            <a:avLst/>
          </a:prstGeom>
          <a:noFill/>
        </p:spPr>
        <p:txBody>
          <a:bodyPr wrap="square"/>
          <a:lstStyle/>
          <a:p>
            <a:pPr algn="l">
              <a:spcBef>
                <a:spcPts val="0"/>
              </a:spcBef>
              <a:spcAft>
                <a:spcPts val="600"/>
              </a:spcAft>
            </a:pPr>
            <a:r>
              <a:rPr sz="1100" b="0" i="0">
                <a:solidFill>
                  <a:srgbClr val="C5D0DC"/>
                </a:solidFill>
                <a:latin typeface="Calibri"/>
              </a:rPr>
              <a:t>No launch waits on an unaccepted or bouncing MDS for parts in this scope.</a:t>
            </a:r>
          </a:p>
        </p:txBody>
      </p:sp>
      <p:sp>
        <p:nvSpPr>
          <p:cNvPr id="20" name="Rounded Rectangle 19"/>
          <p:cNvSpPr/>
          <p:nvPr/>
        </p:nvSpPr>
        <p:spPr>
          <a:xfrm>
            <a:off x="457200" y="3127248"/>
            <a:ext cx="3657600" cy="310896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246120"/>
            <a:ext cx="3328416" cy="256032"/>
          </a:xfrm>
          <a:prstGeom prst="rect">
            <a:avLst/>
          </a:prstGeom>
          <a:noFill/>
        </p:spPr>
        <p:txBody>
          <a:bodyPr wrap="square"/>
          <a:lstStyle/>
          <a:p>
            <a:pPr algn="l">
              <a:spcBef>
                <a:spcPts val="0"/>
              </a:spcBef>
              <a:spcAft>
                <a:spcPts val="600"/>
              </a:spcAft>
            </a:pPr>
            <a:r>
              <a:rPr sz="1100" b="1" i="0">
                <a:solidFill>
                  <a:srgbClr val="C4A35A"/>
                </a:solidFill>
                <a:latin typeface="Calibri"/>
              </a:rPr>
              <a:t>DAYS 1–30</a:t>
            </a:r>
          </a:p>
        </p:txBody>
      </p:sp>
      <p:sp>
        <p:nvSpPr>
          <p:cNvPr id="22" name="TextBox 21"/>
          <p:cNvSpPr txBox="1"/>
          <p:nvPr/>
        </p:nvSpPr>
        <p:spPr>
          <a:xfrm>
            <a:off x="621792" y="3493008"/>
            <a:ext cx="3328416" cy="292608"/>
          </a:xfrm>
          <a:prstGeom prst="rect">
            <a:avLst/>
          </a:prstGeom>
          <a:noFill/>
        </p:spPr>
        <p:txBody>
          <a:bodyPr wrap="square"/>
          <a:lstStyle/>
          <a:p>
            <a:pPr algn="l">
              <a:spcBef>
                <a:spcPts val="0"/>
              </a:spcBef>
              <a:spcAft>
                <a:spcPts val="600"/>
              </a:spcAft>
            </a:pPr>
            <a:r>
              <a:rPr sz="1600" b="1" i="0">
                <a:solidFill>
                  <a:srgbClr val="0B1F3A"/>
                </a:solidFill>
                <a:latin typeface="Calibri"/>
              </a:rPr>
              <a:t>Instrument</a:t>
            </a:r>
          </a:p>
        </p:txBody>
      </p:sp>
      <p:sp>
        <p:nvSpPr>
          <p:cNvPr id="23" name="TextBox 22"/>
          <p:cNvSpPr txBox="1"/>
          <p:nvPr/>
        </p:nvSpPr>
        <p:spPr>
          <a:xfrm>
            <a:off x="621792" y="3886200"/>
            <a:ext cx="3328416" cy="2148840"/>
          </a:xfrm>
          <a:prstGeom prst="rect">
            <a:avLst/>
          </a:prstGeom>
          <a:noFill/>
        </p:spPr>
        <p:txBody>
          <a:bodyPr wrap="square"/>
          <a:lstStyle/>
          <a:p>
            <a:pPr algn="l">
              <a:spcBef>
                <a:spcPts val="0"/>
              </a:spcBef>
              <a:spcAft>
                <a:spcPts val="600"/>
              </a:spcAft>
            </a:pPr>
            <a:r>
              <a:rPr sz="1300" b="0" i="0">
                <a:solidFill>
                  <a:srgbClr val="3A4758"/>
                </a:solidFill>
                <a:latin typeface="Calibri"/>
              </a:rPr>
              <a:t>Log every manual accept/reject with reason. Freeze v0 GM/VW/Ford checklists. Gold-label 200 historical MDS. No auto-decision yet.</a:t>
            </a:r>
          </a:p>
        </p:txBody>
      </p:sp>
      <p:sp>
        <p:nvSpPr>
          <p:cNvPr id="24" name="Rounded Rectangle 23"/>
          <p:cNvSpPr/>
          <p:nvPr/>
        </p:nvSpPr>
        <p:spPr>
          <a:xfrm>
            <a:off x="4251960" y="3127248"/>
            <a:ext cx="3657600" cy="310896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3246120"/>
            <a:ext cx="3328416" cy="256032"/>
          </a:xfrm>
          <a:prstGeom prst="rect">
            <a:avLst/>
          </a:prstGeom>
          <a:noFill/>
        </p:spPr>
        <p:txBody>
          <a:bodyPr wrap="square"/>
          <a:lstStyle/>
          <a:p>
            <a:pPr algn="l">
              <a:spcBef>
                <a:spcPts val="0"/>
              </a:spcBef>
              <a:spcAft>
                <a:spcPts val="600"/>
              </a:spcAft>
            </a:pPr>
            <a:r>
              <a:rPr sz="1100" b="1" i="0">
                <a:solidFill>
                  <a:srgbClr val="C4A35A"/>
                </a:solidFill>
                <a:latin typeface="Calibri"/>
              </a:rPr>
              <a:t>DAYS 31–60</a:t>
            </a:r>
          </a:p>
        </p:txBody>
      </p:sp>
      <p:sp>
        <p:nvSpPr>
          <p:cNvPr id="26" name="TextBox 25"/>
          <p:cNvSpPr txBox="1"/>
          <p:nvPr/>
        </p:nvSpPr>
        <p:spPr>
          <a:xfrm>
            <a:off x="4416552" y="3493008"/>
            <a:ext cx="3328416" cy="292608"/>
          </a:xfrm>
          <a:prstGeom prst="rect">
            <a:avLst/>
          </a:prstGeom>
          <a:noFill/>
        </p:spPr>
        <p:txBody>
          <a:bodyPr wrap="square"/>
          <a:lstStyle/>
          <a:p>
            <a:pPr algn="l">
              <a:spcBef>
                <a:spcPts val="0"/>
              </a:spcBef>
              <a:spcAft>
                <a:spcPts val="600"/>
              </a:spcAft>
            </a:pPr>
            <a:r>
              <a:rPr sz="1600" b="1" i="0">
                <a:solidFill>
                  <a:srgbClr val="0B1F3A"/>
                </a:solidFill>
                <a:latin typeface="Calibri"/>
              </a:rPr>
              <a:t>Auto-reject live</a:t>
            </a:r>
          </a:p>
        </p:txBody>
      </p:sp>
      <p:sp>
        <p:nvSpPr>
          <p:cNvPr id="27" name="TextBox 26"/>
          <p:cNvSpPr txBox="1"/>
          <p:nvPr/>
        </p:nvSpPr>
        <p:spPr>
          <a:xfrm>
            <a:off x="4416552" y="3886200"/>
            <a:ext cx="3328416" cy="2148840"/>
          </a:xfrm>
          <a:prstGeom prst="rect">
            <a:avLst/>
          </a:prstGeom>
          <a:noFill/>
        </p:spPr>
        <p:txBody>
          <a:bodyPr wrap="square"/>
          <a:lstStyle/>
          <a:p>
            <a:pPr algn="l">
              <a:spcBef>
                <a:spcPts val="0"/>
              </a:spcBef>
              <a:spcAft>
                <a:spcPts val="600"/>
              </a:spcAft>
            </a:pPr>
            <a:r>
              <a:rPr sz="1300" b="0" i="0">
                <a:solidFill>
                  <a:srgbClr val="3A4758"/>
                </a:solidFill>
                <a:latin typeface="Calibri"/>
              </a:rPr>
              <a:t>Red patterns fire with structured text. Greens scored in shadow beside the specialist. Precision review twice weekly.</a:t>
            </a:r>
          </a:p>
        </p:txBody>
      </p:sp>
      <p:sp>
        <p:nvSpPr>
          <p:cNvPr id="28" name="Rounded Rectangle 27"/>
          <p:cNvSpPr/>
          <p:nvPr/>
        </p:nvSpPr>
        <p:spPr>
          <a:xfrm>
            <a:off x="8046720" y="3127248"/>
            <a:ext cx="3657600" cy="310896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246120"/>
            <a:ext cx="3328416" cy="256032"/>
          </a:xfrm>
          <a:prstGeom prst="rect">
            <a:avLst/>
          </a:prstGeom>
          <a:noFill/>
        </p:spPr>
        <p:txBody>
          <a:bodyPr wrap="square"/>
          <a:lstStyle/>
          <a:p>
            <a:pPr algn="l">
              <a:spcBef>
                <a:spcPts val="0"/>
              </a:spcBef>
              <a:spcAft>
                <a:spcPts val="600"/>
              </a:spcAft>
            </a:pPr>
            <a:r>
              <a:rPr sz="1100" b="1" i="0">
                <a:solidFill>
                  <a:srgbClr val="C4A35A"/>
                </a:solidFill>
                <a:latin typeface="Calibri"/>
              </a:rPr>
              <a:t>DAYS 61–90</a:t>
            </a:r>
          </a:p>
        </p:txBody>
      </p:sp>
      <p:sp>
        <p:nvSpPr>
          <p:cNvPr id="30" name="TextBox 29"/>
          <p:cNvSpPr txBox="1"/>
          <p:nvPr/>
        </p:nvSpPr>
        <p:spPr>
          <a:xfrm>
            <a:off x="8211312" y="3493008"/>
            <a:ext cx="3328416" cy="292608"/>
          </a:xfrm>
          <a:prstGeom prst="rect">
            <a:avLst/>
          </a:prstGeom>
          <a:noFill/>
        </p:spPr>
        <p:txBody>
          <a:bodyPr wrap="square"/>
          <a:lstStyle/>
          <a:p>
            <a:pPr algn="l">
              <a:spcBef>
                <a:spcPts val="0"/>
              </a:spcBef>
              <a:spcAft>
                <a:spcPts val="600"/>
              </a:spcAft>
            </a:pPr>
            <a:r>
              <a:rPr sz="1600" b="1" i="0">
                <a:solidFill>
                  <a:srgbClr val="0B1F3A"/>
                </a:solidFill>
                <a:latin typeface="Calibri"/>
              </a:rPr>
              <a:t>Auto-accept live</a:t>
            </a:r>
          </a:p>
        </p:txBody>
      </p:sp>
      <p:sp>
        <p:nvSpPr>
          <p:cNvPr id="31" name="TextBox 30"/>
          <p:cNvSpPr txBox="1"/>
          <p:nvPr/>
        </p:nvSpPr>
        <p:spPr>
          <a:xfrm>
            <a:off x="8211312" y="3886200"/>
            <a:ext cx="3328416" cy="2148840"/>
          </a:xfrm>
          <a:prstGeom prst="rect">
            <a:avLst/>
          </a:prstGeom>
          <a:noFill/>
        </p:spPr>
        <p:txBody>
          <a:bodyPr wrap="square"/>
          <a:lstStyle/>
          <a:p>
            <a:pPr algn="l">
              <a:spcBef>
                <a:spcPts val="0"/>
              </a:spcBef>
              <a:spcAft>
                <a:spcPts val="600"/>
              </a:spcAft>
            </a:pPr>
            <a:r>
              <a:rPr sz="1300" b="0" i="0">
                <a:solidFill>
                  <a:srgbClr val="3A4758"/>
                </a:solidFill>
                <a:latin typeface="Calibri"/>
              </a:rPr>
              <a:t>Greens auto-accept with audit sample. Outbound pre-flight before Propose. Start draining the 5,000 at a measured daily burn-down.</a:t>
            </a:r>
          </a:p>
        </p:txBody>
      </p:sp>
      <p:sp>
        <p:nvSpPr>
          <p:cNvPr id="32" name="Rectangle 31"/>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35" name="TextBox 34"/>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DECISION REQUESTED</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Endorse the build. Name the owner. Give air cover.</a:t>
            </a:r>
          </a:p>
        </p:txBody>
      </p:sp>
      <p:sp>
        <p:nvSpPr>
          <p:cNvPr id="7" name="Rounded Rectangle 6"/>
          <p:cNvSpPr/>
          <p:nvPr/>
        </p:nvSpPr>
        <p:spPr>
          <a:xfrm>
            <a:off x="457200" y="1051560"/>
            <a:ext cx="11247120" cy="10241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1344168"/>
            <a:ext cx="384048" cy="384048"/>
          </a:xfrm>
          <a:prstGeom prst="ellipse">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380744"/>
            <a:ext cx="384048" cy="310896"/>
          </a:xfrm>
          <a:prstGeom prst="rect">
            <a:avLst/>
          </a:prstGeom>
          <a:noFill/>
        </p:spPr>
        <p:txBody>
          <a:bodyPr wrap="square"/>
          <a:lstStyle/>
          <a:p>
            <a:pPr algn="ctr">
              <a:spcBef>
                <a:spcPts val="0"/>
              </a:spcBef>
              <a:spcAft>
                <a:spcPts val="600"/>
              </a:spcAft>
            </a:pPr>
            <a:r>
              <a:rPr sz="1400" b="1" i="0">
                <a:solidFill>
                  <a:srgbClr val="0B1F3A"/>
                </a:solidFill>
                <a:latin typeface="Calibri"/>
              </a:rPr>
              <a:t>1</a:t>
            </a:r>
          </a:p>
        </p:txBody>
      </p:sp>
      <p:sp>
        <p:nvSpPr>
          <p:cNvPr id="10" name="TextBox 9"/>
          <p:cNvSpPr txBox="1"/>
          <p:nvPr/>
        </p:nvSpPr>
        <p:spPr>
          <a:xfrm>
            <a:off x="1188720" y="1179576"/>
            <a:ext cx="2011680" cy="731520"/>
          </a:xfrm>
          <a:prstGeom prst="rect">
            <a:avLst/>
          </a:prstGeom>
          <a:noFill/>
        </p:spPr>
        <p:txBody>
          <a:bodyPr wrap="square"/>
          <a:lstStyle/>
          <a:p>
            <a:pPr algn="l">
              <a:spcBef>
                <a:spcPts val="0"/>
              </a:spcBef>
              <a:spcAft>
                <a:spcPts val="600"/>
              </a:spcAft>
            </a:pPr>
            <a:r>
              <a:rPr sz="1600" b="1" i="0">
                <a:solidFill>
                  <a:srgbClr val="0B1F3A"/>
                </a:solidFill>
                <a:latin typeface="Calibri"/>
              </a:rPr>
              <a:t>Endorse</a:t>
            </a:r>
          </a:p>
        </p:txBody>
      </p:sp>
      <p:sp>
        <p:nvSpPr>
          <p:cNvPr id="11" name="TextBox 10"/>
          <p:cNvSpPr txBox="1"/>
          <p:nvPr/>
        </p:nvSpPr>
        <p:spPr>
          <a:xfrm>
            <a:off x="3246120" y="1216152"/>
            <a:ext cx="8229600" cy="731520"/>
          </a:xfrm>
          <a:prstGeom prst="rect">
            <a:avLst/>
          </a:prstGeom>
          <a:noFill/>
        </p:spPr>
        <p:txBody>
          <a:bodyPr wrap="square"/>
          <a:lstStyle/>
          <a:p>
            <a:pPr algn="l">
              <a:spcBef>
                <a:spcPts val="0"/>
              </a:spcBef>
              <a:spcAft>
                <a:spcPts val="600"/>
              </a:spcAft>
            </a:pPr>
            <a:r>
              <a:rPr sz="1300" b="0" i="0">
                <a:solidFill>
                  <a:srgbClr val="3A4758"/>
                </a:solidFill>
                <a:latin typeface="Calibri"/>
              </a:rPr>
              <a:t>Adopt an internally led agentic IMDS workflow as the house approach for GM, VW, and Ford MDS — not a vendor RFP, not “hire more inbox.”</a:t>
            </a:r>
          </a:p>
        </p:txBody>
      </p:sp>
      <p:sp>
        <p:nvSpPr>
          <p:cNvPr id="12" name="Rounded Rectangle 11"/>
          <p:cNvSpPr/>
          <p:nvPr/>
        </p:nvSpPr>
        <p:spPr>
          <a:xfrm>
            <a:off x="457200" y="2148840"/>
            <a:ext cx="11247120" cy="10241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2441448"/>
            <a:ext cx="384048" cy="384048"/>
          </a:xfrm>
          <a:prstGeom prst="ellipse">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478024"/>
            <a:ext cx="384048" cy="310896"/>
          </a:xfrm>
          <a:prstGeom prst="rect">
            <a:avLst/>
          </a:prstGeom>
          <a:noFill/>
        </p:spPr>
        <p:txBody>
          <a:bodyPr wrap="square"/>
          <a:lstStyle/>
          <a:p>
            <a:pPr algn="ctr">
              <a:spcBef>
                <a:spcPts val="0"/>
              </a:spcBef>
              <a:spcAft>
                <a:spcPts val="600"/>
              </a:spcAft>
            </a:pPr>
            <a:r>
              <a:rPr sz="1400" b="1" i="0">
                <a:solidFill>
                  <a:srgbClr val="0B1F3A"/>
                </a:solidFill>
                <a:latin typeface="Calibri"/>
              </a:rPr>
              <a:t>2</a:t>
            </a:r>
          </a:p>
        </p:txBody>
      </p:sp>
      <p:sp>
        <p:nvSpPr>
          <p:cNvPr id="15" name="TextBox 14"/>
          <p:cNvSpPr txBox="1"/>
          <p:nvPr/>
        </p:nvSpPr>
        <p:spPr>
          <a:xfrm>
            <a:off x="1188720" y="2276856"/>
            <a:ext cx="2011680" cy="731520"/>
          </a:xfrm>
          <a:prstGeom prst="rect">
            <a:avLst/>
          </a:prstGeom>
          <a:noFill/>
        </p:spPr>
        <p:txBody>
          <a:bodyPr wrap="square"/>
          <a:lstStyle/>
          <a:p>
            <a:pPr algn="l">
              <a:spcBef>
                <a:spcPts val="0"/>
              </a:spcBef>
              <a:spcAft>
                <a:spcPts val="600"/>
              </a:spcAft>
            </a:pPr>
            <a:r>
              <a:rPr sz="1600" b="1" i="0">
                <a:solidFill>
                  <a:srgbClr val="0B1F3A"/>
                </a:solidFill>
                <a:latin typeface="Calibri"/>
              </a:rPr>
              <a:t>Accountable owner</a:t>
            </a:r>
          </a:p>
        </p:txBody>
      </p:sp>
      <p:sp>
        <p:nvSpPr>
          <p:cNvPr id="16" name="TextBox 15"/>
          <p:cNvSpPr txBox="1"/>
          <p:nvPr/>
        </p:nvSpPr>
        <p:spPr>
          <a:xfrm>
            <a:off x="3246120" y="2313432"/>
            <a:ext cx="8229600" cy="731520"/>
          </a:xfrm>
          <a:prstGeom prst="rect">
            <a:avLst/>
          </a:prstGeom>
          <a:noFill/>
        </p:spPr>
        <p:txBody>
          <a:bodyPr wrap="square"/>
          <a:lstStyle/>
          <a:p>
            <a:pPr algn="l">
              <a:spcBef>
                <a:spcPts val="0"/>
              </a:spcBef>
              <a:spcAft>
                <a:spcPts val="600"/>
              </a:spcAft>
            </a:pPr>
            <a:r>
              <a:rPr sz="1300" b="0" i="0">
                <a:solidFill>
                  <a:srgbClr val="3A4758"/>
                </a:solidFill>
                <a:latin typeface="Calibri"/>
              </a:rPr>
              <a:t>Supplier Quality Director owns the rule packs, the kill switch, the 90-day milestones, and the weekly burn-down of the 5,000.</a:t>
            </a:r>
          </a:p>
        </p:txBody>
      </p:sp>
      <p:sp>
        <p:nvSpPr>
          <p:cNvPr id="17" name="Rounded Rectangle 16"/>
          <p:cNvSpPr/>
          <p:nvPr/>
        </p:nvSpPr>
        <p:spPr>
          <a:xfrm>
            <a:off x="457200" y="3246120"/>
            <a:ext cx="11247120" cy="10241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538728"/>
            <a:ext cx="384048" cy="384048"/>
          </a:xfrm>
          <a:prstGeom prst="ellipse">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575304"/>
            <a:ext cx="384048" cy="310896"/>
          </a:xfrm>
          <a:prstGeom prst="rect">
            <a:avLst/>
          </a:prstGeom>
          <a:noFill/>
        </p:spPr>
        <p:txBody>
          <a:bodyPr wrap="square"/>
          <a:lstStyle/>
          <a:p>
            <a:pPr algn="ctr">
              <a:spcBef>
                <a:spcPts val="0"/>
              </a:spcBef>
              <a:spcAft>
                <a:spcPts val="600"/>
              </a:spcAft>
            </a:pPr>
            <a:r>
              <a:rPr sz="1400" b="1" i="0">
                <a:solidFill>
                  <a:srgbClr val="0B1F3A"/>
                </a:solidFill>
                <a:latin typeface="Calibri"/>
              </a:rPr>
              <a:t>3</a:t>
            </a:r>
          </a:p>
        </p:txBody>
      </p:sp>
      <p:sp>
        <p:nvSpPr>
          <p:cNvPr id="20" name="TextBox 19"/>
          <p:cNvSpPr txBox="1"/>
          <p:nvPr/>
        </p:nvSpPr>
        <p:spPr>
          <a:xfrm>
            <a:off x="1188720" y="3374136"/>
            <a:ext cx="2011680" cy="731520"/>
          </a:xfrm>
          <a:prstGeom prst="rect">
            <a:avLst/>
          </a:prstGeom>
          <a:noFill/>
        </p:spPr>
        <p:txBody>
          <a:bodyPr wrap="square"/>
          <a:lstStyle/>
          <a:p>
            <a:pPr algn="l">
              <a:spcBef>
                <a:spcPts val="0"/>
              </a:spcBef>
              <a:spcAft>
                <a:spcPts val="600"/>
              </a:spcAft>
            </a:pPr>
            <a:r>
              <a:rPr sz="1600" b="1" i="0">
                <a:solidFill>
                  <a:srgbClr val="0B1F3A"/>
                </a:solidFill>
                <a:latin typeface="Calibri"/>
              </a:rPr>
              <a:t>Air cover</a:t>
            </a:r>
          </a:p>
        </p:txBody>
      </p:sp>
      <p:sp>
        <p:nvSpPr>
          <p:cNvPr id="21" name="TextBox 20"/>
          <p:cNvSpPr txBox="1"/>
          <p:nvPr/>
        </p:nvSpPr>
        <p:spPr>
          <a:xfrm>
            <a:off x="3246120" y="3410712"/>
            <a:ext cx="8229600" cy="731520"/>
          </a:xfrm>
          <a:prstGeom prst="rect">
            <a:avLst/>
          </a:prstGeom>
          <a:noFill/>
        </p:spPr>
        <p:txBody>
          <a:bodyPr wrap="square"/>
          <a:lstStyle/>
          <a:p>
            <a:pPr algn="l">
              <a:spcBef>
                <a:spcPts val="0"/>
              </a:spcBef>
              <a:spcAft>
                <a:spcPts val="600"/>
              </a:spcAft>
            </a:pPr>
            <a:r>
              <a:rPr sz="1300" b="0" i="0">
                <a:solidFill>
                  <a:srgbClr val="3A4758"/>
                </a:solidFill>
                <a:latin typeface="Calibri"/>
              </a:rPr>
              <a:t>Permit automation of our own IMDS company account (our users, our data only) so auto-accept / auto-reject can run without a DXC license in v1.</a:t>
            </a:r>
          </a:p>
        </p:txBody>
      </p:sp>
      <p:sp>
        <p:nvSpPr>
          <p:cNvPr id="22" name="Rounded Rectangle 21"/>
          <p:cNvSpPr/>
          <p:nvPr/>
        </p:nvSpPr>
        <p:spPr>
          <a:xfrm>
            <a:off x="457200" y="4343400"/>
            <a:ext cx="11247120" cy="1024128"/>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1792" y="4636008"/>
            <a:ext cx="384048" cy="384048"/>
          </a:xfrm>
          <a:prstGeom prst="ellipse">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4672584"/>
            <a:ext cx="384048" cy="310896"/>
          </a:xfrm>
          <a:prstGeom prst="rect">
            <a:avLst/>
          </a:prstGeom>
          <a:noFill/>
        </p:spPr>
        <p:txBody>
          <a:bodyPr wrap="square"/>
          <a:lstStyle/>
          <a:p>
            <a:pPr algn="ctr">
              <a:spcBef>
                <a:spcPts val="0"/>
              </a:spcBef>
              <a:spcAft>
                <a:spcPts val="600"/>
              </a:spcAft>
            </a:pPr>
            <a:r>
              <a:rPr sz="1400" b="1" i="0">
                <a:solidFill>
                  <a:srgbClr val="0B1F3A"/>
                </a:solidFill>
                <a:latin typeface="Calibri"/>
              </a:rPr>
              <a:t>4</a:t>
            </a:r>
          </a:p>
        </p:txBody>
      </p:sp>
      <p:sp>
        <p:nvSpPr>
          <p:cNvPr id="25" name="TextBox 24"/>
          <p:cNvSpPr txBox="1"/>
          <p:nvPr/>
        </p:nvSpPr>
        <p:spPr>
          <a:xfrm>
            <a:off x="1188720" y="4471416"/>
            <a:ext cx="2011680" cy="731520"/>
          </a:xfrm>
          <a:prstGeom prst="rect">
            <a:avLst/>
          </a:prstGeom>
          <a:noFill/>
        </p:spPr>
        <p:txBody>
          <a:bodyPr wrap="square"/>
          <a:lstStyle/>
          <a:p>
            <a:pPr algn="l">
              <a:spcBef>
                <a:spcPts val="0"/>
              </a:spcBef>
              <a:spcAft>
                <a:spcPts val="600"/>
              </a:spcAft>
            </a:pPr>
            <a:r>
              <a:rPr sz="1600" b="1" i="0">
                <a:solidFill>
                  <a:srgbClr val="0B1F3A"/>
                </a:solidFill>
                <a:latin typeface="Calibri"/>
              </a:rPr>
              <a:t>Function support</a:t>
            </a:r>
          </a:p>
        </p:txBody>
      </p:sp>
      <p:sp>
        <p:nvSpPr>
          <p:cNvPr id="26" name="TextBox 25"/>
          <p:cNvSpPr txBox="1"/>
          <p:nvPr/>
        </p:nvSpPr>
        <p:spPr>
          <a:xfrm>
            <a:off x="3246120" y="4507992"/>
            <a:ext cx="8229600" cy="731520"/>
          </a:xfrm>
          <a:prstGeom prst="rect">
            <a:avLst/>
          </a:prstGeom>
          <a:noFill/>
        </p:spPr>
        <p:txBody>
          <a:bodyPr wrap="square"/>
          <a:lstStyle/>
          <a:p>
            <a:pPr algn="l">
              <a:spcBef>
                <a:spcPts val="0"/>
              </a:spcBef>
              <a:spcAft>
                <a:spcPts val="600"/>
              </a:spcAft>
            </a:pPr>
            <a:r>
              <a:rPr sz="1300" b="0" i="0">
                <a:solidFill>
                  <a:srgbClr val="3A4758"/>
                </a:solidFill>
                <a:latin typeface="Calibri"/>
              </a:rPr>
              <a:t>Quality: sample audit. Operations: PPAP clock as the success metric. Supply chain: supplier chase on dummy children. HR: rewrite the specialist role to OEM-rule owner.</a:t>
            </a:r>
          </a:p>
        </p:txBody>
      </p:sp>
      <p:sp>
        <p:nvSpPr>
          <p:cNvPr id="27" name="Rounded Rectangle 26"/>
          <p:cNvSpPr/>
          <p:nvPr/>
        </p:nvSpPr>
        <p:spPr>
          <a:xfrm>
            <a:off x="457200" y="5486400"/>
            <a:ext cx="11247120" cy="960120"/>
          </a:xfrm>
          <a:prstGeom prst="roundRect">
            <a:avLst>
              <a:gd name="adj" fmla="val 6000"/>
            </a:avLst>
          </a:prstGeom>
          <a:solidFill>
            <a:srgbClr val="F8F1E0"/>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614416"/>
            <a:ext cx="10881360" cy="731520"/>
          </a:xfrm>
          <a:prstGeom prst="rect">
            <a:avLst/>
          </a:prstGeom>
          <a:noFill/>
        </p:spPr>
        <p:txBody>
          <a:bodyPr wrap="square"/>
          <a:lstStyle/>
          <a:p>
            <a:pPr algn="l">
              <a:spcBef>
                <a:spcPts val="0"/>
              </a:spcBef>
              <a:spcAft>
                <a:spcPts val="600"/>
              </a:spcAft>
            </a:pPr>
            <a:r>
              <a:rPr sz="1500" b="1" i="0">
                <a:solidFill>
                  <a:srgbClr val="0B1F3A"/>
                </a:solidFill>
                <a:latin typeface="Calibri"/>
              </a:rPr>
              <a:t>This is already scoped, already owned, and already costed at zero software spend. What Supplier Quality is asking for is leadership recognition of that standard — and the authority to run it.</a:t>
            </a:r>
          </a:p>
        </p:txBody>
      </p:sp>
      <p:sp>
        <p:nvSpPr>
          <p:cNvPr id="29" name="Rectangle 28"/>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32" name="TextBox 31"/>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6070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60704"/>
            <a:ext cx="12191695" cy="14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01168"/>
          </a:xfrm>
          <a:prstGeom prst="rect">
            <a:avLst/>
          </a:prstGeom>
          <a:noFill/>
        </p:spPr>
        <p:txBody>
          <a:bodyPr wrap="square"/>
          <a:lstStyle/>
          <a:p>
            <a:pPr algn="l">
              <a:spcBef>
                <a:spcPts val="0"/>
              </a:spcBef>
              <a:spcAft>
                <a:spcPts val="600"/>
              </a:spcAft>
            </a:pPr>
            <a:r>
              <a:rPr sz="1000" b="1" i="0">
                <a:solidFill>
                  <a:srgbClr val="C4A35A"/>
                </a:solidFill>
                <a:latin typeface="Calibri"/>
              </a:rPr>
              <a:t>APPENDIX</a:t>
            </a:r>
          </a:p>
        </p:txBody>
      </p:sp>
      <p:sp>
        <p:nvSpPr>
          <p:cNvPr id="6" name="TextBox 5"/>
          <p:cNvSpPr txBox="1"/>
          <p:nvPr/>
        </p:nvSpPr>
        <p:spPr>
          <a:xfrm>
            <a:off x="457200" y="292608"/>
            <a:ext cx="11247120" cy="365760"/>
          </a:xfrm>
          <a:prstGeom prst="rect">
            <a:avLst/>
          </a:prstGeom>
          <a:noFill/>
        </p:spPr>
        <p:txBody>
          <a:bodyPr wrap="square"/>
          <a:lstStyle/>
          <a:p>
            <a:pPr algn="l">
              <a:spcBef>
                <a:spcPts val="0"/>
              </a:spcBef>
              <a:spcAft>
                <a:spcPts val="600"/>
              </a:spcAft>
            </a:pPr>
            <a:r>
              <a:rPr sz="2200" b="1" i="0">
                <a:solidFill>
                  <a:srgbClr val="FFFFFF"/>
                </a:solidFill>
                <a:latin typeface="Calibri"/>
              </a:rPr>
              <a:t>Glossary and v0 OEM checklists</a:t>
            </a:r>
          </a:p>
        </p:txBody>
      </p:sp>
      <p:sp>
        <p:nvSpPr>
          <p:cNvPr id="7" name="TextBox 6"/>
          <p:cNvSpPr txBox="1"/>
          <p:nvPr/>
        </p:nvSpPr>
        <p:spPr>
          <a:xfrm>
            <a:off x="457200" y="676656"/>
            <a:ext cx="11247120" cy="329184"/>
          </a:xfrm>
          <a:prstGeom prst="rect">
            <a:avLst/>
          </a:prstGeom>
          <a:noFill/>
        </p:spPr>
        <p:txBody>
          <a:bodyPr wrap="square"/>
          <a:lstStyle/>
          <a:p>
            <a:pPr algn="l">
              <a:spcBef>
                <a:spcPts val="0"/>
              </a:spcBef>
              <a:spcAft>
                <a:spcPts val="600"/>
              </a:spcAft>
            </a:pPr>
            <a:r>
              <a:rPr sz="1200" b="0" i="0">
                <a:solidFill>
                  <a:srgbClr val="C5D0DC"/>
                </a:solidFill>
                <a:latin typeface="Calibri"/>
              </a:rPr>
              <a:t>Reference for Q&amp;A. Validate against current GM / VW / Ford IMDS portals before production use.</a:t>
            </a:r>
          </a:p>
        </p:txBody>
      </p:sp>
      <p:graphicFrame>
        <p:nvGraphicFramePr>
          <p:cNvPr id="8" name="Table 7"/>
          <p:cNvGraphicFramePr>
            <a:graphicFrameLocks noGrp="1"/>
          </p:cNvGraphicFramePr>
          <p:nvPr/>
        </p:nvGraphicFramePr>
        <p:xfrm>
          <a:off x="411480" y="1024128"/>
          <a:ext cx="11338560" cy="2331720"/>
        </p:xfrm>
        <a:graphic>
          <a:graphicData uri="http://schemas.openxmlformats.org/drawingml/2006/table">
            <a:tbl>
              <a:tblPr firstRow="1" bandRow="1">
                <a:tableStyleId>{5C22544A-7EE6-4342-B048-85BDC9FD1C3A}</a:tableStyleId>
              </a:tblPr>
              <a:tblGrid>
                <a:gridCol w="1417320"/>
                <a:gridCol w="4251960"/>
                <a:gridCol w="1417320"/>
                <a:gridCol w="4251960"/>
              </a:tblGrid>
              <a:tr h="291465">
                <a:tc>
                  <a:txBody>
                    <a:bodyPr wrap="square"/>
                    <a:lstStyle/>
                    <a:p>
                      <a:pPr algn="ctr">
                        <a:spcBef>
                          <a:spcPts val="200"/>
                        </a:spcBef>
                        <a:spcAft>
                          <a:spcPts val="200"/>
                        </a:spcAft>
                      </a:pPr>
                      <a:r>
                        <a:rPr sz="1000" b="1" i="0">
                          <a:solidFill>
                            <a:srgbClr val="FFFFFF"/>
                          </a:solidFill>
                          <a:latin typeface="Calibri"/>
                        </a:rPr>
                        <a:t>Term</a:t>
                      </a:r>
                    </a:p>
                  </a:txBody>
                  <a:tcPr>
                    <a:solidFill>
                      <a:srgbClr val="0B1F3A"/>
                    </a:solidFill>
                  </a:tcPr>
                </a:tc>
                <a:tc>
                  <a:txBody>
                    <a:bodyPr wrap="square"/>
                    <a:lstStyle/>
                    <a:p>
                      <a:pPr algn="ctr">
                        <a:spcBef>
                          <a:spcPts val="200"/>
                        </a:spcBef>
                        <a:spcAft>
                          <a:spcPts val="200"/>
                        </a:spcAft>
                      </a:pPr>
                      <a:r>
                        <a:rPr sz="1000" b="1" i="0">
                          <a:solidFill>
                            <a:srgbClr val="FFFFFF"/>
                          </a:solidFill>
                          <a:latin typeface="Calibri"/>
                        </a:rPr>
                        <a:t>Meaning</a:t>
                      </a:r>
                    </a:p>
                  </a:txBody>
                  <a:tcPr>
                    <a:solidFill>
                      <a:srgbClr val="0B1F3A"/>
                    </a:solidFill>
                  </a:tcPr>
                </a:tc>
                <a:tc>
                  <a:txBody>
                    <a:bodyPr wrap="square"/>
                    <a:lstStyle/>
                    <a:p>
                      <a:pPr algn="ctr">
                        <a:spcBef>
                          <a:spcPts val="200"/>
                        </a:spcBef>
                        <a:spcAft>
                          <a:spcPts val="200"/>
                        </a:spcAft>
                      </a:pPr>
                      <a:r>
                        <a:rPr sz="1000" b="1" i="0">
                          <a:solidFill>
                            <a:srgbClr val="FFFFFF"/>
                          </a:solidFill>
                          <a:latin typeface="Calibri"/>
                        </a:rPr>
                        <a:t>Term</a:t>
                      </a:r>
                    </a:p>
                  </a:txBody>
                  <a:tcPr>
                    <a:solidFill>
                      <a:srgbClr val="0B1F3A"/>
                    </a:solidFill>
                  </a:tcPr>
                </a:tc>
                <a:tc>
                  <a:txBody>
                    <a:bodyPr wrap="square"/>
                    <a:lstStyle/>
                    <a:p>
                      <a:pPr algn="ctr">
                        <a:spcBef>
                          <a:spcPts val="200"/>
                        </a:spcBef>
                        <a:spcAft>
                          <a:spcPts val="200"/>
                        </a:spcAft>
                      </a:pPr>
                      <a:r>
                        <a:rPr sz="1000" b="1" i="0">
                          <a:solidFill>
                            <a:srgbClr val="FFFFFF"/>
                          </a:solidFill>
                          <a:latin typeface="Calibri"/>
                        </a:rPr>
                        <a:t>Meaning</a:t>
                      </a:r>
                    </a:p>
                  </a:txBody>
                  <a:tcPr>
                    <a:solidFill>
                      <a:srgbClr val="0B1F3A"/>
                    </a:solidFill>
                  </a:tcPr>
                </a:tc>
              </a:tr>
              <a:tr h="291465">
                <a:tc>
                  <a:txBody>
                    <a:bodyPr wrap="square"/>
                    <a:lstStyle/>
                    <a:p>
                      <a:pPr algn="l">
                        <a:spcBef>
                          <a:spcPts val="200"/>
                        </a:spcBef>
                        <a:spcAft>
                          <a:spcPts val="200"/>
                        </a:spcAft>
                      </a:pPr>
                      <a:r>
                        <a:rPr sz="900" b="1" i="0">
                          <a:solidFill>
                            <a:srgbClr val="0B1F3A"/>
                          </a:solidFill>
                          <a:latin typeface="Calibri"/>
                        </a:rPr>
                        <a:t>Air cover</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Leadership backs SQ to automate without reopening buy/hire every week.</a:t>
                      </a:r>
                    </a:p>
                  </a:txBody>
                  <a:tcPr>
                    <a:solidFill>
                      <a:srgbClr val="FFFFFF"/>
                    </a:solidFill>
                  </a:tcPr>
                </a:tc>
                <a:tc>
                  <a:txBody>
                    <a:bodyPr wrap="square"/>
                    <a:lstStyle/>
                    <a:p>
                      <a:pPr algn="l">
                        <a:spcBef>
                          <a:spcPts val="200"/>
                        </a:spcBef>
                        <a:spcAft>
                          <a:spcPts val="200"/>
                        </a:spcAft>
                      </a:pPr>
                      <a:r>
                        <a:rPr sz="900" b="1" i="0">
                          <a:solidFill>
                            <a:srgbClr val="0B1F3A"/>
                          </a:solidFill>
                          <a:latin typeface="Calibri"/>
                        </a:rPr>
                        <a:t>Parallel inbox</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Hire more people to do the same manual view/accept/reject work.</a:t>
                      </a:r>
                    </a:p>
                  </a:txBody>
                  <a:tcPr>
                    <a:solidFill>
                      <a:srgbClr val="FFFFFF"/>
                    </a:solidFill>
                  </a:tcPr>
                </a:tc>
              </a:tr>
              <a:tr h="291465">
                <a:tc>
                  <a:txBody>
                    <a:bodyPr wrap="square"/>
                    <a:lstStyle/>
                    <a:p>
                      <a:pPr algn="l">
                        <a:spcBef>
                          <a:spcPts val="200"/>
                        </a:spcBef>
                        <a:spcAft>
                          <a:spcPts val="200"/>
                        </a:spcAft>
                      </a:pPr>
                      <a:r>
                        <a:rPr sz="900" b="1" i="0">
                          <a:solidFill>
                            <a:srgbClr val="0B1F3A"/>
                          </a:solidFill>
                          <a:latin typeface="Calibri"/>
                        </a:rPr>
                        <a:t>PCF</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Product Carbon Footprint — emissions per part (Rec 027; not in v1).</a:t>
                      </a:r>
                    </a:p>
                  </a:txBody>
                  <a:tcPr>
                    <a:solidFill>
                      <a:srgbClr val="F5F7F9"/>
                    </a:solidFill>
                  </a:tcPr>
                </a:tc>
                <a:tc>
                  <a:txBody>
                    <a:bodyPr wrap="square"/>
                    <a:lstStyle/>
                    <a:p>
                      <a:pPr algn="l">
                        <a:spcBef>
                          <a:spcPts val="200"/>
                        </a:spcBef>
                        <a:spcAft>
                          <a:spcPts val="200"/>
                        </a:spcAft>
                      </a:pPr>
                      <a:r>
                        <a:rPr sz="900" b="1" i="0">
                          <a:solidFill>
                            <a:srgbClr val="0B1F3A"/>
                          </a:solidFill>
                          <a:latin typeface="Calibri"/>
                        </a:rPr>
                        <a:t>Directed buy</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OEM nominates sub-supplier; lower tier Proposes to OEM and to you.</a:t>
                      </a:r>
                    </a:p>
                  </a:txBody>
                  <a:tcPr>
                    <a:solidFill>
                      <a:srgbClr val="F5F7F9"/>
                    </a:solidFill>
                  </a:tcPr>
                </a:tc>
              </a:tr>
              <a:tr h="291465">
                <a:tc>
                  <a:txBody>
                    <a:bodyPr wrap="square"/>
                    <a:lstStyle/>
                    <a:p>
                      <a:pPr algn="l">
                        <a:spcBef>
                          <a:spcPts val="200"/>
                        </a:spcBef>
                        <a:spcAft>
                          <a:spcPts val="200"/>
                        </a:spcAft>
                      </a:pPr>
                      <a:r>
                        <a:rPr sz="900" b="1" i="0">
                          <a:solidFill>
                            <a:srgbClr val="0B1F3A"/>
                          </a:solidFill>
                          <a:latin typeface="Calibri"/>
                        </a:rPr>
                        <a:t>Overlay</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OEM-specific rules on top of Rec 001 + IMDS Check.</a:t>
                      </a:r>
                    </a:p>
                  </a:txBody>
                  <a:tcPr>
                    <a:solidFill>
                      <a:srgbClr val="FFFFFF"/>
                    </a:solidFill>
                  </a:tcPr>
                </a:tc>
                <a:tc>
                  <a:txBody>
                    <a:bodyPr wrap="square"/>
                    <a:lstStyle/>
                    <a:p>
                      <a:pPr algn="l">
                        <a:spcBef>
                          <a:spcPts val="200"/>
                        </a:spcBef>
                        <a:spcAft>
                          <a:spcPts val="200"/>
                        </a:spcAft>
                      </a:pPr>
                      <a:r>
                        <a:rPr sz="900" b="1" i="0">
                          <a:solidFill>
                            <a:srgbClr val="0B1F3A"/>
                          </a:solidFill>
                          <a:latin typeface="Calibri"/>
                        </a:rPr>
                        <a:t>Deduplicate</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One queue item per real MDS — no double-processing resends.</a:t>
                      </a:r>
                    </a:p>
                  </a:txBody>
                  <a:tcPr>
                    <a:solidFill>
                      <a:srgbClr val="FFFFFF"/>
                    </a:solidFill>
                  </a:tcPr>
                </a:tc>
              </a:tr>
              <a:tr h="291465">
                <a:tc>
                  <a:txBody>
                    <a:bodyPr wrap="square"/>
                    <a:lstStyle/>
                    <a:p>
                      <a:pPr algn="l">
                        <a:spcBef>
                          <a:spcPts val="200"/>
                        </a:spcBef>
                        <a:spcAft>
                          <a:spcPts val="200"/>
                        </a:spcAft>
                      </a:pPr>
                      <a:r>
                        <a:rPr sz="900" b="1" i="0">
                          <a:solidFill>
                            <a:srgbClr val="0B1F3A"/>
                          </a:solidFill>
                          <a:latin typeface="Calibri"/>
                        </a:rPr>
                        <a:t>Age</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Time in status; prioritize VIP OEM parts and SLA risk.</a:t>
                      </a:r>
                    </a:p>
                  </a:txBody>
                  <a:tcPr>
                    <a:solidFill>
                      <a:srgbClr val="F5F7F9"/>
                    </a:solidFill>
                  </a:tcPr>
                </a:tc>
                <a:tc>
                  <a:txBody>
                    <a:bodyPr wrap="square"/>
                    <a:lstStyle/>
                    <a:p>
                      <a:pPr algn="l">
                        <a:spcBef>
                          <a:spcPts val="200"/>
                        </a:spcBef>
                        <a:spcAft>
                          <a:spcPts val="200"/>
                        </a:spcAft>
                      </a:pPr>
                      <a:r>
                        <a:rPr sz="900" b="1" i="0">
                          <a:solidFill>
                            <a:srgbClr val="0B1F3A"/>
                          </a:solidFill>
                          <a:latin typeface="Calibri"/>
                        </a:rPr>
                        <a:t>Dummy child</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Placeholder node instead of accepted sub-supplier MDS.</a:t>
                      </a:r>
                    </a:p>
                  </a:txBody>
                  <a:tcPr>
                    <a:solidFill>
                      <a:srgbClr val="F5F7F9"/>
                    </a:solidFill>
                  </a:tcPr>
                </a:tc>
              </a:tr>
              <a:tr h="291465">
                <a:tc>
                  <a:txBody>
                    <a:bodyPr wrap="square"/>
                    <a:lstStyle/>
                    <a:p>
                      <a:pPr algn="l">
                        <a:spcBef>
                          <a:spcPts val="200"/>
                        </a:spcBef>
                        <a:spcAft>
                          <a:spcPts val="200"/>
                        </a:spcAft>
                      </a:pPr>
                      <a:r>
                        <a:rPr sz="900" b="1" i="0">
                          <a:solidFill>
                            <a:srgbClr val="0B1F3A"/>
                          </a:solidFill>
                          <a:latin typeface="Calibri"/>
                        </a:rPr>
                        <a:t>Score / cite</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Rate green/amber/red; flag exact tree node and field.</a:t>
                      </a:r>
                    </a:p>
                  </a:txBody>
                  <a:tcPr>
                    <a:solidFill>
                      <a:srgbClr val="FFFFFF"/>
                    </a:solidFill>
                  </a:tcPr>
                </a:tc>
                <a:tc>
                  <a:txBody>
                    <a:bodyPr wrap="square"/>
                    <a:lstStyle/>
                    <a:p>
                      <a:pPr algn="l">
                        <a:spcBef>
                          <a:spcPts val="200"/>
                        </a:spcBef>
                        <a:spcAft>
                          <a:spcPts val="200"/>
                        </a:spcAft>
                      </a:pPr>
                      <a:r>
                        <a:rPr sz="900" b="1" i="0">
                          <a:solidFill>
                            <a:srgbClr val="0B1F3A"/>
                          </a:solidFill>
                          <a:latin typeface="Calibri"/>
                        </a:rPr>
                        <a:t>Structured reject</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Templated, coded reason — not “check Rec 001.”</a:t>
                      </a:r>
                    </a:p>
                  </a:txBody>
                  <a:tcPr>
                    <a:solidFill>
                      <a:srgbClr val="FFFFFF"/>
                    </a:solidFill>
                  </a:tcPr>
                </a:tc>
              </a:tr>
              <a:tr h="291465">
                <a:tc>
                  <a:txBody>
                    <a:bodyPr wrap="square"/>
                    <a:lstStyle/>
                    <a:p>
                      <a:pPr algn="l">
                        <a:spcBef>
                          <a:spcPts val="200"/>
                        </a:spcBef>
                        <a:spcAft>
                          <a:spcPts val="200"/>
                        </a:spcAft>
                      </a:pPr>
                      <a:r>
                        <a:rPr sz="900" b="1" i="0">
                          <a:solidFill>
                            <a:srgbClr val="0B1F3A"/>
                          </a:solidFill>
                          <a:latin typeface="Calibri"/>
                        </a:rPr>
                        <a:t>Pre-flight</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Run OEM pack on outbound MDS before Propose/Send.</a:t>
                      </a:r>
                    </a:p>
                  </a:txBody>
                  <a:tcPr>
                    <a:solidFill>
                      <a:srgbClr val="F5F7F9"/>
                    </a:solidFill>
                  </a:tcPr>
                </a:tc>
                <a:tc>
                  <a:txBody>
                    <a:bodyPr wrap="square"/>
                    <a:lstStyle/>
                    <a:p>
                      <a:pPr algn="l">
                        <a:spcBef>
                          <a:spcPts val="200"/>
                        </a:spcBef>
                        <a:spcAft>
                          <a:spcPts val="200"/>
                        </a:spcAft>
                      </a:pPr>
                      <a:r>
                        <a:rPr sz="900" b="1" i="0">
                          <a:solidFill>
                            <a:srgbClr val="0B1F3A"/>
                          </a:solidFill>
                          <a:latin typeface="Calibri"/>
                        </a:rPr>
                        <a:t>Orphan decision</a:t>
                      </a:r>
                    </a:p>
                  </a:txBody>
                  <a:tcPr>
                    <a:solidFill>
                      <a:srgbClr val="F5F7F9"/>
                    </a:solidFill>
                  </a:tcPr>
                </a:tc>
                <a:tc>
                  <a:txBody>
                    <a:bodyPr wrap="square"/>
                    <a:lstStyle/>
                    <a:p>
                      <a:pPr algn="l">
                        <a:spcBef>
                          <a:spcPts val="200"/>
                        </a:spcBef>
                        <a:spcAft>
                          <a:spcPts val="200"/>
                        </a:spcAft>
                      </a:pPr>
                      <a:r>
                        <a:rPr sz="900" b="0" i="0">
                          <a:solidFill>
                            <a:srgbClr val="3A4758"/>
                          </a:solidFill>
                          <a:latin typeface="Calibri"/>
                        </a:rPr>
                        <a:t>Accept/reject with no rule-pack version on record.</a:t>
                      </a:r>
                    </a:p>
                  </a:txBody>
                  <a:tcPr>
                    <a:solidFill>
                      <a:srgbClr val="F5F7F9"/>
                    </a:solidFill>
                  </a:tcPr>
                </a:tc>
              </a:tr>
              <a:tr h="291465">
                <a:tc>
                  <a:txBody>
                    <a:bodyPr wrap="square"/>
                    <a:lstStyle/>
                    <a:p>
                      <a:pPr algn="l">
                        <a:spcBef>
                          <a:spcPts val="200"/>
                        </a:spcBef>
                        <a:spcAft>
                          <a:spcPts val="200"/>
                        </a:spcAft>
                      </a:pPr>
                      <a:r>
                        <a:rPr sz="900" b="1" i="0">
                          <a:solidFill>
                            <a:srgbClr val="0B1F3A"/>
                          </a:solidFill>
                          <a:latin typeface="Calibri"/>
                        </a:rPr>
                        <a:t>Amber / novel</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Uncertain or new case — human decides, bot does not.</a:t>
                      </a:r>
                    </a:p>
                  </a:txBody>
                  <a:tcPr>
                    <a:solidFill>
                      <a:srgbClr val="FFFFFF"/>
                    </a:solidFill>
                  </a:tcPr>
                </a:tc>
                <a:tc>
                  <a:txBody>
                    <a:bodyPr wrap="square"/>
                    <a:lstStyle/>
                    <a:p>
                      <a:pPr algn="l">
                        <a:spcBef>
                          <a:spcPts val="200"/>
                        </a:spcBef>
                        <a:spcAft>
                          <a:spcPts val="200"/>
                        </a:spcAft>
                      </a:pPr>
                      <a:r>
                        <a:rPr sz="900" b="1" i="0">
                          <a:solidFill>
                            <a:srgbClr val="0B1F3A"/>
                          </a:solidFill>
                          <a:latin typeface="Calibri"/>
                        </a:rPr>
                        <a:t>OEM-rule owner</a:t>
                      </a:r>
                    </a:p>
                  </a:txBody>
                  <a:tcPr>
                    <a:solidFill>
                      <a:srgbClr val="F8F1E0"/>
                    </a:solidFill>
                  </a:tcPr>
                </a:tc>
                <a:tc>
                  <a:txBody>
                    <a:bodyPr wrap="square"/>
                    <a:lstStyle/>
                    <a:p>
                      <a:pPr algn="l">
                        <a:spcBef>
                          <a:spcPts val="200"/>
                        </a:spcBef>
                        <a:spcAft>
                          <a:spcPts val="200"/>
                        </a:spcAft>
                      </a:pPr>
                      <a:r>
                        <a:rPr sz="900" b="0" i="0">
                          <a:solidFill>
                            <a:srgbClr val="3A4758"/>
                          </a:solidFill>
                          <a:latin typeface="Calibri"/>
                        </a:rPr>
                        <a:t>Specialist owns GM/VW/Ford packs, not inbox volume.</a:t>
                      </a:r>
                    </a:p>
                  </a:txBody>
                  <a:tcPr>
                    <a:solidFill>
                      <a:srgbClr val="FFFFFF"/>
                    </a:solidFill>
                  </a:tcPr>
                </a:tc>
              </a:tr>
            </a:tbl>
          </a:graphicData>
        </a:graphic>
      </p:graphicFrame>
      <p:sp>
        <p:nvSpPr>
          <p:cNvPr id="9" name="TextBox 8"/>
          <p:cNvSpPr txBox="1"/>
          <p:nvPr/>
        </p:nvSpPr>
        <p:spPr>
          <a:xfrm>
            <a:off x="457200" y="3401568"/>
            <a:ext cx="11247120" cy="256032"/>
          </a:xfrm>
          <a:prstGeom prst="rect">
            <a:avLst/>
          </a:prstGeom>
          <a:noFill/>
        </p:spPr>
        <p:txBody>
          <a:bodyPr wrap="square"/>
          <a:lstStyle/>
          <a:p>
            <a:pPr algn="l">
              <a:spcBef>
                <a:spcPts val="0"/>
              </a:spcBef>
              <a:spcAft>
                <a:spcPts val="600"/>
              </a:spcAft>
            </a:pPr>
            <a:r>
              <a:rPr sz="1200" b="1" i="0">
                <a:solidFill>
                  <a:srgbClr val="0B1F3A"/>
                </a:solidFill>
                <a:latin typeface="Calibri"/>
              </a:rPr>
              <a:t>v0 pre-Propose checklist — encode into Reviewer agent (days 1–30)</a:t>
            </a:r>
          </a:p>
        </p:txBody>
      </p:sp>
      <p:sp>
        <p:nvSpPr>
          <p:cNvPr id="10" name="Rounded Rectangle 9"/>
          <p:cNvSpPr/>
          <p:nvPr/>
        </p:nvSpPr>
        <p:spPr>
          <a:xfrm>
            <a:off x="457200" y="3675887"/>
            <a:ext cx="3657600" cy="269748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675887"/>
            <a:ext cx="3657600" cy="384048"/>
          </a:xfrm>
          <a:prstGeom prst="rect">
            <a:avLst/>
          </a:prstGeom>
          <a:solidFill>
            <a:srgbClr val="0F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3730752"/>
            <a:ext cx="3401568" cy="292608"/>
          </a:xfrm>
          <a:prstGeom prst="rect">
            <a:avLst/>
          </a:prstGeom>
          <a:noFill/>
        </p:spPr>
        <p:txBody>
          <a:bodyPr wrap="square"/>
          <a:lstStyle/>
          <a:p>
            <a:pPr algn="l">
              <a:spcBef>
                <a:spcPts val="0"/>
              </a:spcBef>
              <a:spcAft>
                <a:spcPts val="600"/>
              </a:spcAft>
            </a:pPr>
            <a:r>
              <a:rPr sz="1300" b="1" i="0">
                <a:solidFill>
                  <a:srgbClr val="FFFFFF"/>
                </a:solidFill>
                <a:latin typeface="Calibri"/>
              </a:rPr>
              <a:t>GM</a:t>
            </a:r>
          </a:p>
        </p:txBody>
      </p:sp>
      <p:sp>
        <p:nvSpPr>
          <p:cNvPr id="13" name="TextBox 12"/>
          <p:cNvSpPr txBox="1"/>
          <p:nvPr/>
        </p:nvSpPr>
        <p:spPr>
          <a:xfrm>
            <a:off x="585216" y="4133087"/>
            <a:ext cx="3401568" cy="2148840"/>
          </a:xfrm>
          <a:prstGeom prst="rect">
            <a:avLst/>
          </a:prstGeom>
          <a:noFill/>
        </p:spPr>
        <p:txBody>
          <a:bodyPr wrap="square">
            <a:spAutoFit/>
          </a:bodyPr>
          <a:lstStyle/>
          <a:p>
            <a:pPr algn="l">
              <a:spcBef>
                <a:spcPts val="0"/>
              </a:spcBef>
              <a:spcAft>
                <a:spcPts val="600"/>
              </a:spcAft>
            </a:pPr>
            <a:r>
              <a:rPr sz="1100" b="0" i="0">
                <a:solidFill>
                  <a:srgbClr val="3A4758"/>
                </a:solidFill>
                <a:latin typeface="Calibri"/>
              </a:rPr>
              <a:t>▸  Propose (not Send); internally released</a:t>
            </a:r>
          </a:p>
          <a:p>
            <a:pPr algn="l">
              <a:spcBef>
                <a:spcPts val="0"/>
              </a:spcBef>
              <a:spcAft>
                <a:spcPts val="600"/>
              </a:spcAft>
            </a:pPr>
            <a:r>
              <a:rPr sz="1100" b="0" i="0">
                <a:solidFill>
                  <a:srgbClr val="3A4758"/>
                </a:solidFill>
                <a:latin typeface="Calibri"/>
              </a:rPr>
              <a:t>▸  Correct GM org unit / plant recipient</a:t>
            </a:r>
          </a:p>
          <a:p>
            <a:pPr algn="l">
              <a:spcBef>
                <a:spcPts val="0"/>
              </a:spcBef>
              <a:spcAft>
                <a:spcPts val="600"/>
              </a:spcAft>
            </a:pPr>
            <a:r>
              <a:rPr sz="1100" b="0" i="0">
                <a:solidFill>
                  <a:srgbClr val="3A4758"/>
                </a:solidFill>
                <a:latin typeface="Calibri"/>
              </a:rPr>
              <a:t>▸  Part number + description on recipient tab</a:t>
            </a:r>
          </a:p>
          <a:p>
            <a:pPr algn="l">
              <a:spcBef>
                <a:spcPts val="0"/>
              </a:spcBef>
              <a:spcAft>
                <a:spcPts val="600"/>
              </a:spcAft>
            </a:pPr>
            <a:r>
              <a:rPr sz="1100" b="0" i="0">
                <a:solidFill>
                  <a:srgbClr val="3A4758"/>
                </a:solidFill>
                <a:latin typeface="Calibri"/>
              </a:rPr>
              <a:t>▸  Weight within GM tolerance; GMW3059 clean</a:t>
            </a:r>
          </a:p>
          <a:p>
            <a:pPr algn="l">
              <a:spcBef>
                <a:spcPts val="0"/>
              </a:spcBef>
              <a:spcAft>
                <a:spcPts val="600"/>
              </a:spcAft>
            </a:pPr>
            <a:r>
              <a:rPr sz="1100" b="0" i="0">
                <a:solidFill>
                  <a:srgbClr val="3A4758"/>
                </a:solidFill>
                <a:latin typeface="Calibri"/>
              </a:rPr>
              <a:t>▸  Forwarding allowed if pass-through; no dummy children</a:t>
            </a:r>
          </a:p>
        </p:txBody>
      </p:sp>
      <p:sp>
        <p:nvSpPr>
          <p:cNvPr id="14" name="Rounded Rectangle 13"/>
          <p:cNvSpPr/>
          <p:nvPr/>
        </p:nvSpPr>
        <p:spPr>
          <a:xfrm>
            <a:off x="4251960" y="3675887"/>
            <a:ext cx="3657600" cy="269748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3675887"/>
            <a:ext cx="36576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9976" y="3730752"/>
            <a:ext cx="3401568" cy="292608"/>
          </a:xfrm>
          <a:prstGeom prst="rect">
            <a:avLst/>
          </a:prstGeom>
          <a:noFill/>
        </p:spPr>
        <p:txBody>
          <a:bodyPr wrap="square"/>
          <a:lstStyle/>
          <a:p>
            <a:pPr algn="l">
              <a:spcBef>
                <a:spcPts val="0"/>
              </a:spcBef>
              <a:spcAft>
                <a:spcPts val="600"/>
              </a:spcAft>
            </a:pPr>
            <a:r>
              <a:rPr sz="1300" b="1" i="0">
                <a:solidFill>
                  <a:srgbClr val="FFFFFF"/>
                </a:solidFill>
                <a:latin typeface="Calibri"/>
              </a:rPr>
              <a:t>VW</a:t>
            </a:r>
          </a:p>
        </p:txBody>
      </p:sp>
      <p:sp>
        <p:nvSpPr>
          <p:cNvPr id="17" name="TextBox 16"/>
          <p:cNvSpPr txBox="1"/>
          <p:nvPr/>
        </p:nvSpPr>
        <p:spPr>
          <a:xfrm>
            <a:off x="4379976" y="4133087"/>
            <a:ext cx="3401568" cy="2148840"/>
          </a:xfrm>
          <a:prstGeom prst="rect">
            <a:avLst/>
          </a:prstGeom>
          <a:noFill/>
        </p:spPr>
        <p:txBody>
          <a:bodyPr wrap="square">
            <a:spAutoFit/>
          </a:bodyPr>
          <a:lstStyle/>
          <a:p>
            <a:pPr algn="l">
              <a:spcBef>
                <a:spcPts val="0"/>
              </a:spcBef>
              <a:spcAft>
                <a:spcPts val="600"/>
              </a:spcAft>
            </a:pPr>
            <a:r>
              <a:rPr sz="1100" b="0" i="0">
                <a:solidFill>
                  <a:srgbClr val="3A4758"/>
                </a:solidFill>
                <a:latin typeface="Calibri"/>
              </a:rPr>
              <a:t>▸  VW 91101 + Konzern IMDS instructions</a:t>
            </a:r>
          </a:p>
          <a:p>
            <a:pPr algn="l">
              <a:spcBef>
                <a:spcPts val="0"/>
              </a:spcBef>
              <a:spcAft>
                <a:spcPts val="600"/>
              </a:spcAft>
            </a:pPr>
            <a:r>
              <a:rPr sz="1100" b="0" i="0">
                <a:solidFill>
                  <a:srgbClr val="3A4758"/>
                </a:solidFill>
                <a:latin typeface="Calibri"/>
              </a:rPr>
              <a:t>▸  Correct plant / org ID on recipient</a:t>
            </a:r>
          </a:p>
          <a:p>
            <a:pPr algn="l">
              <a:spcBef>
                <a:spcPts val="0"/>
              </a:spcBef>
              <a:spcAft>
                <a:spcPts val="600"/>
              </a:spcAft>
            </a:pPr>
            <a:r>
              <a:rPr sz="1100" b="0" i="0">
                <a:solidFill>
                  <a:srgbClr val="3A4758"/>
                </a:solidFill>
                <a:latin typeface="Calibri"/>
              </a:rPr>
              <a:t>▸  Part naming per VW guide; sibling rules</a:t>
            </a:r>
          </a:p>
          <a:p>
            <a:pPr algn="l">
              <a:spcBef>
                <a:spcPts val="0"/>
              </a:spcBef>
              <a:spcAft>
                <a:spcPts val="600"/>
              </a:spcAft>
            </a:pPr>
            <a:r>
              <a:rPr sz="1100" b="0" i="0">
                <a:solidFill>
                  <a:srgbClr val="3A4758"/>
                </a:solidFill>
                <a:latin typeface="Calibri"/>
              </a:rPr>
              <a:t>▸  Polymer marking / process fields if required</a:t>
            </a:r>
          </a:p>
          <a:p>
            <a:pPr algn="l">
              <a:spcBef>
                <a:spcPts val="0"/>
              </a:spcBef>
              <a:spcAft>
                <a:spcPts val="600"/>
              </a:spcAft>
            </a:pPr>
            <a:r>
              <a:rPr sz="1100" b="0" i="0">
                <a:solidFill>
                  <a:srgbClr val="3A4758"/>
                </a:solidFill>
                <a:latin typeface="Calibri"/>
              </a:rPr>
              <a:t>▸  VW pack pre-flight — no reds before Propose</a:t>
            </a:r>
          </a:p>
        </p:txBody>
      </p:sp>
      <p:sp>
        <p:nvSpPr>
          <p:cNvPr id="18" name="Rounded Rectangle 17"/>
          <p:cNvSpPr/>
          <p:nvPr/>
        </p:nvSpPr>
        <p:spPr>
          <a:xfrm>
            <a:off x="8046720" y="3675887"/>
            <a:ext cx="3657600" cy="2697480"/>
          </a:xfrm>
          <a:prstGeom prst="roundRect">
            <a:avLst>
              <a:gd name="adj" fmla="val 6000"/>
            </a:avLst>
          </a:prstGeom>
          <a:solidFill>
            <a:srgbClr val="FFFFFF"/>
          </a:solidFill>
          <a:ln w="12700">
            <a:solidFill>
              <a:srgbClr val="DE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675887"/>
            <a:ext cx="3657600" cy="384048"/>
          </a:xfrm>
          <a:prstGeom prst="rect">
            <a:avLst/>
          </a:prstGeom>
          <a:solidFill>
            <a:srgbClr val="C9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3730752"/>
            <a:ext cx="3401568" cy="292608"/>
          </a:xfrm>
          <a:prstGeom prst="rect">
            <a:avLst/>
          </a:prstGeom>
          <a:noFill/>
        </p:spPr>
        <p:txBody>
          <a:bodyPr wrap="square"/>
          <a:lstStyle/>
          <a:p>
            <a:pPr algn="l">
              <a:spcBef>
                <a:spcPts val="0"/>
              </a:spcBef>
              <a:spcAft>
                <a:spcPts val="600"/>
              </a:spcAft>
            </a:pPr>
            <a:r>
              <a:rPr sz="1300" b="1" i="0">
                <a:solidFill>
                  <a:srgbClr val="FFFFFF"/>
                </a:solidFill>
                <a:latin typeface="Calibri"/>
              </a:rPr>
              <a:t>Ford</a:t>
            </a:r>
          </a:p>
        </p:txBody>
      </p:sp>
      <p:sp>
        <p:nvSpPr>
          <p:cNvPr id="21" name="TextBox 20"/>
          <p:cNvSpPr txBox="1"/>
          <p:nvPr/>
        </p:nvSpPr>
        <p:spPr>
          <a:xfrm>
            <a:off x="8174736" y="4133087"/>
            <a:ext cx="3401568" cy="2148840"/>
          </a:xfrm>
          <a:prstGeom prst="rect">
            <a:avLst/>
          </a:prstGeom>
          <a:noFill/>
        </p:spPr>
        <p:txBody>
          <a:bodyPr wrap="square">
            <a:spAutoFit/>
          </a:bodyPr>
          <a:lstStyle/>
          <a:p>
            <a:pPr algn="l">
              <a:spcBef>
                <a:spcPts val="0"/>
              </a:spcBef>
              <a:spcAft>
                <a:spcPts val="600"/>
              </a:spcAft>
            </a:pPr>
            <a:r>
              <a:rPr sz="1100" b="0" i="0">
                <a:solidFill>
                  <a:srgbClr val="3A4758"/>
                </a:solidFill>
                <a:latin typeface="Calibri"/>
              </a:rPr>
              <a:t>▸  Ford RSMS substance compliance</a:t>
            </a:r>
          </a:p>
          <a:p>
            <a:pPr algn="l">
              <a:spcBef>
                <a:spcPts val="0"/>
              </a:spcBef>
              <a:spcAft>
                <a:spcPts val="600"/>
              </a:spcAft>
            </a:pPr>
            <a:r>
              <a:rPr sz="1100" b="0" i="0">
                <a:solidFill>
                  <a:srgbClr val="3A4758"/>
                </a:solidFill>
                <a:latin typeface="Calibri"/>
              </a:rPr>
              <a:t>▸  Supplier code + part number pairing</a:t>
            </a:r>
          </a:p>
          <a:p>
            <a:pPr algn="l">
              <a:spcBef>
                <a:spcPts val="0"/>
              </a:spcBef>
              <a:spcAft>
                <a:spcPts val="600"/>
              </a:spcAft>
            </a:pPr>
            <a:r>
              <a:rPr sz="1100" b="0" i="0">
                <a:solidFill>
                  <a:srgbClr val="3A4758"/>
                </a:solidFill>
                <a:latin typeface="Calibri"/>
              </a:rPr>
              <a:t>▸  Legacy / EOP flags if applicable</a:t>
            </a:r>
          </a:p>
          <a:p>
            <a:pPr algn="l">
              <a:spcBef>
                <a:spcPts val="0"/>
              </a:spcBef>
              <a:spcAft>
                <a:spcPts val="600"/>
              </a:spcAft>
            </a:pPr>
            <a:r>
              <a:rPr sz="1100" b="0" i="0">
                <a:solidFill>
                  <a:srgbClr val="3A4758"/>
                </a:solidFill>
                <a:latin typeface="Calibri"/>
              </a:rPr>
              <a:t>▸  Correct Ford org unit; tree vs BOM</a:t>
            </a:r>
          </a:p>
          <a:p>
            <a:pPr algn="l">
              <a:spcBef>
                <a:spcPts val="0"/>
              </a:spcBef>
              <a:spcAft>
                <a:spcPts val="600"/>
              </a:spcAft>
            </a:pPr>
            <a:r>
              <a:rPr sz="1100" b="0" i="0">
                <a:solidFill>
                  <a:srgbClr val="3A4758"/>
                </a:solidFill>
                <a:latin typeface="Calibri"/>
              </a:rPr>
              <a:t>▸  Ford pack pre-flight — no reds before Propose</a:t>
            </a:r>
          </a:p>
        </p:txBody>
      </p:sp>
      <p:sp>
        <p:nvSpPr>
          <p:cNvPr id="22" name="TextBox 21"/>
          <p:cNvSpPr txBox="1"/>
          <p:nvPr/>
        </p:nvSpPr>
        <p:spPr>
          <a:xfrm>
            <a:off x="457200" y="6419088"/>
            <a:ext cx="11247120" cy="201168"/>
          </a:xfrm>
          <a:prstGeom prst="rect">
            <a:avLst/>
          </a:prstGeom>
          <a:noFill/>
        </p:spPr>
        <p:txBody>
          <a:bodyPr wrap="square"/>
          <a:lstStyle/>
          <a:p>
            <a:pPr algn="l">
              <a:spcBef>
                <a:spcPts val="0"/>
              </a:spcBef>
              <a:spcAft>
                <a:spcPts val="600"/>
              </a:spcAft>
            </a:pPr>
            <a:r>
              <a:rPr sz="1000" b="0" i="0">
                <a:solidFill>
                  <a:srgbClr val="6A7584"/>
                </a:solidFill>
                <a:latin typeface="Calibri"/>
              </a:rPr>
              <a:t>Predco vendor-reported (−89% rejects, −72% cycle): industry proof only — not our ROI. HR: role shifts from inbox clerk to OEM-rule owner + exception judgment.</a:t>
            </a:r>
          </a:p>
        </p:txBody>
      </p:sp>
      <p:sp>
        <p:nvSpPr>
          <p:cNvPr id="23" name="Rectangle 22"/>
          <p:cNvSpPr/>
          <p:nvPr/>
        </p:nvSpPr>
        <p:spPr>
          <a:xfrm>
            <a:off x="0" y="6656832"/>
            <a:ext cx="12191695" cy="201168"/>
          </a:xfrm>
          <a:prstGeom prst="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656832"/>
            <a:ext cx="12191695" cy="127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675120"/>
            <a:ext cx="8961120" cy="164592"/>
          </a:xfrm>
          <a:prstGeom prst="rect">
            <a:avLst/>
          </a:prstGeom>
          <a:noFill/>
        </p:spPr>
        <p:txBody>
          <a:bodyPr wrap="square"/>
          <a:lstStyle/>
          <a:p>
            <a:pPr algn="l">
              <a:spcBef>
                <a:spcPts val="0"/>
              </a:spcBef>
              <a:spcAft>
                <a:spcPts val="600"/>
              </a:spcAft>
            </a:pPr>
            <a:r>
              <a:rPr sz="900" b="0" i="0">
                <a:solidFill>
                  <a:srgbClr val="8A96A4"/>
                </a:solidFill>
                <a:latin typeface="Calibri"/>
              </a:rPr>
              <a:t>INTERNAL CONFIDENTIAL  ·  Supplier Quality  ·  Agentic MDS briefing  ·  August 2026</a:t>
            </a:r>
          </a:p>
        </p:txBody>
      </p:sp>
      <p:sp>
        <p:nvSpPr>
          <p:cNvPr id="26" name="TextBox 25"/>
          <p:cNvSpPr txBox="1"/>
          <p:nvPr/>
        </p:nvSpPr>
        <p:spPr>
          <a:xfrm>
            <a:off x="10241280" y="6675120"/>
            <a:ext cx="1554480" cy="164592"/>
          </a:xfrm>
          <a:prstGeom prst="rect">
            <a:avLst/>
          </a:prstGeom>
          <a:noFill/>
        </p:spPr>
        <p:txBody>
          <a:bodyPr wrap="square"/>
          <a:lstStyle/>
          <a:p>
            <a:pPr algn="r">
              <a:spcBef>
                <a:spcPts val="0"/>
              </a:spcBef>
              <a:spcAft>
                <a:spcPts val="600"/>
              </a:spcAft>
            </a:pPr>
            <a:r>
              <a:rPr sz="900" b="0" i="0">
                <a:solidFill>
                  <a:srgbClr val="8A96A4"/>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