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Minutes / day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Sheet1!$A$2:$A$8</c:f>
              <c:strCache>
                <c:ptCount val="7"/>
                <c:pt idx="0">
                  <c:v>Inbox verify</c:v>
                </c:pt>
                <c:pt idx="1">
                  <c:v>View + quality check</c:v>
                </c:pt>
                <c:pt idx="2">
                  <c:v>Accept</c:v>
                </c:pt>
                <c:pt idx="3">
                  <c:v>Reject + reason</c:v>
                </c:pt>
                <c:pt idx="4">
                  <c:v>Forward</c:v>
                </c:pt>
                <c:pt idx="5">
                  <c:v>Assemble + propose</c:v>
                </c:pt>
                <c:pt idx="6">
                  <c:v>Follow-up / chase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</c:v>
                </c:pt>
                <c:pt idx="1">
                  <c:v>180</c:v>
                </c:pt>
                <c:pt idx="2">
                  <c:v>25</c:v>
                </c:pt>
                <c:pt idx="3">
                  <c:v>55</c:v>
                </c:pt>
                <c:pt idx="4">
                  <c:v>20</c:v>
                </c:pt>
                <c:pt idx="5">
                  <c:v>90</c:v>
                </c:pt>
                <c:pt idx="6">
                  <c:v>50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framing IMDS as a production-critical process, not a back-office form. PPAP cannot close without an accepted MDS. The rest of the briefing walks from process literacy to a build proposal for agentic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to 30 seconds. Emphasize that sections 3–5 are the decision content; 1–2 are shared language so the room is aligned.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sources as vendor-reported or official IMDS language, not as our measured plant data. IMDS 15.2 message is important: passing the IMDS check is not OEM acceptance. Mercedes-Benz still combines automated and manual checks for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IMDS is not a legal statute; it is the industry mechanism OEMs use to prove ELV, REACH Article 33, GADSL, and related obligations. Market access depends on it. Wildcard 10% and 1 gram resolution are Rec 001 / industry norms — remind the room these are quality rules, not optional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audience is mixed, spend time on PPAP. Quality and program managers already feel this; digital teams often do not. PCF is the forward-looking hook: the same tree will be reused for carbon.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tree once. Rec 001 10% rule, from/to ranges, polymer marking, and application codes for heavy metals all attach to specific node types. Recipient data is a frequent rejection cause: part number and description on the ingredients page vs. recipient tab get out of sync.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conceptual core of Rec 001 workflow. Do not skip it — agent design has to respect hop-by-hop confidentiality and the accept-before-attach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dual role is why one FTE can spend a whole day in IMDS without creating a single new part. Morning is often inbound QA; afternoon is outbound assembly and resubmission. Agents need both modes.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Mercedes-Benz typically targets MDS check within two days and auto-forwards structured reject reasons. Vibracoustic asks suppliers to correct rejected MDS within 5 days. Cycle time is a customer SLA, not an internal preference.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IMDS specialists will nod at. Digital teams often get Send/Propose wrong in workflow design. An agent that “resubmits” a proposed MDS by editing in place will fail. Encode version rules in the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APA’s common rejection reasons match this list: wrong material name/class, missing norms, wrong part number, weight deviation, expired application codes, missing polymer marking. IMDS 15.2 explicitly says passing included checks does not cover all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narrative slide. Do not present it as a time-and-motion study of this company. It is how IMDS desks actually operate: inbox-driven, SLA-driven, exception-driven.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chart: quality check plus assemble/propose is ~55% of the day. Accept itself is cheap; the decision work before accept is expensive. That is the agent target. Offer to replace this model with a two-week diary study of our own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that 30–40%, 4–6 weeks, 4 hours, 18 days are vendor-published outcomes, useful as directional benchmarks. Our own baseline should be measured: MDS per FTE per day, first-pass yield, days request-to-accept, reject-reason mix.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bridge into section 4. Get agreement on keep / assist / automate before talking architecture. Mercedes-Benz’s own model is hybrid auto-check + human for complex materials — that is the right design metaphor.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Inbox Automation (profile-based auto-accept/reject while a user is logged into IMDS Plus) with agents that can reason across OEM rulebooks, drawings, and supplier history. Both are useful; they are not the same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Reviewer agent is the core. Do not start with a fully autonomous accept bot. Start with score + cited reasons in a side-by-side UI next to the IMDS tree. Connect via IMDS Connect rather than brittle UI RPA where volume justifies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2–3× as an internal ambition, not a vendor promise. Predco publishes −89% rejection and −72% cycle time across 12 Tier-1s; Certivo publishes 80% labor reduction and &lt;5% reject. Treat those as upper bounds until we have a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legal/quality is in the room, stay here. Auto-accept without a soak period and a sample audit will not survive an OEM quality audit. Log the model and rule-pack version on every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company still runs IMDS-a2, migration to Plus is a near-term forced move. Do not build RPA against a client that is going away. Prefer Connect + Plus Examiner as the official automation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these as buy/partner options. iPoint is the safest enterprise bet for a global Tier-1 already in that stack. MDS Xpress is a focused IMDS operations tool. Tetra Tech is strongest when the bottleneck is unskilled sub-suppliers, not internal review capacity.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different bets: Predco is closer to “replace the expert reviewer.” Certivo is closer to “replace the supplier-chasing and document parsing.” A build-your-own agent can steal patterns from both. Ask for a paid proof on our last 200 MDS, not a slideware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 preview: do not pick one column. License Plus + Connect as the official rails; buy or reuse OEM libraries if iPoint is already in the estate; build the reviewer/reasoner agents where vendors are weakest — cited, versioned, plant-specific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ask. If the room only remembers one thing: capture labeled decisions this month, even before a model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owners: Quality owns policy, IMDS desk owns labels, Digital owns the shadow agent, Purchasing owns any vendor bake-off. Ask for a two-week diary study as the immediate next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Q&amp;A. Offer to attach the URL list in follow-up 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73152" cy="6858000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4A35A"/>
                </a:solidFill>
                <a:latin typeface="Calibri"/>
              </a:rPr>
              <a:t>INTERNATIONAL MATERIAL DATA SYSTEM  ·  PRODUCTIVITY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From inbox firefighting to an agentic MDS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10515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C5D0DC"/>
                </a:solidFill>
                <a:latin typeface="Calibri"/>
              </a:rPr>
              <a:t>How automotive suppliers spend their day verifying, accepting, rejecting, forwarding, and proposing Material Data Sheets — and how agentic automation can recover that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77639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4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5927"/>
            <a:ext cx="2011680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4A35A"/>
                </a:solidFill>
                <a:latin typeface="Calibri"/>
              </a:rPr>
              <a:t>01  IMDS intro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977639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4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3995927"/>
            <a:ext cx="2011680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4A35A"/>
                </a:solidFill>
                <a:latin typeface="Calibri"/>
              </a:rPr>
              <a:t>02  Supplier roles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3977639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4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995927"/>
            <a:ext cx="2011680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4A35A"/>
                </a:solidFill>
                <a:latin typeface="Calibri"/>
              </a:rPr>
              <a:t>03  Daily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3977639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4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3995927"/>
            <a:ext cx="2011680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4A35A"/>
                </a:solidFill>
                <a:latin typeface="Calibri"/>
              </a:rPr>
              <a:t>04  Agentic value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3977639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4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3995927"/>
            <a:ext cx="2011680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4A35A"/>
                </a:solidFill>
                <a:latin typeface="Calibri"/>
              </a:rPr>
              <a:t>05  Market options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89320"/>
            <a:ext cx="7315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AA8B8"/>
                </a:solidFill>
                <a:latin typeface="Calibri"/>
              </a:rPr>
              <a:t>Prepared for IMDS operations, quality, and digital leaders  ·  August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5989320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4A35A"/>
                </a:solidFill>
                <a:latin typeface="Calibri"/>
              </a:rPr>
              <a:t>Microsoft PowerPoint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What this briefing covers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1124712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109728" cy="987552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25296"/>
            <a:ext cx="914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6E6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243584"/>
            <a:ext cx="9509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Calibri"/>
              </a:rPr>
              <a:t>Introduction of IMDS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581912"/>
            <a:ext cx="9509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What the system is, why OEMs require it, and how a Material Data Sheet is structured.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39696"/>
            <a:ext cx="1124712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39696"/>
            <a:ext cx="109728" cy="987552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86000"/>
            <a:ext cx="914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6E6E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04288"/>
            <a:ext cx="9509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Calibri"/>
              </a:rPr>
              <a:t>Supplier roles in tier MDS submission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642616"/>
            <a:ext cx="9509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Receive, verify, accept or reject, assemble, forward, and propose to the next customer.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00400"/>
            <a:ext cx="1124712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00400"/>
            <a:ext cx="109728" cy="987552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346704"/>
            <a:ext cx="914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6E6E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364992"/>
            <a:ext cx="9509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Calibri"/>
              </a:rPr>
              <a:t>Daily time on inbox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703320"/>
            <a:ext cx="9509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An illustrative time model for verifying, accepting, rejecting, forwarding, and proposing.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261104"/>
            <a:ext cx="1124712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261104"/>
            <a:ext cx="109728" cy="9875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407408"/>
            <a:ext cx="914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C96A2C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425696"/>
            <a:ext cx="9509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Calibri"/>
              </a:rPr>
              <a:t>Value of an agentic workflow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764024"/>
            <a:ext cx="9509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Where agents can take repetitive judgment work and leave experts on exceptions.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21808"/>
            <a:ext cx="1124712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21808"/>
            <a:ext cx="109728" cy="9875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68112"/>
            <a:ext cx="914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C96A2C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486400"/>
            <a:ext cx="9509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B1F3A"/>
                </a:solidFill>
                <a:latin typeface="Calibri"/>
              </a:rPr>
              <a:t>Available proposals and innovations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824728"/>
            <a:ext cx="9509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Native IMDS tools, enterprise platforms, and AI-native review products now in market.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2  / 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THE OPERATING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IMDS is a production gate run as a manual inbox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76656"/>
            <a:ext cx="112471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5D0DC"/>
                </a:solidFill>
                <a:latin typeface="Calibri"/>
              </a:rPr>
              <a:t>An accepted MDS is often a contractual PPAP prerequisite. The work to get there is still mostly human, sequential, and OEM-specific.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743200" cy="13258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545336"/>
            <a:ext cx="248716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30–40%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929384"/>
            <a:ext cx="248716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C4A35A"/>
                </a:solidFill>
                <a:latin typeface="Calibri"/>
              </a:rPr>
              <a:t>Typical first-pass rejection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258568"/>
            <a:ext cx="2487168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C5D0DC"/>
                </a:solidFill>
                <a:latin typeface="Calibri"/>
              </a:rPr>
              <a:t>Industry range cited by Certivo for OEM MDS returns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417320"/>
            <a:ext cx="2743200" cy="13258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545336"/>
            <a:ext cx="248716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4–6 wks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929384"/>
            <a:ext cx="248716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C4A35A"/>
                </a:solidFill>
                <a:latin typeface="Calibri"/>
              </a:rPr>
              <a:t>Manual package 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258568"/>
            <a:ext cx="2487168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C5D0DC"/>
                </a:solidFill>
                <a:latin typeface="Calibri"/>
              </a:rPr>
              <a:t>Compile, chase suppliers, revise, resubmit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17320"/>
            <a:ext cx="2743200" cy="13258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4224" y="1545336"/>
            <a:ext cx="248716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1929384"/>
            <a:ext cx="248716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C4A35A"/>
                </a:solidFill>
                <a:latin typeface="Calibri"/>
              </a:rPr>
              <a:t>IMDS-a2 end of life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258568"/>
            <a:ext cx="2487168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C5D0DC"/>
                </a:solidFill>
                <a:latin typeface="Calibri"/>
              </a:rPr>
              <a:t>Migration window to IMDS Plus is now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417320"/>
            <a:ext cx="2743200" cy="13258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4584" y="1545336"/>
            <a:ext cx="248716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Not enough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44584" y="1929384"/>
            <a:ext cx="248716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C4A35A"/>
                </a:solidFill>
                <a:latin typeface="Calibri"/>
              </a:rPr>
              <a:t>System check ≠ acceptance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258568"/>
            <a:ext cx="2487168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C5D0DC"/>
                </a:solidFill>
                <a:latin typeface="Calibri"/>
              </a:rPr>
              <a:t>IMDS 15.2: further manual review may be required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944368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944368"/>
            <a:ext cx="3657600" cy="73152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108960"/>
            <a:ext cx="32461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Multi-tier collection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474720"/>
            <a:ext cx="324612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A finished part is a tree of supplier MDS records. Missing or dummy child data blocks the whole submission.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944368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944368"/>
            <a:ext cx="3657600" cy="73152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3128" y="3108960"/>
            <a:ext cx="32461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OEM rule overlay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3128" y="3474720"/>
            <a:ext cx="324612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Rec 001 is the baseline. BMW, Ford, Toyota, Mercedes-Benz, Stellantis each add naming, weight, and structure rules.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2944368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2944368"/>
            <a:ext cx="3657600" cy="73152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7888" y="3108960"/>
            <a:ext cx="32461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Expert bottleneck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3474720"/>
            <a:ext cx="324612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Accept / reject judgment sits with a few IMDS specialists. Leave, peak volume, or GADSL updates stall launches.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230368"/>
            <a:ext cx="11247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1F3A"/>
                </a:solidFill>
                <a:latin typeface="Calibri"/>
              </a:rPr>
              <a:t>Implication: productivity is not “type faster in the IMDS browser.” It is collapsing review loops, encoding OEM rulebooks, and putting specialists on exceptions — with an audit trail.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3  / 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01  ·  INTRODUCTION OF IMDS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The automotive industry’s material data backbone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676656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61872"/>
            <a:ext cx="6355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6309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The International Material Data System (IMDS) is the web-based repository used to collect, maintain, analyse, and archive every material in a finished vehicle.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Created in 1999 by Audi, BMW, Daimler, EDS (now DXC Technology), Ford, Opel, Porsche, VW, and Volvo. DXC still administers the production system.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iPoint reports 50+ OEMs and ~120,000 suppliers on the platform. Certivo reports 100+ participating OEMs including heavy-duty makers.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Basic IMDS is free to suppliers. Paid layers (IMDS Plus, IMDS Connect) add examiner rules, inbox automation, and system-to-system exchange.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1078992"/>
            <a:ext cx="4251960" cy="80467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170432"/>
            <a:ext cx="3886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6E6E"/>
                </a:solidFill>
                <a:latin typeface="Calibri"/>
              </a:rPr>
              <a:t>Since 2000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1444752"/>
            <a:ext cx="3886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Production system for ELV-driven substance transparency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1947672"/>
            <a:ext cx="4251960" cy="80467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2039112"/>
            <a:ext cx="3886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6E6E"/>
                </a:solidFill>
                <a:latin typeface="Calibri"/>
              </a:rPr>
              <a:t>1 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313432"/>
            <a:ext cx="3886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Minimum substance resolution in an MDS — not only banned chemicals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2816352"/>
            <a:ext cx="4251960" cy="80467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2907792"/>
            <a:ext cx="3886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6E6E"/>
                </a:solidFill>
                <a:latin typeface="Calibri"/>
              </a:rPr>
              <a:t>0.1% w/w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3182112"/>
            <a:ext cx="3886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GADSL declaration threshold per homogeneous material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3685032"/>
            <a:ext cx="4251960" cy="80467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3776472"/>
            <a:ext cx="3886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6E6E"/>
                </a:solidFill>
                <a:latin typeface="Calibri"/>
              </a:rPr>
              <a:t>10% 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4050792"/>
            <a:ext cx="3886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Wildcard / undisclosed substance allowance per Rec 001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4553712"/>
            <a:ext cx="4251960" cy="80467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4645152"/>
            <a:ext cx="3886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6E6E"/>
                </a:solidFill>
                <a:latin typeface="Calibri"/>
              </a:rPr>
              <a:t>Rec 001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4919472"/>
            <a:ext cx="3886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Foundational structure, naming, and quality rules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5422392"/>
            <a:ext cx="4251960" cy="80467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35240" y="5513832"/>
            <a:ext cx="3886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6E6E"/>
                </a:solidFill>
                <a:latin typeface="Calibri"/>
              </a:rPr>
              <a:t>PPAP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5788152"/>
            <a:ext cx="3886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No accepted MDS, no production authorization at most OEMs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4  / 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01  ·  INTRODUCTION OF IMDS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Why IMDS exists — law, customer, and launch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3657600" cy="73152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80160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ELV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73352"/>
            <a:ext cx="32918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End-of-Life Vehicles Directive. IMDS was built so OEMs can prove restricted-substance control and recyclability to dismantlers.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078992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078992"/>
            <a:ext cx="3657600" cy="73152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80160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GADSL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73352"/>
            <a:ext cx="32918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Global Automotive Declarable Substance List. Annual March updates reclassify P / D / D/P substances inside IMDS.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078992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078992"/>
            <a:ext cx="3657600" cy="73152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280160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REACH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673352"/>
            <a:ext cx="32918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SVHC Candidate List and Article 33 duties. IMDS Chemistry Manager flags substances of concern.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24612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246120"/>
            <a:ext cx="3657600" cy="73152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447288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RoHS / TSCA / Prop 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32918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Overlapping restricted-substance regimes that ride on the same composition tree.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324612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3246120"/>
            <a:ext cx="3657600" cy="731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447288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RRR / ISO 22628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840480"/>
            <a:ext cx="32918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Reuse, recycling, recovery quotas for type approval. Needs complete material trees, not just banned lists.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324612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3246120"/>
            <a:ext cx="3657600" cy="731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3447288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PCF / Catena-X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840480"/>
            <a:ext cx="32918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IMDS 15 added Product Carbon Footprint fields (Rec 027). Composition data is becoming a sustainability feed.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349240"/>
            <a:ext cx="1124712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B1F3A"/>
                </a:solidFill>
                <a:latin typeface="Calibri"/>
              </a:rPr>
              <a:t>PPAP connection: most OEMs will not grant production part approval without an accepted MDS for that part number. Bosch-class customers often want the MDS at least six weeks before initial sample inspection. A rejected MDS is a launch delay, not a paperwork inconvenience.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5  / 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01  ·  INTRODUCTION OF IMDS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Anatomy of a Material Data Sheet (MDS)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An MDS is a tree that must add to 100% at every node. Types must not be mixed incorrectly. The tree should mirror the physical product.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81328"/>
            <a:ext cx="106070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481328"/>
            <a:ext cx="128016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09344"/>
            <a:ext cx="10149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Component / Semi-component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920240"/>
            <a:ext cx="101498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The sellable part or a layered construction (coating, plated strip). Carries part number, weight, and recipient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" y="2505456"/>
            <a:ext cx="10287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1832" y="2505456"/>
            <a:ext cx="128016" cy="960120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2633472"/>
            <a:ext cx="9829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Material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2944368"/>
            <a:ext cx="9829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Classification (steel, polymer, elastomer, glass…). Norms/standards, trade name, and recyclate fields.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6424" y="3529584"/>
            <a:ext cx="99669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6424" y="3529584"/>
            <a:ext cx="128016" cy="9601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4" y="3657600"/>
            <a:ext cx="9509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Basic substance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3968496"/>
            <a:ext cx="95097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CAS-identified chemicals to 1 g resolution. GADSL / SVHC flags live here.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71016" y="4553712"/>
            <a:ext cx="96469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71016" y="4553712"/>
            <a:ext cx="128016" cy="960120"/>
          </a:xfrm>
          <a:prstGeom prst="rect">
            <a:avLst/>
          </a:prstGeom>
          <a:solidFill>
            <a:srgbClr val="C9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91056" y="4681728"/>
            <a:ext cx="9189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Recipient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1056" y="4992624"/>
            <a:ext cx="9189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Customer part number, name, drawing, reported vs. calculated weight — this is what the next customer actually sees.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6  / 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01  ·  INTRODUCTION OF IMDS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Data follows the physical supply chain — one hop at a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2606040" cy="1965960"/>
          </a:xfrm>
          <a:prstGeom prst="roundRect">
            <a:avLst>
              <a:gd name="adj" fmla="val 6000"/>
            </a:avLst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53312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Material producer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029968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D5DEE8"/>
                </a:solidFill>
                <a:latin typeface="Calibri"/>
              </a:rPr>
              <a:t>Published or proposed material MDS</a:t>
            </a:r>
          </a:p>
        </p:txBody>
      </p:sp>
      <p:sp>
        <p:nvSpPr>
          <p:cNvPr id="10" name="Chevron 9"/>
          <p:cNvSpPr/>
          <p:nvPr/>
        </p:nvSpPr>
        <p:spPr>
          <a:xfrm>
            <a:off x="3081528" y="1874519"/>
            <a:ext cx="347472" cy="292608"/>
          </a:xfrm>
          <a:prstGeom prst="chevron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170432"/>
            <a:ext cx="2606040" cy="1965960"/>
          </a:xfrm>
          <a:prstGeom prst="roundRect">
            <a:avLst>
              <a:gd name="adj" fmla="val 6000"/>
            </a:avLst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353312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Tier 3 /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029968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D5DEE8"/>
                </a:solidFill>
                <a:latin typeface="Calibri"/>
              </a:rPr>
              <a:t>Accept child MDS  ·  Build component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6007608" y="1874519"/>
            <a:ext cx="347472" cy="292608"/>
          </a:xfrm>
          <a:prstGeom prst="chevron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1170432"/>
            <a:ext cx="2606040" cy="1965960"/>
          </a:xfrm>
          <a:prstGeom prst="roundRect">
            <a:avLst>
              <a:gd name="adj" fmla="val 6000"/>
            </a:avLst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353312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Tier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029968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D5DEE8"/>
                </a:solidFill>
                <a:latin typeface="Calibri"/>
              </a:rPr>
              <a:t>Accept, assemble  ·  Propose to OEM</a:t>
            </a:r>
          </a:p>
        </p:txBody>
      </p:sp>
      <p:sp>
        <p:nvSpPr>
          <p:cNvPr id="18" name="Chevron 17"/>
          <p:cNvSpPr/>
          <p:nvPr/>
        </p:nvSpPr>
        <p:spPr>
          <a:xfrm>
            <a:off x="8933688" y="1874519"/>
            <a:ext cx="347472" cy="292608"/>
          </a:xfrm>
          <a:prstGeom prst="chevron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81160" y="1170432"/>
            <a:ext cx="2606040" cy="196596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1353312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0888" y="2029968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D5DEE8"/>
                </a:solidFill>
                <a:latin typeface="Calibri"/>
              </a:rPr>
              <a:t>Accept into vehicle  ·  ELV / REACH / RRR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291840"/>
            <a:ext cx="2743200" cy="256032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3438144"/>
            <a:ext cx="2414016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1F3A"/>
                </a:solidFill>
                <a:latin typeface="Calibri"/>
              </a:rPr>
              <a:t>Rule of the hop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3977640"/>
            <a:ext cx="2414016" cy="1691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Each company submits only what it sells to its direct customer. That preserves commercial confidentiality and copies real part flow.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7560" y="3291840"/>
            <a:ext cx="274320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02152" y="3438144"/>
            <a:ext cx="2414016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1F3A"/>
                </a:solidFill>
                <a:latin typeface="Calibri"/>
              </a:rPr>
              <a:t>Accept before reuse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02152" y="3977640"/>
            <a:ext cx="2414016" cy="1691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A received MDS must be viewed and accepted before it can be attached to your own tree and sent onward.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291840"/>
            <a:ext cx="2743200" cy="256032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2512" y="3438144"/>
            <a:ext cx="2414016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1F3A"/>
                </a:solidFill>
                <a:latin typeface="Calibri"/>
              </a:rPr>
              <a:t>Dummy data fails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3977640"/>
            <a:ext cx="2414016" cy="1691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Placeholder or unpublished child nodes are a top OEM rejection reason. The chain is only as strong as the weakest accepted child.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98280" y="3291840"/>
            <a:ext cx="274320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62872" y="3438144"/>
            <a:ext cx="2414016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1F3A"/>
                </a:solidFill>
                <a:latin typeface="Calibri"/>
              </a:rPr>
              <a:t>Directed buy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3977640"/>
            <a:ext cx="2414016" cy="1691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For OEM-directed parts, the lower tier often must Propose to both the OEM and the next-tier manufacturer.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7  / 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02  ·  SUPPLIER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Every mid-tier supplier plays two IMDS roles at 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553212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5532120" cy="502920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5166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As customer of the lower 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5074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Request MDS from sub-suppliers with due dates (MDS Request).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Verify the inbox: new, browsed, in-process, rejected, cancelled.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View every MDS — IMDS requires view before accept or reject.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Check Rec 001, GADSL, weight, tree, and your customer’s overlay.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Accept (irreversible in-browser) or Reject with a usable reason.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Follow up; chase non-responders; do not attach unaccepted children.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78992"/>
            <a:ext cx="553212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078992"/>
            <a:ext cx="5532120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170432"/>
            <a:ext cx="5166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As supplier to the next customer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74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Build the own-part tree from accepted children + in-house materials.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Enter recipient-specific part number, name, and measured weight.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Internally release; run IMDS check; still review OEM-specific rules.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Send (handshake, one customer) or Propose (released, multi-customer).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Forward an accepted MDS only if the originator allowed forwarding.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Watch the outbox: not yet browsed → browsed → accepted / rejected.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8  / 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02  ·  SUPPLIER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The six inbox-to-customer actions that consume the 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36576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16736"/>
            <a:ext cx="384048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316736"/>
            <a:ext cx="2788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Verify inbox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856232"/>
            <a:ext cx="3246120" cy="1508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Filter by date, supplier, status. Separate Open vs Forwarded vs cancelled-by-sender. Triage volume before opening trees.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078992"/>
            <a:ext cx="36576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0560" y="1280160"/>
            <a:ext cx="384048" cy="384048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316736"/>
            <a:ext cx="384048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1316736"/>
            <a:ext cx="2788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View / analyse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1856232"/>
            <a:ext cx="3246120" cy="1508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Mandatory before accept/reject. Walk the tree, compare to drawing/BOM, run Examiner if licensed.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078992"/>
            <a:ext cx="36576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21040" y="1280160"/>
            <a:ext cx="384048" cy="384048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316736"/>
            <a:ext cx="384048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316736"/>
            <a:ext cx="2788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Accept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56232"/>
            <a:ext cx="3246120" cy="1508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Irreversible in the browser. IMDS runs a check; warnings still need a human call. Then the MDS can be attached.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85032"/>
            <a:ext cx="36576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922776"/>
            <a:ext cx="384048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922776"/>
            <a:ext cx="2788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Reject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462272"/>
            <a:ext cx="3246120" cy="1508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Must include a self-explanatory reason. Quality of the reason determines whether the next version comes back clean.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685032"/>
            <a:ext cx="36576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80560" y="3886200"/>
            <a:ext cx="384048" cy="384048"/>
          </a:xfrm>
          <a:prstGeom prst="ellipse">
            <a:avLst/>
          </a:prstGeom>
          <a:solidFill>
            <a:srgbClr val="C9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3922776"/>
            <a:ext cx="384048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922776"/>
            <a:ext cx="2788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Forward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8848" y="4462272"/>
            <a:ext cx="3246120" cy="1508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Only after accept, and only if the creator allowed it. Used for pass-through / directed-buy patterns.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3685032"/>
            <a:ext cx="36576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21040" y="3886200"/>
            <a:ext cx="384048" cy="384048"/>
          </a:xfrm>
          <a:prstGeom prst="ellipse">
            <a:avLst/>
          </a:prstGeom>
          <a:solidFill>
            <a:srgbClr val="C9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3922776"/>
            <a:ext cx="384048" cy="32918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3922776"/>
            <a:ext cx="2788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Propose / Send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462272"/>
            <a:ext cx="3246120" cy="1508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Hand the assembled MDS to the next-level customer. Propose releases the MDS; Send keeps handshake edit mode.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9  / 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02  ·  SUPPLIER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Send vs Propose vs Forward — process choices with version consequences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97280"/>
          <a:ext cx="1133856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246120"/>
                <a:gridCol w="3383280"/>
                <a:gridCol w="3154680"/>
              </a:tblGrid>
              <a:tr h="724988"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Send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Propose</a:t>
                      </a:r>
                    </a:p>
                  </a:txBody>
                  <a:tcPr>
                    <a:solidFill>
                      <a:srgbClr val="C96A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Forward</a:t>
                      </a:r>
                    </a:p>
                  </a:txBody>
                  <a:tcPr>
                    <a:solidFill>
                      <a:srgbClr val="2C5F8A"/>
                    </a:solidFill>
                  </a:tcPr>
                </a:tc>
              </a:tr>
              <a:tr h="724988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0B1F3A"/>
                          </a:solidFill>
                          <a:latin typeface="Calibri"/>
                        </a:rPr>
                        <a:t>Relationship</a:t>
                      </a:r>
                    </a:p>
                  </a:txBody>
                  <a:tcPr>
                    <a:solidFill>
                      <a:srgbClr val="F8F1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One customer (handshake)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One or many customers (one per roof company)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Pass an accepted MDS onward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4988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0B1F3A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Stays .0x until accepted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Goes to next whole number; structure freezes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Does not create a new MDS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</a:tr>
              <a:tr h="724988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0B1F3A"/>
                          </a:solidFill>
                          <a:latin typeface="Calibri"/>
                        </a:rPr>
                        <a:t>If rejected</a:t>
                      </a:r>
                    </a:p>
                  </a:txBody>
                  <a:tcPr>
                    <a:solidFill>
                      <a:srgbClr val="F8F1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Edit the same MDS and resend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Copy / new version for tree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N/A — originator must correct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4988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0B1F3A"/>
                          </a:solidFill>
                          <a:latin typeface="Calibri"/>
                        </a:rPr>
                        <a:t>If accepted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No further tree edits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No further tree edits; recipient data only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You still own attach/reuse rules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</a:tr>
              <a:tr h="724988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0B1F3A"/>
                          </a:solidFill>
                          <a:latin typeface="Calibri"/>
                        </a:rPr>
                        <a:t>Typical use</a:t>
                      </a:r>
                    </a:p>
                  </a:txBody>
                  <a:tcPr>
                    <a:solidFill>
                      <a:srgbClr val="F8F1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Single-customer development parts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Standard parts sold to several OEMs; directed buy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When creator set “forwarding allowed”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4992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0B1F3A"/>
                          </a:solidFill>
                          <a:latin typeface="Calibri"/>
                        </a:rPr>
                        <a:t>Watch-out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Need a copy to send to a second customer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Mercedes-Benz rejects Send (must Propose, internally released)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Forwarding to MBAG is expected to be allowed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10  / 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02  ·  SUPPLIER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What a reviewer actually checks before accept or reject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365760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3657600" cy="502920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32918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IMDS / Rec 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246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Tree mirrors the physical part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Node types legal at each level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100% composition; 10% wildcard cap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From/To ranges within Rec 001 bounds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Names describe what the node is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No errors on IMDS Check (warnings judged)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078992"/>
            <a:ext cx="365760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078992"/>
            <a:ext cx="3657600" cy="502920"/>
          </a:xfrm>
          <a:prstGeom prst="rect">
            <a:avLst/>
          </a:prstGeom>
          <a:solidFill>
            <a:srgbClr val="C9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170432"/>
            <a:ext cx="32918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Substance / legal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1783080"/>
            <a:ext cx="3246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GADSL P / D / D/P vs. current list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ELV heavy-metal application codes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REACH SVHC presence and duty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Polymer part marking where required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Recyclate / chemical process fields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Expired or invalid application codes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078992"/>
            <a:ext cx="365760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078992"/>
            <a:ext cx="3657600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170432"/>
            <a:ext cx="32918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Customer overlay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1783080"/>
            <a:ext cx="3246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Customer part number and naming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Measured vs. calculated weight window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OEM-specific material classifications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Correct org unit / plant recipient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No published MDS where forbidden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3A4758"/>
                </a:solidFill>
                <a:latin typeface="Calibri"/>
              </a:rPr>
              <a:t>▸  PCF / Rec 027 if the OEM now asks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11  / 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03  ·  DAILY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 specialist’s day is a queue, not a project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3A4758"/>
                </a:solidFill>
                <a:latin typeface="Calibri"/>
              </a:rPr>
              <a:t>Illustrative day in the life of one IMDS FTE at a mid-size Tier-1 / Tier-2. Volume scales; the mix of work does not.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554480"/>
            <a:ext cx="1874519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554480"/>
            <a:ext cx="1874519" cy="658368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627632"/>
            <a:ext cx="17373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08:00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847088"/>
            <a:ext cx="17373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Inbox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2377440"/>
            <a:ext cx="1664208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Open received list. Filter not-yet-browsed. Flag aging and VIP OEM parts.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68296" y="1554480"/>
            <a:ext cx="1874519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68296" y="1554480"/>
            <a:ext cx="1874519" cy="65836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1627632"/>
            <a:ext cx="17373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09:00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1448" y="1847088"/>
            <a:ext cx="17373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Deep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78024" y="2377440"/>
            <a:ext cx="1664208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View trees. BOM/drawing check. Examiner profile. Decide accept vs. reject.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1554480"/>
            <a:ext cx="1874519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5112" y="1554480"/>
            <a:ext cx="1874519" cy="658368"/>
          </a:xfrm>
          <a:prstGeom prst="rect">
            <a:avLst/>
          </a:prstGeom>
          <a:solidFill>
            <a:srgbClr val="B4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8264" y="1627632"/>
            <a:ext cx="17373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11:30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8264" y="1847088"/>
            <a:ext cx="17373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Reject &amp; coach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377440"/>
            <a:ext cx="1664208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Write reasons. Email/phone high-risk suppliers. Log lessons.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1554480"/>
            <a:ext cx="1874519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1928" y="1554480"/>
            <a:ext cx="1874519" cy="65836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1627632"/>
            <a:ext cx="17373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13:00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1847088"/>
            <a:ext cx="17373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Assemble own MDS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6" y="2377440"/>
            <a:ext cx="1664208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Attach accepted children. Weights. Recipient data. Internal release.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38744" y="1554480"/>
            <a:ext cx="1874519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38744" y="1554480"/>
            <a:ext cx="1874519" cy="658368"/>
          </a:xfrm>
          <a:prstGeom prst="rect">
            <a:avLst/>
          </a:prstGeom>
          <a:solidFill>
            <a:srgbClr val="C9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1896" y="1627632"/>
            <a:ext cx="17373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15:00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1896" y="1847088"/>
            <a:ext cx="17373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Propose / send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8472" y="2377440"/>
            <a:ext cx="1664208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Next-level customer. Outbox status. Resubmit yesterday’s rejects.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5560" y="1554480"/>
            <a:ext cx="1874519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95560" y="1554480"/>
            <a:ext cx="1874519" cy="65836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1627632"/>
            <a:ext cx="17373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B1F3A"/>
                </a:solidFill>
                <a:latin typeface="Calibri"/>
              </a:rPr>
              <a:t>16:30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68712" y="1847088"/>
            <a:ext cx="17373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B1F3A"/>
                </a:solidFill>
                <a:latin typeface="Calibri"/>
              </a:rPr>
              <a:t>Chase &amp; 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05288" y="2377440"/>
            <a:ext cx="1664208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MDS Requests overdue. KPI snapshot. GADSL / rule-change scan.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B1F3A"/>
                </a:solidFill>
                <a:latin typeface="Calibri"/>
              </a:rPr>
              <a:t>Interrupt-driven work: a customer rejection at 10:00 jumps the queue. Agentic design must support interruption, not only batch overnight scoring.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12  / 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03  ·  DAILY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Illustrative time-on-task model — one FTE, 8-hour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76656"/>
            <a:ext cx="112471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5D0DC"/>
                </a:solidFill>
                <a:latin typeface="Calibri"/>
              </a:rPr>
              <a:t>Built from process steps in IMDS receive/propose guidance plus published KPI practice (APA). Not a plant-measured study. Recalibrate with your volume.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298448"/>
          <a:ext cx="6537960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0" y="1298448"/>
            <a:ext cx="49377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B1F3A"/>
                </a:solidFill>
                <a:latin typeface="Calibri"/>
              </a:rPr>
              <a:t>Where the minutes 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591056"/>
            <a:ext cx="4892040" cy="62179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645920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B1F3A"/>
                </a:solidFill>
                <a:latin typeface="Calibri"/>
              </a:rPr>
              <a:t>Inbox verify / triage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1883664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A7584"/>
                </a:solidFill>
                <a:latin typeface="Calibri"/>
              </a:rPr>
              <a:t>1–2 min × 40–60 MDS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1755648"/>
            <a:ext cx="1691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6E"/>
                </a:solidFill>
                <a:latin typeface="Calibri"/>
              </a:rPr>
              <a:t>45–90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2249424"/>
            <a:ext cx="4892040" cy="62179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0" y="2304288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B1F3A"/>
                </a:solidFill>
                <a:latin typeface="Calibri"/>
              </a:rPr>
              <a:t>View + Rec 001 / OEM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2542032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A7584"/>
                </a:solidFill>
                <a:latin typeface="Calibri"/>
              </a:rPr>
              <a:t>8–20 min simple; 30–60 complex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2414016"/>
            <a:ext cx="1691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6E"/>
                </a:solidFill>
                <a:latin typeface="Calibri"/>
              </a:rPr>
              <a:t>3–5 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2907792"/>
            <a:ext cx="4892040" cy="62179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5160" y="2962656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B1F3A"/>
                </a:solidFill>
                <a:latin typeface="Calibri"/>
              </a:rPr>
              <a:t>Accept after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3200400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A7584"/>
                </a:solidFill>
                <a:latin typeface="Calibri"/>
              </a:rPr>
              <a:t>1–3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3072384"/>
            <a:ext cx="1691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6E"/>
                </a:solidFill>
                <a:latin typeface="Calibri"/>
              </a:rPr>
              <a:t>20–40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3566160"/>
            <a:ext cx="4892040" cy="62179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3621024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B1F3A"/>
                </a:solidFill>
                <a:latin typeface="Calibri"/>
              </a:rPr>
              <a:t>Reject + usable reason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3858768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A7584"/>
                </a:solidFill>
                <a:latin typeface="Calibri"/>
              </a:rPr>
              <a:t>5–15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3730752"/>
            <a:ext cx="1691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6E"/>
                </a:solidFill>
                <a:latin typeface="Calibri"/>
              </a:rPr>
              <a:t>40–90 min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4224528"/>
            <a:ext cx="4892040" cy="62179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5160" y="4279392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B1F3A"/>
                </a:solidFill>
                <a:latin typeface="Calibri"/>
              </a:rPr>
              <a:t>Forward accepted MDS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4517136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A7584"/>
                </a:solidFill>
                <a:latin typeface="Calibri"/>
              </a:rPr>
              <a:t>2–5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4389120"/>
            <a:ext cx="1691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6E"/>
                </a:solidFill>
                <a:latin typeface="Calibri"/>
              </a:rPr>
              <a:t>15–45 min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4882896"/>
            <a:ext cx="4892040" cy="62179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60" y="4937760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B1F3A"/>
                </a:solidFill>
                <a:latin typeface="Calibri"/>
              </a:rPr>
              <a:t>Assemble + propose next customer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5175504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A7584"/>
                </a:solidFill>
                <a:latin typeface="Calibri"/>
              </a:rPr>
              <a:t>20–90 min / MDS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5047488"/>
            <a:ext cx="1691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6E"/>
                </a:solidFill>
                <a:latin typeface="Calibri"/>
              </a:rPr>
              <a:t>2–4 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5541264"/>
            <a:ext cx="4892040" cy="621792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60" y="5596128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B1F3A"/>
                </a:solidFill>
                <a:latin typeface="Calibri"/>
              </a:rPr>
              <a:t>Supplier / OEM follow-up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5833872"/>
            <a:ext cx="3017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A7584"/>
                </a:solidFill>
                <a:latin typeface="Calibri"/>
              </a:rPr>
              <a:t>continuous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5705856"/>
            <a:ext cx="1691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6E"/>
                </a:solidFill>
                <a:latin typeface="Calibri"/>
              </a:rPr>
              <a:t>45–90 min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13  / 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03  ·  DAILY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Rejection loops, not first-pass minutes, dominate elapsed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1554480" cy="502920"/>
          </a:xfrm>
          <a:prstGeom prst="roundRect">
            <a:avLst>
              <a:gd name="adj" fmla="val 8000"/>
            </a:avLst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16152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Submit</a:t>
            </a:r>
          </a:p>
        </p:txBody>
      </p:sp>
      <p:sp>
        <p:nvSpPr>
          <p:cNvPr id="9" name="Chevron 8"/>
          <p:cNvSpPr/>
          <p:nvPr/>
        </p:nvSpPr>
        <p:spPr>
          <a:xfrm>
            <a:off x="2075688" y="1243584"/>
            <a:ext cx="292608" cy="292608"/>
          </a:xfrm>
          <a:prstGeom prst="chevron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23160" y="1143000"/>
            <a:ext cx="1554480" cy="5029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1216152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3995928" y="1243584"/>
            <a:ext cx="292608" cy="292608"/>
          </a:xfrm>
          <a:prstGeom prst="chevron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1143000"/>
            <a:ext cx="1554480" cy="502920"/>
          </a:xfrm>
          <a:prstGeom prst="roundRect">
            <a:avLst>
              <a:gd name="adj" fmla="val 8000"/>
            </a:avLst>
          </a:prstGeom>
          <a:solidFill>
            <a:srgbClr val="B4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216152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Reject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6168" y="1243584"/>
            <a:ext cx="292608" cy="292608"/>
          </a:xfrm>
          <a:prstGeom prst="chevron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143000"/>
            <a:ext cx="1554480" cy="502920"/>
          </a:xfrm>
          <a:prstGeom prst="roundRect">
            <a:avLst>
              <a:gd name="adj" fmla="val 8000"/>
            </a:avLst>
          </a:prstGeom>
          <a:solidFill>
            <a:srgbClr val="C9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216152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Fix</a:t>
            </a:r>
          </a:p>
        </p:txBody>
      </p:sp>
      <p:sp>
        <p:nvSpPr>
          <p:cNvPr id="18" name="Chevron 17"/>
          <p:cNvSpPr/>
          <p:nvPr/>
        </p:nvSpPr>
        <p:spPr>
          <a:xfrm>
            <a:off x="7836408" y="1243584"/>
            <a:ext cx="292608" cy="292608"/>
          </a:xfrm>
          <a:prstGeom prst="chevron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83880" y="1143000"/>
            <a:ext cx="1554480" cy="502920"/>
          </a:xfrm>
          <a:prstGeom prst="roundRect">
            <a:avLst>
              <a:gd name="adj" fmla="val 8000"/>
            </a:avLst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216152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Resubmit</a:t>
            </a:r>
          </a:p>
        </p:txBody>
      </p:sp>
      <p:sp>
        <p:nvSpPr>
          <p:cNvPr id="21" name="Chevron 20"/>
          <p:cNvSpPr/>
          <p:nvPr/>
        </p:nvSpPr>
        <p:spPr>
          <a:xfrm>
            <a:off x="9756648" y="1243584"/>
            <a:ext cx="292608" cy="292608"/>
          </a:xfrm>
          <a:prstGeom prst="chevron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104120" y="1143000"/>
            <a:ext cx="1554480" cy="502920"/>
          </a:xfrm>
          <a:prstGeom prst="roundRect">
            <a:avLst>
              <a:gd name="adj" fmla="val 8000"/>
            </a:avLst>
          </a:prstGeom>
          <a:solidFill>
            <a:srgbClr val="1F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4120" y="1216152"/>
            <a:ext cx="1554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Accept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1874519"/>
            <a:ext cx="55321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039111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30–40% → &lt;5%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441447"/>
            <a:ext cx="512064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Industry first-pass rejection vs. pre-validated packages (Certivo, vendor-reported). Each reject restarts specialist time on both sides.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1874519"/>
            <a:ext cx="55321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2039111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Weeks, not minutes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441447"/>
            <a:ext cx="512064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Manual compilation + supplier chase is often 4–6 weeks. Certivo claims OEM-ready packages in ~4 hours when evidence already exists.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977639"/>
            <a:ext cx="55321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142231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PPAP sits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544567"/>
            <a:ext cx="512064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Until accept, the part is not production-authorized. Predco cites ~18 days of PPAP-gate recovery in deployed Tier-1 programs (vendor-reported).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977639"/>
            <a:ext cx="55321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4142231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Reason quality is leverage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4544567"/>
            <a:ext cx="512064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Vague rejects (“please check Rec 001”) create another bad version. Structured, node-level reasons cut a full cycle.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14  / 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03  ·  DAILY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Where human time is high-value vs. where it leaks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57607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109728" cy="1600200"/>
          </a:xfrm>
          <a:prstGeom prst="rect">
            <a:avLst/>
          </a:prstGeom>
          <a:solidFill>
            <a:srgbClr val="1F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43584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Keep humans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2120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Ambiguous material classification, new chemistries, derogations, OEM negotiation, supplier capability coaching, audit testimony.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98064"/>
            <a:ext cx="57607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98064"/>
            <a:ext cx="109728" cy="1600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62656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Assist humans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46704"/>
            <a:ext cx="52120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OEM rule lookup, similar-part comparison, weight roll-up, GADSL delta since last version, draft reject text, outbox aging.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17136"/>
            <a:ext cx="57607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517136"/>
            <a:ext cx="109728" cy="1600200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681728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Automate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65776"/>
            <a:ext cx="52120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Inbox polling, mandatory view/check sequencing, Rec 001 arithmetic, known-error reject packs, status writeback, reminder cadence.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1078992"/>
            <a:ext cx="5257800" cy="50749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128016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4A35A"/>
                </a:solidFill>
                <a:latin typeface="Calibri"/>
              </a:rPr>
              <a:t>Working estimate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691640"/>
            <a:ext cx="484632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40–60% of an IMDS specialist day is pattern-matchable review and administration — the candidate pool for agents.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017520"/>
            <a:ext cx="4800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D5DEE8"/>
                </a:solidFill>
                <a:latin typeface="Calibri"/>
              </a:rPr>
              <a:t>▸  Do not automate accept of novel materials without a human gate.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D5DEE8"/>
                </a:solidFill>
                <a:latin typeface="Calibri"/>
              </a:rPr>
              <a:t>▸  Do automate “this is the same error as last Tuesday.”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D5DEE8"/>
                </a:solidFill>
                <a:latin typeface="Calibri"/>
              </a:rPr>
              <a:t>▸  Measure nodes/minute and first-pass yield, not just MDS count.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D5DEE8"/>
                </a:solidFill>
                <a:latin typeface="Calibri"/>
              </a:rPr>
              <a:t>▸  IMDS 15.2: system pass still needs a review policy.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15  / 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04  ·  AGENTIC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What “agentic” means for MDS review — more than a rules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3A4758"/>
                </a:solidFill>
                <a:latin typeface="Calibri"/>
              </a:rPr>
              <a:t>A rules engine scores a datasheet. An agentic workflow pursues an outcome: clear the inbox to a defined quality bar, with tools, memory, and a human on the exceptions.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10512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Goal-seeking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0280"/>
            <a:ext cx="329184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“Reduce open inbox older than 24 hours without raising wrongful-accept risk,” not “run check profile A.”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64592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810512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Tool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40280"/>
            <a:ext cx="329184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Calls IMDS Plus Examiner, BOM/PLM, OEM rule library, GADSL snapshot, drawing weight, similar-MDS search.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810512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Multi-step plans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240280"/>
            <a:ext cx="329184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Triage → score → draft decision → wait for human on amber → write reject reason → notify supplier → log KPI.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77639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42231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1999"/>
            <a:ext cx="329184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Remembers this supplier’s last five reject modes; prefers their known-good material MDS IDs.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3977639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4142231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Exception routing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571999"/>
            <a:ext cx="329184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Knows when to stop: new SVHC, wildcard &gt; threshold, OEM derogation, conflicting weights.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3977639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142231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Auditability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571999"/>
            <a:ext cx="329184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Every recommend/accept/reject is attributable, replayable, and tied to the rule version in force that day.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16  / 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04  ·  AGENTIC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Target architecture — five agents, one human desk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15568"/>
            <a:ext cx="219456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234440"/>
            <a:ext cx="1975104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1F3A"/>
                </a:solidFill>
                <a:latin typeface="Calibri"/>
              </a:rPr>
              <a:t>Inbox
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920240"/>
            <a:ext cx="1975104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A4758"/>
                </a:solidFill>
                <a:latin typeface="Calibri"/>
              </a:rPr>
              <a:t>Poll received MDS. Deduplicate. Age. OEM SLA. Cluster similar trees.</a:t>
            </a:r>
          </a:p>
        </p:txBody>
      </p:sp>
      <p:sp>
        <p:nvSpPr>
          <p:cNvPr id="10" name="Chevron 9"/>
          <p:cNvSpPr/>
          <p:nvPr/>
        </p:nvSpPr>
        <p:spPr>
          <a:xfrm>
            <a:off x="2542032" y="2148840"/>
            <a:ext cx="201168" cy="256032"/>
          </a:xfrm>
          <a:prstGeom prst="chevron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24912" y="1115568"/>
            <a:ext cx="2194560" cy="260604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234440"/>
            <a:ext cx="1975104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920240"/>
            <a:ext cx="1975104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D5DEE8"/>
                </a:solidFill>
                <a:latin typeface="Calibri"/>
              </a:rPr>
              <a:t>Rec 001 + OEM profile + GADSL + weight. Score green / amber / red. Cite node IDs.</a:t>
            </a:r>
          </a:p>
        </p:txBody>
      </p:sp>
      <p:sp>
        <p:nvSpPr>
          <p:cNvPr id="14" name="Chevron 13"/>
          <p:cNvSpPr/>
          <p:nvPr/>
        </p:nvSpPr>
        <p:spPr>
          <a:xfrm>
            <a:off x="4901184" y="2148840"/>
            <a:ext cx="201168" cy="256032"/>
          </a:xfrm>
          <a:prstGeom prst="chevron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4064" y="1115568"/>
            <a:ext cx="219456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1234440"/>
            <a:ext cx="1975104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1F3A"/>
                </a:solidFill>
                <a:latin typeface="Calibri"/>
              </a:rPr>
              <a:t>Reasoning
writer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1920240"/>
            <a:ext cx="1975104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A4758"/>
                </a:solidFill>
                <a:latin typeface="Calibri"/>
              </a:rPr>
              <a:t>Draft accept note or structured reject. Map to customer rejection codes where they exist.</a:t>
            </a:r>
          </a:p>
        </p:txBody>
      </p:sp>
      <p:sp>
        <p:nvSpPr>
          <p:cNvPr id="18" name="Chevron 17"/>
          <p:cNvSpPr/>
          <p:nvPr/>
        </p:nvSpPr>
        <p:spPr>
          <a:xfrm>
            <a:off x="7260336" y="2148840"/>
            <a:ext cx="201168" cy="256032"/>
          </a:xfrm>
          <a:prstGeom prst="chevron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43216" y="1115568"/>
            <a:ext cx="219456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2944" y="1234440"/>
            <a:ext cx="1975104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1F3A"/>
                </a:solidFill>
                <a:latin typeface="Calibri"/>
              </a:rPr>
              <a:t>Outbound
builder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2944" y="1920240"/>
            <a:ext cx="1975104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A4758"/>
                </a:solidFill>
                <a:latin typeface="Calibri"/>
              </a:rPr>
              <a:t>Propose/send checklist. Recipient-data lint. Version policy (Send vs Propose).</a:t>
            </a:r>
          </a:p>
        </p:txBody>
      </p:sp>
      <p:sp>
        <p:nvSpPr>
          <p:cNvPr id="22" name="Chevron 21"/>
          <p:cNvSpPr/>
          <p:nvPr/>
        </p:nvSpPr>
        <p:spPr>
          <a:xfrm>
            <a:off x="9619488" y="2148840"/>
            <a:ext cx="201168" cy="256032"/>
          </a:xfrm>
          <a:prstGeom prst="chevron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02368" y="1115568"/>
            <a:ext cx="219456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12096" y="1234440"/>
            <a:ext cx="1975104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1F3A"/>
                </a:solidFill>
                <a:latin typeface="Calibri"/>
              </a:rPr>
              <a:t>Supplier
chaser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2096" y="1920240"/>
            <a:ext cx="1975104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A4758"/>
                </a:solidFill>
                <a:latin typeface="Calibri"/>
              </a:rPr>
              <a:t>Overdue requests, multi-lingual follow-up, evidence intake (PDF/Excel/IPC-1752).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8862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995928"/>
            <a:ext cx="23774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6E6E"/>
                </a:solidFill>
                <a:latin typeface="Calibri"/>
              </a:rPr>
              <a:t>Systems of record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050792"/>
            <a:ext cx="83210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IMDS Plus / IMDS Connect  ·  PLM / ERP BOM  ·  drawings &amp; measured weight  ·  OEM guideline library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727448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837176"/>
            <a:ext cx="23774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6E6E"/>
                </a:solidFill>
                <a:latin typeface="Calibri"/>
              </a:rPr>
              <a:t>Policy layer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4892040"/>
            <a:ext cx="83210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Examiner profiles  ·  Rec 001/019/027  ·  per-OEM acceptance packs  ·  auto-accept ceiling  ·  human-mandatory list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68696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678424"/>
            <a:ext cx="23774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6E6E"/>
                </a:solidFill>
                <a:latin typeface="Calibri"/>
              </a:rPr>
              <a:t>Human desk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5733288"/>
            <a:ext cx="83210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Amber queue, novel substances, customer negotiation, wrongful-reject appeals, model evaluation, release of new rules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17  / 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04  ·  AGENTIC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Productivity, risk, and launch value — what to claim internally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365760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61872"/>
            <a:ext cx="347472" cy="347472"/>
          </a:xfrm>
          <a:prstGeom prst="ellipse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98448"/>
            <a:ext cx="34747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B1F3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298448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Throughput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64792"/>
            <a:ext cx="324612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Shift specialists from viewing every node to adjudicating amber cases. Target: 2–3× MDS decisions per FTE without lowering first-pass quality.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078992"/>
            <a:ext cx="365760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34840" y="1261872"/>
            <a:ext cx="347472" cy="347472"/>
          </a:xfrm>
          <a:prstGeom prst="ellipse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298448"/>
            <a:ext cx="34747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1298448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Cycle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764792"/>
            <a:ext cx="324612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Cut wait in “not yet browsed” and rewrite loops. OEM SLAs (e.g. MBAG ~2-day check) become feasible at peak volume.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078992"/>
            <a:ext cx="365760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0" y="1261872"/>
            <a:ext cx="347472" cy="347472"/>
          </a:xfrm>
          <a:prstGeom prst="ellipse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298448"/>
            <a:ext cx="34747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1298448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First-pass yield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1764792"/>
            <a:ext cx="324612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Pre-flight own outbound MDS against the customer’s overlay before Propose. Fewer embarrassing rejects on part number, weight, class.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03320"/>
            <a:ext cx="365760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3886200"/>
            <a:ext cx="347472" cy="347472"/>
          </a:xfrm>
          <a:prstGeom prst="ellipse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922776"/>
            <a:ext cx="34747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922776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Knowledge capture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389120"/>
            <a:ext cx="324612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Encode tribal OEM know-how. Attrition of one senior IMDS user should not freeze PPAP.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60" y="3703320"/>
            <a:ext cx="365760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34840" y="3886200"/>
            <a:ext cx="347472" cy="347472"/>
          </a:xfrm>
          <a:prstGeom prst="ellipse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3922776"/>
            <a:ext cx="34747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B1F3A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22776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Regulatory freshness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3128" y="4389120"/>
            <a:ext cx="324612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When GADSL or IMDS release reclassifies substances, re-score the live portfolio the same week — not at the next OEM reject.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703320"/>
            <a:ext cx="365760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29600" y="3886200"/>
            <a:ext cx="347472" cy="347472"/>
          </a:xfrm>
          <a:prstGeom prst="ellipse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3922776"/>
            <a:ext cx="347472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B1F3A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3922776"/>
            <a:ext cx="2834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Audit &amp; ESG reuse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4389120"/>
            <a:ext cx="324612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Same tree feeds REACH, SCIP, CAMDS, PCF. Agents that keep evidence tidy pay back outside IMDS too.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18  / 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04  ·  AGENTIC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Human-in-the-loop is a product requirement, not a slogan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097280"/>
          <a:ext cx="114300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  <a:gridCol w="3017520"/>
                <a:gridCol w="3108960"/>
              </a:tblGrid>
              <a:tr h="845820"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Decision class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Agent may…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Human must…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0B1F3A"/>
                          </a:solidFill>
                          <a:latin typeface="Calibri"/>
                        </a:rPr>
                        <a:t>Green — known pattern, no warnings, OEM profile pass</a:t>
                      </a:r>
                    </a:p>
                  </a:txBody>
                  <a:tcPr>
                    <a:solidFill>
                      <a:srgbClr val="E5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Recommend accept; optional auto-accept after soak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Spot-audit a sample; set the soak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Mercedes-style hybrid: auto for gross/standard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0B1F3A"/>
                          </a:solidFill>
                          <a:latin typeface="Calibri"/>
                        </a:rPr>
                        <a:t>Amber — warnings, weight near limit, new supplier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Draft decision + evidence pack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Take the accept/reject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IMDS 15.2: checks are incomplete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0B1F3A"/>
                          </a:solidFill>
                          <a:latin typeface="Calibri"/>
                        </a:rPr>
                        <a:t>Red — GADSL P, illegal tree, dummy child, Send vs Propose error</a:t>
                      </a:r>
                    </a:p>
                  </a:txBody>
                  <a:tcPr>
                    <a:solidFill>
                      <a:srgbClr val="E5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Auto-reject with structured reason, or block Propose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Approve new reject templates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Wrongful accept is worse than a fast reject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0B1F3A"/>
                          </a:solidFill>
                          <a:latin typeface="Calibri"/>
                        </a:rPr>
                        <a:t>Novel — new chemistry, derogation, customer dispute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Retrieve similar cases; do not decide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Own the call and the customer conversation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Liability and relationship sit with the company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0B1F3A"/>
                          </a:solidFill>
                          <a:latin typeface="Calibri"/>
                        </a:rPr>
                        <a:t>Policy change — GADSL / Rec / OEM guide update</a:t>
                      </a:r>
                    </a:p>
                  </a:txBody>
                  <a:tcPr>
                    <a:solidFill>
                      <a:srgbClr val="E5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Re-score portfolio; open a change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Release the new rule pack to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3A4758"/>
                          </a:solidFill>
                          <a:latin typeface="Calibri"/>
                        </a:rPr>
                        <a:t>Versioned policy is the real system of record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19  / 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05  ·  MARKET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Start with what DXC already ships — then decide what to add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365760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61872"/>
            <a:ext cx="32461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IMDS Classic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10512"/>
            <a:ext cx="324612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Free browser. View, accept, reject, send, propose, request. Mandatory baseline. Slow for high-volume desks.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078992"/>
            <a:ext cx="365760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261872"/>
            <a:ext cx="32461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IMDS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1810512"/>
            <a:ext cx="324612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Successor to IMDS-a2 (EOL Q2 2026). Web app: Examiner, Inbox Automation, enhanced search, bulk SCIP, dashboards.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078992"/>
            <a:ext cx="365760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261872"/>
            <a:ext cx="32461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Inbox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810512"/>
            <a:ext cx="324612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Applies Examiner profiles on a timer. Can auto-accept with no errors; auto-reject off criteria; copies findings into reject text.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365760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86200"/>
            <a:ext cx="32461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Examiner profiles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434840"/>
            <a:ext cx="324612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Configurable customer-specific checks beyond IMDS Check. This is the seed of an OEM rule library.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60" y="3703320"/>
            <a:ext cx="365760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3886200"/>
            <a:ext cx="32461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IMDS Connect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4434840"/>
            <a:ext cx="324612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XML up/down with PLM/ERP. Status sync. Avoids re-keying. The clean integration path for agents vs. screen scraping.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703320"/>
            <a:ext cx="365760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886200"/>
            <a:ext cx="32461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Chemistry Manager / Where-Used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434840"/>
            <a:ext cx="324612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Substance impact analysis after GADSL or SVHC list moves. Portfolio re-check, not just new parts.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20  / 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05  ·  MARKET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Established compliance platforms — automation without calling it “agents”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112471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109728" cy="1207008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iPoint / Assent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536192"/>
            <a:ext cx="10698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Enterprise IMDS + CAMDS + REACH/RoHS/SCIP. Native IMDS integration, supplier tracking, PCF/Catena-X, customer lists (Ford RSMS, GMW3059). Assent acquired iPoint in 2026, combining AI compliance with IMDS depth. iPCA (iPoint Compliance Agent) is already in training use.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59152"/>
            <a:ext cx="112471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59152"/>
            <a:ext cx="109728" cy="1207008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87168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APA MDS Xpress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16352"/>
            <a:ext cx="10698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BOM gap analysis, Rec 001 validation with generated reject reasons, tree generation from BOM, supplier reminder automation, RRR. Claims up to ~70% less tree-analysis time and ~30% process-cost reduction (vendor-reported).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39312"/>
            <a:ext cx="112471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109728" cy="1207008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67328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Tetra Tech draft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96512"/>
            <a:ext cx="10698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Consulting plus tools: natural-language and image-recognition draft MDS trees from drawings or photos. Speeds supplier engagement for shops that are not IMDS-fluent. Drafts are a starting point, not a signed declaration.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919472"/>
            <a:ext cx="112471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919472"/>
            <a:ext cx="109728" cy="1207008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47488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Managed IMDS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376672"/>
            <a:ext cx="10698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APA, Tetra Tech, imds professional and others still run desks for overflow. Useful as a baseline “cost per MDS” and as a surge valve while software is built. Does not capture knowledge in-house.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21  / 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05  ·  MARKET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AI-native proposals now on the market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553212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5532120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51663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Predco — IMDS declaration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Validates against ~20 OEM rulebooks, REACH, ELV, GADSL, internal lists.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Weight vs. drawing tolerance; structured supplier pushback.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Context AI agents triage exception mail and supplier replies.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Vendor-reported: 1.8% reject rate; −72% cycle; −89% rejects across 12 Tier-1s; ~18 days PPAP recovery; payback &lt;9 months; live in 3–4 weeks.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Treat figures as sales claims until referenced customers confirm.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78992"/>
            <a:ext cx="553212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078992"/>
            <a:ext cx="5532120" cy="457200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170432"/>
            <a:ext cx="51663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Certivo CORA — evidence to MDS package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Campaigns collect declarations in any format/language (PDF, Excel, IPC-1752).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CAS-level extraction (claims 99.2% accuracy) and live GADSL sync.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Portfolio re-score when GADSL 2026-class updates land.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Vendor-reported: 95% supplier response vs. 20–30% manual; 80% less prep labor; 4 hours to OEM-ready vs. 4–6 weeks; rejects 30–40% → &lt;5%.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Strongest if the bottleneck is evidence intake, not only inbox accept.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22  / 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05  ·  MARKET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How the options compare for an IMDS operations desk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56032" y="1051560"/>
          <a:ext cx="116586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783080"/>
                <a:gridCol w="1965960"/>
                <a:gridCol w="1783080"/>
                <a:gridCol w="2011680"/>
                <a:gridCol w="1965960"/>
              </a:tblGrid>
              <a:tr h="5689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IMDS Plus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iPoint / Assent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MDS Xpress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Predco / Certivo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Build agentic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0B1F3A"/>
                          </a:solidFill>
                          <a:latin typeface="Calibri"/>
                        </a:rPr>
                        <a:t>Inbox auto accept/reject</a:t>
                      </a:r>
                    </a:p>
                  </a:txBody>
                  <a:tcPr>
                    <a:solidFill>
                      <a:srgbClr val="F8F1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Yes (Examiner)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Via workflow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Validation aids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Decision-class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Design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0B1F3A"/>
                          </a:solidFill>
                          <a:latin typeface="Calibri"/>
                        </a:rPr>
                        <a:t>OEM rule packs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You configure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Strong libraries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Rec 001 focus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Predco: top-20 OEMs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Must encode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0B1F3A"/>
                          </a:solidFill>
                          <a:latin typeface="Calibri"/>
                        </a:rPr>
                        <a:t>PLM / ERP sync</a:t>
                      </a:r>
                    </a:p>
                  </a:txBody>
                  <a:tcPr>
                    <a:solidFill>
                      <a:srgbClr val="F8F1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Connect (paid)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Native connectors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ERP 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Varies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Use Connect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0B1F3A"/>
                          </a:solidFill>
                          <a:latin typeface="Calibri"/>
                        </a:rPr>
                        <a:t>Supplier evidence AI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Emerging (Assent)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Reminders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Certivo core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Optional agent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0B1F3A"/>
                          </a:solidFill>
                          <a:latin typeface="Calibri"/>
                        </a:rPr>
                        <a:t>Draft trees from BOM/image</a:t>
                      </a:r>
                    </a:p>
                  </a:txBody>
                  <a:tcPr>
                    <a:solidFill>
                      <a:srgbClr val="F8F1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BOM trees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Tetra Tech adjacent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Nice-to-have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0B1F3A"/>
                          </a:solidFill>
                          <a:latin typeface="Calibri"/>
                        </a:rPr>
                        <a:t>Audit trail / versioned policy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Session-level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Enterprise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Operational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Claimed default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Must-have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0B1F3A"/>
                          </a:solidFill>
                          <a:latin typeface="Calibri"/>
                        </a:rPr>
                        <a:t>Time-to-value</a:t>
                      </a:r>
                    </a:p>
                  </a:txBody>
                  <a:tcPr>
                    <a:solidFill>
                      <a:srgbClr val="F8F1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Weeks if licensed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Months (program)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3–4 weeks claimed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Pilot in 1 quarter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0B1F3A"/>
                          </a:solidFill>
                          <a:latin typeface="Calibri"/>
                        </a:rPr>
                        <a:t>Strategic lock-in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DXC standard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IMDS-specific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AI vendor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3A4758"/>
                          </a:solidFill>
                          <a:latin typeface="Calibri"/>
                        </a:rPr>
                        <a:t>IP you own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23  / 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 practical path: official rails + owned agents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36576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3657600" cy="6400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32918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4A35A"/>
                </a:solidFill>
                <a:latin typeface="Calibri"/>
              </a:rPr>
              <a:t>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53312"/>
            <a:ext cx="32918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Stabilize the desk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874519"/>
            <a:ext cx="3246120" cy="2926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Finish IMDS-a2 → Plus. Turn on Examiner and Inbox Automation for the no-brainer rejects. Instrument KPIs: MDS/day, first-pass yield, days to accept, reject-code mix, nodes/minute.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078992"/>
            <a:ext cx="36576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78992"/>
            <a:ext cx="3657600" cy="640080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170432"/>
            <a:ext cx="32918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4A35A"/>
                </a:solidFill>
                <a:latin typeface="Calibri"/>
              </a:rP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1353312"/>
            <a:ext cx="32918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Pilot a Reviewer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874519"/>
            <a:ext cx="3246120" cy="2926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Shadow mode on inbound MDS. Score + cited reasons only. No auto-accept. Gold-label 200 historical decisions. Measure precision/recall vs. specialists.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078992"/>
            <a:ext cx="36576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078992"/>
            <a:ext cx="3657600" cy="640080"/>
          </a:xfrm>
          <a:prstGeom prst="rect">
            <a:avLst/>
          </a:prstGeom>
          <a:solidFill>
            <a:srgbClr val="C9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170432"/>
            <a:ext cx="329184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4A35A"/>
                </a:solidFill>
                <a:latin typeface="Calibri"/>
              </a:rPr>
              <a:t>THEN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353312"/>
            <a:ext cx="32918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Close the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1874519"/>
            <a:ext cx="3246120" cy="2926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Structured reject text to suppliers. Outbound pre-flight before Propose. Human mandatory list. Optional Connect for status writeback. Revisit buy vs. build vs. Predco/Certivo bake-off.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193792"/>
            <a:ext cx="11247120" cy="1078992"/>
          </a:xfrm>
          <a:prstGeom prst="roundRect">
            <a:avLst>
              <a:gd name="adj" fmla="val 6000"/>
            </a:avLst>
          </a:prstGeom>
          <a:solidFill>
            <a:srgbClr val="F8F1E0"/>
          </a:solidFill>
          <a:ln w="12700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321808"/>
            <a:ext cx="10789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1F3A"/>
                </a:solidFill>
                <a:latin typeface="Calibri"/>
              </a:rPr>
              <a:t>Do not wait for a perfect platform. The scarce asset is labeled decisions and OEM-rule packs. Every week of unaudited inbox work is training data we are throwing away. Start capturing specialist accept/reject with reasons now.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24  / 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 concrete work plan for the IMDS desk and digital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365760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365760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70432"/>
            <a:ext cx="32918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4A35A"/>
                </a:solidFill>
                <a:latin typeface="Calibri"/>
              </a:rPr>
              <a:t>Days 1–30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89888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Measure &amp; 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Diary study of inbox actions for 2 weeks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License/configure IMDS Plus Examiner profiles per top 3 OEMs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Define green/amber/red policy with Quality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Export 12 months of accept/reject + reasons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078992"/>
            <a:ext cx="365760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78992"/>
            <a:ext cx="365760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170432"/>
            <a:ext cx="32918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4A35A"/>
                </a:solidFill>
                <a:latin typeface="Calibri"/>
              </a:rPr>
              <a:t>Days 31–60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1389888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Shadow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01168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Rule baseline: Rec 001 arithmetic + OEM naming/weight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LLM-assisted reason drafts, human send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Side-by-side UI next to the tree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Weekly precision review with two specialists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078992"/>
            <a:ext cx="365760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078992"/>
            <a:ext cx="3657600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170432"/>
            <a:ext cx="32918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4A35A"/>
                </a:solidFill>
                <a:latin typeface="Calibri"/>
              </a:rPr>
              <a:t>Days 61–90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389888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Decide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01168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Go/no-go on auto-reject for 3 red patterns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Bake-off shortlist: stay with Plus-only, add iPoint, trial Predco or Certivo, or continue build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Business case: FTE hours, PPAP days, reject yield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A4758"/>
                </a:solidFill>
                <a:latin typeface="Calibri"/>
              </a:rPr>
              <a:t>▸  Security/legal review of IMDS Connect + model logs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25  / 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14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C4A35A"/>
                </a:solidFill>
                <a:latin typeface="Calibri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Sources and how to read the numbers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78992"/>
            <a:ext cx="553212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51663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Primary 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▸  IMDS public pages (mdsystem.com): product definition, Plus, Inbox Automation, Connect, Send/Propose, receive tips, Rec 001 context.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▸  IMDS 15.2 (Jan 2026): successful check does not equal full compliance; further manual review may be required.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▸  Mercedes-Benz supplier MDS-check note (2025): hybrid auto + manual; typical check ~2 days; Propose required; forwarding should be allowed.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▸  AIAG / Wikipedia / iPoint IMDS guides: history, PPAP link, GADSL, ~50–100+ OEMs depending on source year.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▸  APA Engineering IMDS KPI guidance: MDS/day, nodes/minute, reject-reason taxonomy, cost per MDS.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78992"/>
            <a:ext cx="5532120" cy="521208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 w="12700">
            <a:solidFill>
              <a:srgbClr val="DE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234440"/>
            <a:ext cx="51663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Caveats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▸  Vendor performance figures (Certivo, Predco, APA, Tetra Tech) are published marketing metrics. Use as directional, not as our ROI model.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▸  Daily time model on slide 13 is constructed from process steps and typical desk mix. Replace with a measured diary before budgeting FTE savings.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▸  CAMDS is the China parallel system; many global suppliers must run both.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▸  Rebuild this file: python scripts/build_imds_presentation.py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3A4758"/>
                </a:solidFill>
                <a:latin typeface="Calibri"/>
              </a:rPr>
              <a:t>▸  Deck generated for Microsoft PowerPoint, widescreen 16:9.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127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675120"/>
            <a:ext cx="86868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A8B2BE"/>
                </a:solidFill>
                <a:latin typeface="Calibri"/>
              </a:rPr>
              <a:t>Agentic MDS  ·  IMDS productivity briefing  ·  August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75120"/>
            <a:ext cx="1371600" cy="16459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6A4"/>
                </a:solidFill>
                <a:latin typeface="Calibri"/>
              </a:rPr>
              <a:t>26  / 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