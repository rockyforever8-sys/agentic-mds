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1 · Executive Opening  (0:00–1:00)</a:t>
            </a:r>
          </a:p>
          <a:p>
            <a:r>
              <a:t>SLIDE INTENT: Title with project name, presenter, and date. Hook first.</a:t>
            </a:r>
          </a:p>
          <a:p>
            <a:r>
              <a:t>SPOKEN HOOK: Fifty MDS land every day. Five thousand sit open. IMDS is a production gate — not a filing cabinet.</a:t>
            </a:r>
          </a:p>
          <a:p>
            <a:r>
              <a:t>GOAL: Capture attention and establish urgency.</a:t>
            </a:r>
          </a:p>
          <a:p/>
          <a:p>
            <a:r>
              <a:t>Do not walk a long agenda. Read the statistic once, then the ask once. Names in the room: Operations cares about PPAP, Supply Chain about the 5,000 open, Quality about wrongful-accept, Finance about payback. You are Wong, Supplier Quality Director / data scientist at Johnson Electric International Limited. This is a decision briefing, not a training class. After the title, the storyboard is the 60-second map of the next 20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STORYBOARD (beats 1–4). This slide is mandatory so a presenter can run the room. If the VP is already leaning in, spend 20 seconds: “Eight beats — pain, solution, impact, money, roadmap, proof, ask.” Then go. Do not teach IMDS UI here. Goal of the storyboard: keep you on the C-suite spine (ROI, risk, competitiveness, governance) and off engineering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STORYBOARD (beats 5–8). Timing target is 20 minutes including questions. Budget is internal-program hours, not a software RFP. Case studies are external / illustrative — say that out loud. CTA: “Invest in Agentic AI Today” and the 20-MDS pilot plus budget line. Executive sponsorship and stakeholder alignment — never military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2 · Pain Points  (1:00–4:00)</a:t>
            </a:r>
          </a:p>
          <a:p>
            <a:r>
              <a:t>SLIDE INTENT: Visual of inefficiencies, missed same-day accept, rising launch cost.</a:t>
            </a:r>
          </a:p>
          <a:p>
            <a:r>
              <a:t>SPOKEN HOOK: Inaction is already on the P&amp;L: specialist hours, PPAP delay, OEM scorecard exposure.</a:t>
            </a:r>
          </a:p>
          <a:p>
            <a:r>
              <a:t>GOAL: Make the audience feel the cost of inaction.</a:t>
            </a:r>
          </a:p>
          <a:p/>
          <a:p>
            <a:r>
              <a:t>Four numbers, then one sentence per executive priority. Do not debate the 5,000 — it is why we are here. If challenged on “we already have IMDS,” confirm: classic browser only; no IMDS Plus, no Examiner, no Connect. HR in the room: this is not a reduction program. Quality: Rec 001 is the floor; GM / VW / Ford overlays are why first-pass dies. Operations: zero PPAP delay is the target, not a slogan.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3 · Proposed Solution  (4:00–8:00)</a:t>
            </a:r>
          </a:p>
          <a:p>
            <a:r>
              <a:t>SLIDE INTENT: Diagram: ingest received MDS → orchestrate Check → PASS/FAIL output.</a:t>
            </a:r>
          </a:p>
          <a:p>
            <a:r>
              <a:t>SPOKEN HOOK: The live agent already runs our IMDS account: PASS accept-forward-propose; FAIL reject.</a:t>
            </a:r>
          </a:p>
          <a:p>
            <a:r>
              <a:t>GOAL: Position AI as a strategic enabler, not just a technical tool.</a:t>
            </a:r>
          </a:p>
          <a:p/>
          <a:p>
            <a:r>
              <a:t>Walk left to right: ingest, orchestrate, output. Then the fork. Measurable outcomes: a 20-MDS batch decided the same session; PASS rows land at 9994 and 293798; FAIL rows are rejected, not left aging. Position this as a strategic production-gate control, not “we wrote a script.” If asked about credentials: Colab Secrets only — never in git. If asked about contact: Theresa is preferred; any real Supplier Data contact is allowed so a missing name does not stall Propose.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3 · Proposed Solution  (4:00–8:00)</a:t>
            </a:r>
          </a:p>
          <a:p>
            <a:r>
              <a:t>SLIDE INTENT: Diagram: ingest received MDS → orchestrate Check → PASS/FAIL output.</a:t>
            </a:r>
          </a:p>
          <a:p>
            <a:r>
              <a:t>SPOKEN HOOK: The live agent already runs our IMDS account: PASS accept-forward-propose; FAIL reject.</a:t>
            </a:r>
          </a:p>
          <a:p>
            <a:r>
              <a:t>GOAL: Position AI as a strategic enabler, not just a technical tool.</a:t>
            </a:r>
          </a:p>
          <a:p/>
          <a:p>
            <a:r>
              <a:t>This is still Beat 3. C-suite translation: the agent is not a lab toy. Network resume, leftover-sheet handling, and the save-changes rule are how we keep a 20-row pilot from corrupting IDs. Own-account only — our credentials, our inbox. No other company’s IMDS data. Emergency halt (governance halt) is the control if Quality wants auto-accept paused. Do not open a DXC commercial discussion unless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4 · Business Impact  (8:00–10:30)</a:t>
            </a:r>
          </a:p>
          <a:p>
            <a:r>
              <a:t>SLIDE INTENT: Before/after: manual inbox versus the agentic workflow.</a:t>
            </a:r>
          </a:p>
          <a:p>
            <a:r>
              <a:t>SPOKEN HOOK: Hours return to specialists. MDS stop stalling PPAP. Decisions are logged.</a:t>
            </a:r>
          </a:p>
          <a:p>
            <a:r>
              <a:t>GOAL: Show tangible transformation.</a:t>
            </a:r>
          </a:p>
          <a:p/>
          <a:p>
            <a:r>
              <a:t>Read three rows only if short on time: Inbox, PASS path, PPAP. Efficiency: clicks leave the specialist. Cost: hours and launch delay. New capacity (not a claimed new revenue stream we have not booked): specialists become OEM-rule owners and supplier coaches — the work that actually protects customer scorecards. Do not invent a Johnson Electric dollar savings figure. The 50/day and 5,000 open are our desk facts; keep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5 · Budget &amp; ROI  (10:30–13:30)</a:t>
            </a:r>
          </a:p>
          <a:p>
            <a:r>
              <a:t>SLIDE INTENT: Implementation, training, maintenance. Payback window.</a:t>
            </a:r>
          </a:p>
          <a:p>
            <a:r>
              <a:t>SPOKEN HOOK: Internal effort, not a software RFP. Pilot hours pay back inside one quarter.</a:t>
            </a:r>
          </a:p>
          <a:p>
            <a:r>
              <a:t>GOAL: Demonstrate financial viability and risk mitigation.</a:t>
            </a:r>
          </a:p>
          <a:p/>
          <a:p>
            <a:r>
              <a:t>Emphasize: this is own effort, not a purchase. Software is $0. Implementation is operationalizing an agent that already runs. Training is role shift, not a classroom tour. Maintenance is hours per month, not a platform contract. Payback: say “inside one quarter on hours alone” and “one PPAP delay exceeds the pilot.” If Finance wants a dollar ROI, offer to price the 12.5 hours/day at our loaded specialist rate after the meeting — do not invent a figure on the slide. Risk mitigation: emergency halt, sample audit, own-account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6 · Implementation Roadmap  (13:30–15:30)</a:t>
            </a:r>
          </a:p>
          <a:p>
            <a:r>
              <a:t>SLIDE INTENT: Timeline: Pilot → Scale → Optimize, with governance.</a:t>
            </a:r>
          </a:p>
          <a:p>
            <a:r>
              <a:t>SPOKEN HOOK: Controlled rollout: 20 MDS, logged decisions, executive sponsorship, emergency halt.</a:t>
            </a:r>
          </a:p>
          <a:p>
            <a:r>
              <a:t>GOAL: Build confidence in execution.</a:t>
            </a:r>
          </a:p>
          <a:p/>
          <a:p>
            <a:r>
              <a:t>Stress controlled rollout. Pilot is 20 MDS, not the 5,000. Scale is new inbound. Optimize is when auto-accept is earned. Governance: executive sponsorship, emergency halt, sample audit, own-account only. If Legal flinches at auto-accept, keep it in Optimize and run FAIL-reject + logged PASS in Pilot. HR: say the desk does not disappear — the job becomes OEM-rule ownership.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7 · Case Studies  (15:30–17:30)</a:t>
            </a:r>
          </a:p>
          <a:p>
            <a:r>
              <a:t>SLIDE INTENT: External automotive / agentic-automation proof, labeled illustrative.</a:t>
            </a:r>
          </a:p>
          <a:p>
            <a:r>
              <a:t>SPOKEN HOOK: Peers already automated IMDS-class work. We keep OEM knowledge in-house.</a:t>
            </a:r>
          </a:p>
          <a:p>
            <a:r>
              <a:t>GOAL: Provide credibility and reduce perceived risk.</a:t>
            </a:r>
          </a:p>
          <a:p/>
          <a:p>
            <a:r>
              <a:t>Say “external / illustrative” before any number. Predco and Certivo are vendor-reported; they reduce perceived risk, they are not our scorecard. If someone says “just buy Plus,” answer: Plus is a paid Examiner; it does not encode GMW3059 / VW 91101 / Ford RSMS for us, and we have no software budget. Build captures the rule packs we already apply by hand. Productivity analog is enough; do not claim a JE customer-satisfaction or revenue-lift number we have not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8 · Call to Action  (17:30–20:00)</a:t>
            </a:r>
          </a:p>
          <a:p>
            <a:r>
              <a:t>SLIDE INTENT: Bold line: Invest in Agentic AI Today. Specific ask.</a:t>
            </a:r>
          </a:p>
          <a:p>
            <a:r>
              <a:t>SPOKEN HOOK: Approve the 20-MDS pilot and the internal budget line this week.</a:t>
            </a:r>
          </a:p>
          <a:p>
            <a:r>
              <a:t>GOAL: Drive decision and secure buy-in.</a:t>
            </a:r>
          </a:p>
          <a:p/>
          <a:p>
            <a:r>
              <a:t>Read the bold line exactly: “Invest in Agentic AI Today.” Then the specific ask: approve the 20-MDS pilot and the budget line. Walk the four boxes. Stop. Leave silence so VP/GM can endorse. If they ask budget, say own effort only — 60 / 16 / 4 hours. If they ask headcount, say role redesign not reduction. If they ask buy vs build, say build; vendors are evidence. Do not add a new idea after the last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— do not present in the 20-minute slot unless someone asks for definitions. Directed-buy example if asked: OEM nominates a sub-supplier; they Propose to the OEM and to us. Dummy-child follow-up: Supply chain emails sub-suppliers with missing accepted child MDS. Orphan decision: accept/reject with no rule-pack version on record. Sources: public.mdsystem.com OEM guides, GMW3059, VW 91101, Ford RSMS. Live agent: imds_agent_v2.py; Colab Secrets IMDS_USERNAME, IMDS_PASSWORD, OTP_SECRET.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4A35A"/>
                </a:solidFill>
                <a:latin typeface="Calibri"/>
              </a:rPr>
              <a:t>INTERNAL CONFIDENTIAL  ·  C-SUITE DECISION BRIEFING  ·  27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1064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4A35A"/>
                </a:solidFill>
                <a:latin typeface="Calibri"/>
              </a:rPr>
              <a:t>IMDS AGENTIC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10642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Own the IMDS desk.
Same-day accept. Zero PPAP delay.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08813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5D0DC"/>
                </a:solidFill>
                <a:latin typeface="Calibri"/>
              </a:rPr>
              <a:t>50 MDS land in our inbox every working day. ~5,000 sit open — about 100 days of intake if nothing new arrived. Every one is a production-authorization document, not paperwork.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3756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4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3419856"/>
            <a:ext cx="2441448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4A35A"/>
                </a:solidFill>
                <a:latin typeface="Calibri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675887"/>
            <a:ext cx="2441448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Wong  ·  Kam Yuen Wong
Supplier Quality Director / Data Scientist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33756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4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2736" y="3419856"/>
            <a:ext cx="2441448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4A35A"/>
                </a:solidFill>
                <a:latin typeface="Calibri"/>
              </a:rPr>
              <a:t>COMPANY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3675887"/>
            <a:ext cx="2441448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Johnson Electric
International Limited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33756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4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3419856"/>
            <a:ext cx="2441448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4A35A"/>
                </a:solidFill>
                <a:latin typeface="Calibri"/>
              </a:rPr>
              <a:t>AUDIENCE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3675887"/>
            <a:ext cx="2441448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C-suite  ·  VP / GM
Ops, Supply Chain, Quality, Finance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33756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4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2016" y="3419856"/>
            <a:ext cx="2441448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4A35A"/>
                </a:solidFill>
                <a:latin typeface="Calibri"/>
              </a:rPr>
              <a:t>TODAY’S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3675887"/>
            <a:ext cx="2441448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Thursday
27 August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37760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4A35A"/>
                </a:solidFill>
                <a:latin typeface="Calibri"/>
              </a:rPr>
              <a:t>TODAY’S 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12080"/>
            <a:ext cx="1097280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Invest in Agentic AI Today. Approve the 20-MDS live pilot and the internal budget line (implementation, training, maintenance). Name Supplier Quality as accountable owner, with executive sponsorship and a governance halt.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14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471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4A35A"/>
                </a:solidFill>
                <a:latin typeface="Calibri"/>
              </a:rPr>
              <a:t>STORYBOARD  ·  PRESENTER RUN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Eight beats. This is how we run the 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76656"/>
            <a:ext cx="112471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5D0DC"/>
                </a:solidFill>
                <a:latin typeface="Calibri"/>
              </a:rPr>
              <a:t>Use as a 60-second agenda, or skip and jump to Pain Points. Spoken hooks are on every notes page.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298448"/>
          <a:ext cx="11429999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874519"/>
                <a:gridCol w="2880360"/>
                <a:gridCol w="3520440"/>
                <a:gridCol w="2651760"/>
              </a:tblGrid>
              <a:tr h="9966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Beat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Slide intent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Spoken hook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9966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Calibri"/>
                        </a:rPr>
                        <a:t>Executive Opening</a:t>
                      </a:r>
                    </a:p>
                  </a:txBody>
                  <a:tcPr>
                    <a:solidFill>
                      <a:srgbClr val="F8F1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Title with project name, presenter, and date. Hook first.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Fifty MDS land every day. Five thousand sit open. IMDS is a production gate — not a filing cabinet.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Capture attention and establish urgency.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Calibri"/>
                        </a:rPr>
                        <a:t>Pain Points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Visual of inefficiencies, missed same-day accept, rising launch cost.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Inaction is already on the P&amp;L: specialist hours, PPAP delay, OEM scorecard exposure.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Make the audience feel the cost of inaction.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9966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Calibri"/>
                        </a:rPr>
                        <a:t>Proposed Solution</a:t>
                      </a:r>
                    </a:p>
                  </a:txBody>
                  <a:tcPr>
                    <a:solidFill>
                      <a:srgbClr val="F8F1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Diagram: ingest received MDS → orchestrate Check → PASS/FAIL output.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The live agent already runs our IMDS account: PASS accept-forward-propose; FAIL reject.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Position AI as a strategic enabler, not just a technical tool.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Calibri"/>
                        </a:rPr>
                        <a:t>Business Impact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Before/after: manual inbox versus the agentic workflow.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Hours return to specialists. MDS stop stalling PPAP. Decisions are logged.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Show tangible transformation.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127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675120"/>
            <a:ext cx="89611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6A4"/>
                </a:solidFill>
                <a:latin typeface="Calibri"/>
              </a:rPr>
              <a:t>INTERNAL CONFIDENTIAL  ·  Johnson Electric  ·  Supplier Quality  ·  27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675120"/>
            <a:ext cx="15544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6A4"/>
                </a:solidFill>
                <a:latin typeface="Calibri"/>
              </a:rPr>
              <a:t>2  / 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14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471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4A35A"/>
                </a:solidFill>
                <a:latin typeface="Calibri"/>
              </a:rPr>
              <a:t>STORYBOARD  ·  PRESENTER RUN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Beats 5–8: money, rollout, proof, the 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76656"/>
            <a:ext cx="112471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5D0DC"/>
                </a:solidFill>
                <a:latin typeface="Calibri"/>
              </a:rPr>
              <a:t>Close on “Invest in Agentic AI Today” plus a specific pilot / budget approval — not a vague endorsement.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298448"/>
          <a:ext cx="11429999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874519"/>
                <a:gridCol w="2880360"/>
                <a:gridCol w="3520440"/>
                <a:gridCol w="2651760"/>
              </a:tblGrid>
              <a:tr h="9966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Beat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Slide intent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Spoken hook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9966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C96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Calibri"/>
                        </a:rPr>
                        <a:t>Budget &amp; ROI</a:t>
                      </a:r>
                    </a:p>
                  </a:txBody>
                  <a:tcPr>
                    <a:solidFill>
                      <a:srgbClr val="F8F1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Implementation, training, maintenance. Payback window.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Internal effort, not a software RFP. Pilot hours pay back inside one quarter.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Demonstrate financial viability and risk mitigation.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C96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Calibri"/>
                        </a:rPr>
                        <a:t>Implementation Roadmap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Timeline: Pilot → Scale → Optimize, with governance.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Controlled rollout: 20 MDS, logged decisions, executive sponsorship, emergency halt.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Build confidence in execution.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9966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C96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Calibri"/>
                        </a:rPr>
                        <a:t>Case Studies</a:t>
                      </a:r>
                    </a:p>
                  </a:txBody>
                  <a:tcPr>
                    <a:solidFill>
                      <a:srgbClr val="F8F1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External automotive / agentic-automation proof, labeled illustrative.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Peers already automated IMDS-class work. We keep OEM knowledge in-house.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Provide credibility and reduce perceived risk.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96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Calibri"/>
                        </a:rPr>
                        <a:t>Call to Action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Bold line: Invest in Agentic AI Today. Specific ask.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Approve the 20-MDS pilot and the internal budget line this week.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Drive decision and secure buy-in.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127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675120"/>
            <a:ext cx="89611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6A4"/>
                </a:solidFill>
                <a:latin typeface="Calibri"/>
              </a:rPr>
              <a:t>INTERNAL CONFIDENTIAL  ·  Johnson Electric  ·  Supplier Quality  ·  27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675120"/>
            <a:ext cx="15544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6A4"/>
                </a:solidFill>
                <a:latin typeface="Calibri"/>
              </a:rPr>
              <a:t>3  / 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14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471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4A35A"/>
                </a:solidFill>
                <a:latin typeface="Calibri"/>
              </a:rPr>
              <a:t>02  ·  PAIN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The IMDS desk is a production gate run as a manual inbox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76656"/>
            <a:ext cx="112471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5D0DC"/>
                </a:solidFill>
                <a:latin typeface="Calibri"/>
              </a:rPr>
              <a:t>Frame this as ROI, launch risk, and competitiveness — not typing speed.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98448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408176"/>
            <a:ext cx="248716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792224"/>
            <a:ext cx="248716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4A35A"/>
                </a:solidFill>
                <a:latin typeface="Calibri"/>
              </a:rPr>
              <a:t>MDS received /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121408"/>
            <a:ext cx="248716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5D0DC"/>
                </a:solidFill>
                <a:latin typeface="Calibri"/>
              </a:rPr>
              <a:t>Must be viewed before any accept or reject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298448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1408176"/>
            <a:ext cx="248716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~5,000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1792224"/>
            <a:ext cx="248716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4A35A"/>
                </a:solidFill>
                <a:latin typeface="Calibri"/>
              </a:rPr>
              <a:t>Open outstanding MDS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121408"/>
            <a:ext cx="248716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5D0DC"/>
                </a:solidFill>
                <a:latin typeface="Calibri"/>
              </a:rPr>
              <a:t>~100 working days of intake if inbound froze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98448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408176"/>
            <a:ext cx="248716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8–60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1792224"/>
            <a:ext cx="248716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4A35A"/>
                </a:solidFill>
                <a:latin typeface="Calibri"/>
              </a:rPr>
              <a:t>Per MDS, by hand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121408"/>
            <a:ext cx="248716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5D0DC"/>
                </a:solidFill>
                <a:latin typeface="Calibri"/>
              </a:rPr>
              <a:t>Rec 001 + GM / VW / Ford overlays, node by node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98448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C9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4584" y="1408176"/>
            <a:ext cx="248716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PPAP wait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1792224"/>
            <a:ext cx="248716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4A35A"/>
                </a:solidFill>
                <a:latin typeface="Calibri"/>
              </a:rPr>
              <a:t>Cost of inaction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2121408"/>
            <a:ext cx="248716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5D0DC"/>
                </a:solidFill>
                <a:latin typeface="Calibri"/>
              </a:rPr>
              <a:t>Unaccepted MDS = open production authorization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852928"/>
            <a:ext cx="274320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852928"/>
            <a:ext cx="2743200" cy="384048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" y="2926080"/>
            <a:ext cx="248716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ROI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" y="3355848"/>
            <a:ext cx="2487168" cy="2880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A4758"/>
                </a:solidFill>
                <a:latin typeface="Calibri"/>
              </a:rPr>
              <a:t>Specialist hours are spent on clicks — Check, accept, forward, propose, reject — not on supplier coaching or OEM-rule ownership. Hiring a parallel inbox does not encode three OEM rule packs.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2852928"/>
            <a:ext cx="274320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37560" y="2852928"/>
            <a:ext cx="2743200" cy="384048"/>
          </a:xfrm>
          <a:prstGeom prst="rect">
            <a:avLst/>
          </a:prstGeom>
          <a:solidFill>
            <a:srgbClr val="B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5576" y="2926080"/>
            <a:ext cx="248716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65576" y="3355848"/>
            <a:ext cx="2487168" cy="2880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A4758"/>
                </a:solidFill>
                <a:latin typeface="Calibri"/>
              </a:rPr>
              <a:t>Passing IMDS Check is not OEM acceptance. IMDS 15.2 says further review may be required. Wrongful accept is a Quality event. A bouncing MDS to GM, VW, or Ford restarts PPAP.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2852928"/>
            <a:ext cx="274320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2852928"/>
            <a:ext cx="2743200" cy="384048"/>
          </a:xfrm>
          <a:prstGeom prst="rect">
            <a:avLst/>
          </a:prstGeom>
          <a:solidFill>
            <a:srgbClr val="C9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5936" y="2926080"/>
            <a:ext cx="248716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Competitiveness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3355848"/>
            <a:ext cx="2487168" cy="2880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A4758"/>
                </a:solidFill>
                <a:latin typeface="Calibri"/>
              </a:rPr>
              <a:t>We sit in two hops: Tier-2 to our customer and Tier-1 to the OEM. Dummy or unaccepted child MDS blocks the tree. Scorecards and launch dates do not wait for a 5,000-row backlog.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8280" y="2852928"/>
            <a:ext cx="274320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98280" y="2852928"/>
            <a:ext cx="2743200" cy="38404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26296" y="2926080"/>
            <a:ext cx="248716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26296" y="3355848"/>
            <a:ext cx="2487168" cy="2880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A4758"/>
                </a:solidFill>
                <a:latin typeface="Calibri"/>
              </a:rPr>
              <a:t>Judgment sits in a few specialists’ heads. Leave or peak volume stalls launches. The scarce asset is the rule pack — not more people doing the same inbox.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656832"/>
            <a:ext cx="12191695" cy="127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675120"/>
            <a:ext cx="89611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6A4"/>
                </a:solidFill>
                <a:latin typeface="Calibri"/>
              </a:rPr>
              <a:t>INTERNAL CONFIDENTIAL  ·  Johnson Electric  ·  Supplier Quality  ·  27 August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6675120"/>
            <a:ext cx="15544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6A4"/>
                </a:solidFill>
                <a:latin typeface="Calibri"/>
              </a:rPr>
              <a:t>4  / 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14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471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4A35A"/>
                </a:solidFill>
                <a:latin typeface="Calibri"/>
              </a:rPr>
              <a:t>03  · 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Agentic workflow: ingest → orchestrate →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76656"/>
            <a:ext cx="112471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5D0DC"/>
                </a:solidFill>
                <a:latin typeface="Calibri"/>
              </a:rPr>
              <a:t>A live inbox agent on our company IMDS account — not a nightly spreadsheet, not a vendor platform.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61872"/>
            <a:ext cx="35204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261872"/>
            <a:ext cx="352044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335024"/>
            <a:ext cx="3227832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  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1847088"/>
            <a:ext cx="3227832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A4758"/>
                </a:solidFill>
                <a:latin typeface="Calibri"/>
              </a:rPr>
              <a:t>Received MDS rows from our IMDS inbox. Default batch: 20. One-button Colab run. Secrets stay in Colab (key icon): IMDS_USERNAME, IMDS_PASSWORD, OTP_SECRET.</a:t>
            </a:r>
          </a:p>
        </p:txBody>
      </p:sp>
      <p:sp>
        <p:nvSpPr>
          <p:cNvPr id="12" name="Chevron 11"/>
          <p:cNvSpPr/>
          <p:nvPr/>
        </p:nvSpPr>
        <p:spPr>
          <a:xfrm>
            <a:off x="3867912" y="2606040"/>
            <a:ext cx="256032" cy="329184"/>
          </a:xfrm>
          <a:prstGeom prst="chevron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06240" y="1261872"/>
            <a:ext cx="35204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261872"/>
            <a:ext cx="3520440" cy="45720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2544" y="1335024"/>
            <a:ext cx="3227832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  ORCHESTRATE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1847088"/>
            <a:ext cx="3227832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A4758"/>
                </a:solidFill>
                <a:latin typeface="Calibri"/>
              </a:rPr>
              <a:t>Open each row. Run IMDS Check. Network-resume if the session drops. Leftover own-MDS sheets are closed cleanly so IDs never mismatch the next row.</a:t>
            </a:r>
          </a:p>
        </p:txBody>
      </p:sp>
      <p:sp>
        <p:nvSpPr>
          <p:cNvPr id="17" name="Chevron 16"/>
          <p:cNvSpPr/>
          <p:nvPr/>
        </p:nvSpPr>
        <p:spPr>
          <a:xfrm>
            <a:off x="7662672" y="2606040"/>
            <a:ext cx="256032" cy="329184"/>
          </a:xfrm>
          <a:prstGeom prst="chevron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01000" y="1261872"/>
            <a:ext cx="35204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261872"/>
            <a:ext cx="3520440" cy="457200"/>
          </a:xfrm>
          <a:prstGeom prst="rect">
            <a:avLst/>
          </a:prstGeom>
          <a:solidFill>
            <a:srgbClr val="1F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1335024"/>
            <a:ext cx="3227832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 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1847088"/>
            <a:ext cx="3227832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A4758"/>
                </a:solidFill>
                <a:latin typeface="Calibri"/>
              </a:rPr>
              <a:t>PASS → accept + forward + propose to recipients 9994 and 293798. FAIL → reject. Preferred contact Qu, Theresa; any real Supplier Data contact if she is missing.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480560"/>
            <a:ext cx="56235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480560"/>
            <a:ext cx="109728" cy="1874519"/>
          </a:xfrm>
          <a:prstGeom prst="rect">
            <a:avLst/>
          </a:prstGeom>
          <a:solidFill>
            <a:srgbClr val="1F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4617720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8A72"/>
                </a:solidFill>
                <a:latin typeface="Calibri"/>
              </a:rPr>
              <a:t>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4645152"/>
            <a:ext cx="324612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A4758"/>
                </a:solidFill>
                <a:latin typeface="Calibri"/>
              </a:rPr>
              <a:t>Accept the received MDS. Forward. Propose to company IDs 9994 and 293798. Contact: Qu, Theresa, with fallback to any real name in the dropdown.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0560"/>
            <a:ext cx="56235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480560"/>
            <a:ext cx="109728" cy="1874519"/>
          </a:xfrm>
          <a:prstGeom prst="rect">
            <a:avLst/>
          </a:prstGeom>
          <a:solidFill>
            <a:srgbClr val="B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617720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43A3A"/>
                </a:solidFill>
                <a:latin typeface="Calibri"/>
              </a:rPr>
              <a:t>FAIL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645152"/>
            <a:ext cx="324612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A4758"/>
                </a:solidFill>
                <a:latin typeface="Calibri"/>
              </a:rPr>
              <a:t>Reject with the Check result on the record. Do not forward. Do not propose. The specialist is not stuck in a click loop on a known-bad tree.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56832"/>
            <a:ext cx="12191695" cy="127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675120"/>
            <a:ext cx="89611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6A4"/>
                </a:solidFill>
                <a:latin typeface="Calibri"/>
              </a:rPr>
              <a:t>INTERNAL CONFIDENTIAL  ·  Johnson Electric  ·  Supplier Quality  ·  27 August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675120"/>
            <a:ext cx="15544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6A4"/>
                </a:solidFill>
                <a:latin typeface="Calibri"/>
              </a:rPr>
              <a:t>5  / 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14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471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4A35A"/>
                </a:solidFill>
                <a:latin typeface="Calibri"/>
              </a:rPr>
              <a:t>03  · 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The live agent is already hardened for a governed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76656"/>
            <a:ext cx="112471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5D0DC"/>
                </a:solidFill>
                <a:latin typeface="Calibri"/>
              </a:rPr>
              <a:t>imds_agent_v2.py on our licensed IMDS users only. Reliability is the governance 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562356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371600"/>
            <a:ext cx="329184" cy="329184"/>
          </a:xfrm>
          <a:prstGeom prst="ellipse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408176"/>
            <a:ext cx="3291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137160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One-button Colab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1700784"/>
            <a:ext cx="4846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A4758"/>
                </a:solidFill>
                <a:latin typeface="Calibri"/>
              </a:rPr>
              <a:t>Run from Colab_Start_Here. Credentials in Colab Secrets (key icon). Default 20 MDS. Leftover debug values of 3 or 10 are ignored so an old cell cannot shrink the pilot.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07008"/>
            <a:ext cx="562356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9944" y="1371600"/>
            <a:ext cx="329184" cy="329184"/>
          </a:xfrm>
          <a:prstGeom prst="ellipse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408176"/>
            <a:ext cx="3291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8856" y="137160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PASS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8856" y="1700784"/>
            <a:ext cx="4846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A4758"/>
                </a:solidFill>
                <a:latin typeface="Calibri"/>
              </a:rPr>
              <a:t>IMDS Check with 0 errors → accept, then forward, then propose. Recipients 9994 and 293798. Preferred contact Qu, Theresa.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71216"/>
            <a:ext cx="562356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3504" y="3035808"/>
            <a:ext cx="329184" cy="329184"/>
          </a:xfrm>
          <a:prstGeom prst="ellipse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3072384"/>
            <a:ext cx="3291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3035808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FAIL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" y="3364992"/>
            <a:ext cx="4846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A4758"/>
                </a:solidFill>
                <a:latin typeface="Calibri"/>
              </a:rPr>
              <a:t>Check failures are rejected. The inbox does not accumulate known-bad MDS while specialists hunt clicks.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871216"/>
            <a:ext cx="562356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9944" y="3035808"/>
            <a:ext cx="329184" cy="329184"/>
          </a:xfrm>
          <a:prstGeom prst="ellipse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9944" y="3072384"/>
            <a:ext cx="3291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8856" y="3035808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Network resume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8856" y="3364992"/>
            <a:ext cx="4846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A4758"/>
                </a:solidFill>
                <a:latin typeface="Calibri"/>
              </a:rPr>
              <a:t>A dropped session waits and continues the 20-row loop instead of aborting the batch. Production gates cannot depend on a perfect network afternoon.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535424"/>
            <a:ext cx="562356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4700016"/>
            <a:ext cx="329184" cy="329184"/>
          </a:xfrm>
          <a:prstGeom prst="ellipse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4736592"/>
            <a:ext cx="3291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" y="4700016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Same-MDS tabs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" y="5029200"/>
            <a:ext cx="4846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A4758"/>
                </a:solidFill>
                <a:latin typeface="Calibri"/>
              </a:rPr>
              <a:t>“Do you want to save your changes?” is Yes when switching Supplier Data / Recipient Data on the same forwarded MDS so Propose finishes on the new own-MDS ID.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535424"/>
            <a:ext cx="562356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09944" y="4700016"/>
            <a:ext cx="329184" cy="329184"/>
          </a:xfrm>
          <a:prstGeom prst="ellipse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9944" y="4736592"/>
            <a:ext cx="3291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48856" y="4700016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Leaving leftovers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48856" y="5029200"/>
            <a:ext cx="4846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A4758"/>
                </a:solidFill>
                <a:latin typeface="Calibri"/>
              </a:rPr>
              <a:t>The same prompt is No when leaving a leftover own-MDS sheet to search the next received row — Yes would keep the leftover ID and mismatch every later row.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656832"/>
            <a:ext cx="12191695" cy="127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675120"/>
            <a:ext cx="89611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6A4"/>
                </a:solidFill>
                <a:latin typeface="Calibri"/>
              </a:rPr>
              <a:t>INTERNAL CONFIDENTIAL  ·  Johnson Electric  ·  Supplier Quality  ·  27 August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6675120"/>
            <a:ext cx="15544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6A4"/>
                </a:solidFill>
                <a:latin typeface="Calibri"/>
              </a:rPr>
              <a:t>6  / 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14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471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4A35A"/>
                </a:solidFill>
                <a:latin typeface="Calibri"/>
              </a:rPr>
              <a:t>04  ·  BUSINESS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Manual inbox versus the agentic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76656"/>
            <a:ext cx="112471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5D0DC"/>
                </a:solidFill>
                <a:latin typeface="Calibri"/>
              </a:rPr>
              <a:t>Transformation is hours, launch risk, and a decision log — not a software logo.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207008"/>
          <a:ext cx="114300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4709160"/>
                <a:gridCol w="4754880"/>
              </a:tblGrid>
              <a:tr h="563880"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Before — manual desk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After — agentic workflow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Calibri"/>
                        </a:rPr>
                        <a:t>Inbox</a:t>
                      </a:r>
                    </a:p>
                  </a:txBody>
                  <a:tcPr>
                    <a:solidFill>
                      <a:srgbClr val="F8F1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3A4758"/>
                          </a:solidFill>
                          <a:latin typeface="Calibri"/>
                        </a:rPr>
                        <a:t>50/day viewed by hand; ~5,000 aging</a:t>
                      </a:r>
                    </a:p>
                  </a:txBody>
                  <a:tcPr>
                    <a:solidFill>
                      <a:srgbClr val="F8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3A4758"/>
                          </a:solidFill>
                          <a:latin typeface="Calibri"/>
                        </a:rPr>
                        <a:t>20-MDS governed batch; same-session decisions</a:t>
                      </a:r>
                    </a:p>
                  </a:txBody>
                  <a:tcPr>
                    <a:solidFill>
                      <a:srgbClr val="E5F3F1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3A4758"/>
                          </a:solidFill>
                          <a:latin typeface="Calibri"/>
                        </a:rPr>
                        <a:t>Specialist walks every node, every overlay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3A4758"/>
                          </a:solidFill>
                          <a:latin typeface="Calibri"/>
                        </a:rPr>
                        <a:t>Agent runs IMDS Check; PASS/FAIL is explicit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Calibri"/>
                        </a:rPr>
                        <a:t>PASS path</a:t>
                      </a:r>
                    </a:p>
                  </a:txBody>
                  <a:tcPr>
                    <a:solidFill>
                      <a:srgbClr val="F8F1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3A4758"/>
                          </a:solidFill>
                          <a:latin typeface="Calibri"/>
                        </a:rPr>
                        <a:t>Accept, forward, propose as separate click chains</a:t>
                      </a:r>
                    </a:p>
                  </a:txBody>
                  <a:tcPr>
                    <a:solidFill>
                      <a:srgbClr val="F8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3A4758"/>
                          </a:solidFill>
                          <a:latin typeface="Calibri"/>
                        </a:rPr>
                        <a:t>Accept + forward + propose to 9994 and 293798</a:t>
                      </a:r>
                    </a:p>
                  </a:txBody>
                  <a:tcPr>
                    <a:solidFill>
                      <a:srgbClr val="E5F3F1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Calibri"/>
                        </a:rPr>
                        <a:t>FAIL path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3A4758"/>
                          </a:solidFill>
                          <a:latin typeface="Calibri"/>
                        </a:rPr>
                        <a:t>Rejects wait; reasons vary by who is on shift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3A4758"/>
                          </a:solidFill>
                          <a:latin typeface="Calibri"/>
                        </a:rPr>
                        <a:t>Reject on Check failure; reason on the record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Calibri"/>
                        </a:rPr>
                        <a:t>Contact / recipients</a:t>
                      </a:r>
                    </a:p>
                  </a:txBody>
                  <a:tcPr>
                    <a:solidFill>
                      <a:srgbClr val="F8F1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3A4758"/>
                          </a:solidFill>
                          <a:latin typeface="Calibri"/>
                        </a:rPr>
                        <a:t>Theresa / org IDs re-typed; easy to miss</a:t>
                      </a:r>
                    </a:p>
                  </a:txBody>
                  <a:tcPr>
                    <a:solidFill>
                      <a:srgbClr val="F8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3A4758"/>
                          </a:solidFill>
                          <a:latin typeface="Calibri"/>
                        </a:rPr>
                        <a:t>Preferred contact with fallback; both recipients every PASS</a:t>
                      </a:r>
                    </a:p>
                  </a:txBody>
                  <a:tcPr>
                    <a:solidFill>
                      <a:srgbClr val="E5F3F1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Calibri"/>
                        </a:rPr>
                        <a:t>Disruption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3A4758"/>
                          </a:solidFill>
                          <a:latin typeface="Calibri"/>
                        </a:rPr>
                        <a:t>Network drop or leftover sheet aborts the afternoon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3A4758"/>
                          </a:solidFill>
                          <a:latin typeface="Calibri"/>
                        </a:rPr>
                        <a:t>Resume after drop; leftover sheets closed with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Calibri"/>
                        </a:rPr>
                        <a:t>PPAP / scorecard</a:t>
                      </a:r>
                    </a:p>
                  </a:txBody>
                  <a:tcPr>
                    <a:solidFill>
                      <a:srgbClr val="F8F1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3A4758"/>
                          </a:solidFill>
                          <a:latin typeface="Calibri"/>
                        </a:rPr>
                        <a:t>Open MDS = open launch authorization</a:t>
                      </a:r>
                    </a:p>
                  </a:txBody>
                  <a:tcPr>
                    <a:solidFill>
                      <a:srgbClr val="F8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3A4758"/>
                          </a:solidFill>
                          <a:latin typeface="Calibri"/>
                        </a:rPr>
                        <a:t>Same-day greens; reds returned to the supplier the same day</a:t>
                      </a:r>
                    </a:p>
                  </a:txBody>
                  <a:tcPr>
                    <a:solidFill>
                      <a:srgbClr val="E5F3F1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Calibri"/>
                        </a:rPr>
                        <a:t>Audit trail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3A4758"/>
                          </a:solidFill>
                          <a:latin typeface="Calibri"/>
                        </a:rPr>
                        <a:t>Tribal knowledge in specialists’ heads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3A4758"/>
                          </a:solidFill>
                          <a:latin typeface="Calibri"/>
                        </a:rPr>
                        <a:t>Excel check_summary with Action Result per row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127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675120"/>
            <a:ext cx="89611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6A4"/>
                </a:solidFill>
                <a:latin typeface="Calibri"/>
              </a:rPr>
              <a:t>INTERNAL CONFIDENTIAL  ·  Johnson Electric  ·  Supplier Quality  ·  27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675120"/>
            <a:ext cx="15544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6A4"/>
                </a:solidFill>
                <a:latin typeface="Calibri"/>
              </a:rPr>
              <a:t>7  / 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14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471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4A35A"/>
                </a:solidFill>
                <a:latin typeface="Calibri"/>
              </a:rPr>
              <a:t>05  ·  BUDGET &amp;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Internal program hours. Zero software license. Payback inside a quarter.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76656"/>
            <a:ext cx="112471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5D0DC"/>
                </a:solidFill>
                <a:latin typeface="Calibri"/>
              </a:rPr>
              <a:t>Planning model for this briefing — not booked Johnson Electric P&amp;L. No vendor invoice.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61872"/>
            <a:ext cx="2788920" cy="1417320"/>
          </a:xfrm>
          <a:prstGeom prst="roundRect">
            <a:avLst>
              <a:gd name="adj" fmla="val 6000"/>
            </a:avLst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371600"/>
            <a:ext cx="253288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1755648"/>
            <a:ext cx="253288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4A35A"/>
                </a:solidFill>
                <a:latin typeface="Calibri"/>
              </a:rPr>
              <a:t>Software licenses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2084832"/>
            <a:ext cx="253288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5D0DC"/>
                </a:solidFill>
                <a:latin typeface="Calibri"/>
              </a:rPr>
              <a:t>Classic IMDS browser + Colab Secrets. No Plus, no Examiner, no integrator.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261872"/>
            <a:ext cx="2788920" cy="141732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1371600"/>
            <a:ext cx="253288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~60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1755648"/>
            <a:ext cx="253288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4A35A"/>
                </a:solidFill>
                <a:latin typeface="Calibri"/>
              </a:rPr>
              <a:t>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084832"/>
            <a:ext cx="253288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5D0DC"/>
                </a:solidFill>
                <a:latin typeface="Calibri"/>
              </a:rPr>
              <a:t>Govern the live agent: logging, sample audit, halt, recipient/contact policy.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261872"/>
            <a:ext cx="2788920" cy="141732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1371600"/>
            <a:ext cx="253288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~16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1755648"/>
            <a:ext cx="253288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4A35A"/>
                </a:solidFill>
                <a:latin typeface="Calibri"/>
              </a:rPr>
              <a:t>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084832"/>
            <a:ext cx="253288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5D0DC"/>
                </a:solidFill>
                <a:latin typeface="Calibri"/>
              </a:rPr>
              <a:t>Specialists: exception handling, audit sampling, emergency halt drill.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261872"/>
            <a:ext cx="2788920" cy="141732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1371600"/>
            <a:ext cx="253288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~4 h/mo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024" y="1755648"/>
            <a:ext cx="253288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4A35A"/>
                </a:solidFill>
                <a:latin typeface="Calibri"/>
              </a:rPr>
              <a:t>Maintenance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2084832"/>
            <a:ext cx="253288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5D0DC"/>
                </a:solidFill>
                <a:latin typeface="Calibri"/>
              </a:rPr>
              <a:t>Rule drift, recipients, contact fallback, secret hygiene, weekly sample audit.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365760" y="2852928"/>
          <a:ext cx="114300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297680"/>
                <a:gridCol w="4114800"/>
              </a:tblGrid>
              <a:tr h="685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ROI lever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How we count it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Why it pays back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Calibri"/>
                        </a:rPr>
                        <a:t>Hours on Check / accept / forward / propose</a:t>
                      </a:r>
                    </a:p>
                  </a:txBody>
                  <a:tcPr>
                    <a:solidFill>
                      <a:srgbClr val="F8F1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15 min median × 50 MDS/day ≈ 12.5 specialist-hours/day (desk model)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Even ~25% of inbound automated returns 3+ hours/day. 60 implementation hours recover in weeks.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Calibri"/>
                        </a:rPr>
                        <a:t>IMDS non-compliance / OEM scorecards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GM, VW, Ford completeness and bounce rate on our MDS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A scorecard miss is commercial risk. Logged PASS/FAIL is the control Finance and Quality can see.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Calibri"/>
                        </a:rPr>
                        <a:t>Delayed PPAP / launch hold</a:t>
                      </a:r>
                    </a:p>
                  </a:txBody>
                  <a:tcPr>
                    <a:solidFill>
                      <a:srgbClr val="F8F1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Unaccepted or bouncing MDS blocks production authorization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One delayed PPAP dwarfs the pilot cost. Same-day reject also shortens supplier rework.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Calibri"/>
                        </a:rPr>
                        <a:t>Payback period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Target: inside 90 days of pilot start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Hours recovered + avoided launch delay. Revisit after the 20-MDS pilot with measured minutes/MDS.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656832"/>
            <a:ext cx="12191695" cy="127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675120"/>
            <a:ext cx="89611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6A4"/>
                </a:solidFill>
                <a:latin typeface="Calibri"/>
              </a:rPr>
              <a:t>INTERNAL CONFIDENTIAL  ·  Johnson Electric  ·  Supplier Quality  ·  27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675120"/>
            <a:ext cx="15544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6A4"/>
                </a:solidFill>
                <a:latin typeface="Calibri"/>
              </a:rPr>
              <a:t>8  / 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14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471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4A35A"/>
                </a:solidFill>
                <a:latin typeface="Calibri"/>
              </a:rPr>
              <a:t>06  ·  IMPLEMENTATION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Pilot → Scale → Optimize. Controlled rollout, named governance.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76656"/>
            <a:ext cx="112471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5D0DC"/>
                </a:solidFill>
                <a:latin typeface="Calibri"/>
              </a:rPr>
              <a:t>We do not flip auto-accept on the 5,000-row stock on day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61872"/>
            <a:ext cx="370332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261872"/>
            <a:ext cx="3703320" cy="77724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335024"/>
            <a:ext cx="33832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645920"/>
            <a:ext cx="33832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4A35A"/>
                </a:solidFill>
                <a:latin typeface="Calibri"/>
              </a:rPr>
              <a:t>Days 1–30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176272"/>
            <a:ext cx="3383280" cy="2606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A4758"/>
                </a:solidFill>
                <a:latin typeface="Calibri"/>
              </a:rPr>
              <a:t>20 MDS live batches on our company account. Log every PASS/FAIL. Sample-audit greens. Freeze recipient IDs 9994 / 293798 and the Theresa-plus-fallback contact rule. Emergency halt stays in Supplier Quality’s hands. Success: the 20-row loop completes without leftover-ID mismatch.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261872"/>
            <a:ext cx="370332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261872"/>
            <a:ext cx="3703320" cy="77724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1335024"/>
            <a:ext cx="33832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1645920"/>
            <a:ext cx="33832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4A35A"/>
                </a:solidFill>
                <a:latin typeface="Calibri"/>
              </a:rPr>
              <a:t>Days 31–60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176272"/>
            <a:ext cx="3383280" cy="2606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A4758"/>
                </a:solidFill>
                <a:latin typeface="Calibri"/>
              </a:rPr>
              <a:t>Raise daily burn on NEW inbound. Auto-reject FAIL patterns with structured text. Shadow-score remaining greens beside the specialist. Operations uses PPAP clock as the success metric. Supply chain chases dummy children the agent cannot invent.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261872"/>
            <a:ext cx="370332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261872"/>
            <a:ext cx="3703320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2" y="1335024"/>
            <a:ext cx="33832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OPTIMIZE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2" y="1645920"/>
            <a:ext cx="33832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4A35A"/>
                </a:solidFill>
                <a:latin typeface="Calibri"/>
              </a:rPr>
              <a:t>Days 61–90+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2176272"/>
            <a:ext cx="3383280" cy="2606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A4758"/>
                </a:solidFill>
                <a:latin typeface="Calibri"/>
              </a:rPr>
              <a:t>Auto-accept greens with weekly audit. Start a measured burn-down of the 5,000. Encode GM / VW / Ford overlays as Examiner-equivalent packs on top of Check. Role shift: specialists own rule packs and exceptions — not inbox volume.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5102352"/>
            <a:ext cx="11338560" cy="1261872"/>
          </a:xfrm>
          <a:prstGeom prst="roundRect">
            <a:avLst>
              <a:gd name="adj" fmla="val 6000"/>
            </a:avLst>
          </a:prstGeom>
          <a:solidFill>
            <a:srgbClr val="F8F1E0"/>
          </a:solidFill>
          <a:ln w="1270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19379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1F3A"/>
                </a:solidFill>
                <a:latin typeface="Calibri"/>
              </a:rPr>
              <a:t>GOVERNANCE — non-negotiable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486400"/>
            <a:ext cx="1097280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A4758"/>
                </a:solidFill>
                <a:latin typeface="Calibri"/>
              </a:rPr>
              <a:t>Accountable owner: Supplier Quality Director. Executive sponsorship from VP/GM so the pilot is not re-argued every week. Own-account only. Sample audit of PASS accepts. Emergency halt on auto-accept / auto-reject in one action. Human-mandatory list: novel chemistry, OEM derogation, dispute. Stakeholder alignment: Quality (audit), Operations (PPAP clock), Supply chain (dummy-child follow-up), HR (role redesign, not a headcount cut).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656832"/>
            <a:ext cx="12191695" cy="127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675120"/>
            <a:ext cx="89611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6A4"/>
                </a:solidFill>
                <a:latin typeface="Calibri"/>
              </a:rPr>
              <a:t>INTERNAL CONFIDENTIAL  ·  Johnson Electric  ·  Supplier Quality  ·  27 August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675120"/>
            <a:ext cx="15544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6A4"/>
                </a:solidFill>
                <a:latin typeface="Calibri"/>
              </a:rPr>
              <a:t>9  / 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14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471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4A35A"/>
                </a:solidFill>
                <a:latin typeface="Calibri"/>
              </a:rPr>
              <a:t>07  ·  CASE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External proof the category works. Not Johnson Electric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76656"/>
            <a:ext cx="112471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5D0DC"/>
                </a:solidFill>
                <a:latin typeface="Calibri"/>
              </a:rPr>
              <a:t>Vendor-reported and industry-analog. We keep OEM knowledge in-house; we do not rent the desk.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07008"/>
            <a:ext cx="11338560" cy="475488"/>
          </a:xfrm>
          <a:prstGeom prst="roundRect">
            <a:avLst>
              <a:gd name="adj" fmla="val 6000"/>
            </a:avLst>
          </a:prstGeom>
          <a:solidFill>
            <a:srgbClr val="F8F1E0"/>
          </a:solidFill>
          <a:ln w="1270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109728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ILLUSTRATIVE / EXTERNAL — do not quote these as Johnson Electric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847088"/>
            <a:ext cx="37033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847088"/>
            <a:ext cx="3703320" cy="77724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" y="1920240"/>
            <a:ext cx="341071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Automotive IMDS platforms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2286000"/>
            <a:ext cx="341071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8F1E0"/>
                </a:solidFill>
                <a:latin typeface="Calibri"/>
              </a:rPr>
              <a:t>DXC IMDS Plus / Inbox Automation; iPoint; APA MDS Xpress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2761488"/>
            <a:ext cx="3410712" cy="2148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A4758"/>
                </a:solidFill>
                <a:latin typeface="Calibri"/>
              </a:rPr>
              <a:t>Paid Examiner profiles and auto-accept if no errors. Proves OEMs already accept machine-paced inbox work. We have none of it, and we are not opening an RFP in v1.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847088"/>
            <a:ext cx="37033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847088"/>
            <a:ext cx="3703320" cy="77724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8264" y="1920240"/>
            <a:ext cx="341071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Predco — vendor-reported, 12 Tier-1s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2286000"/>
            <a:ext cx="341071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8F1E0"/>
                </a:solidFill>
                <a:latin typeface="Calibri"/>
              </a:rPr>
              <a:t>Automotive supply-chain compliance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2761488"/>
            <a:ext cx="3410712" cy="2148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A4758"/>
                </a:solidFill>
                <a:latin typeface="Calibri"/>
              </a:rPr>
              <a:t>−89% rejects, −72% cycle time, ~18 days PPAP recovery, 1.8% reject rate. Evidence the problem is solvable. Not a purchase recommendation. Not our ROI.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847088"/>
            <a:ext cx="37033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847088"/>
            <a:ext cx="3703320" cy="77724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1920240"/>
            <a:ext cx="341071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Certivo — vendor-reported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2286000"/>
            <a:ext cx="341071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8F1E0"/>
                </a:solidFill>
                <a:latin typeface="Calibri"/>
              </a:rPr>
              <a:t>Agentic / automated MDS preparation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4" y="2761488"/>
            <a:ext cx="3410712" cy="2148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A4758"/>
                </a:solidFill>
                <a:latin typeface="Calibri"/>
              </a:rPr>
              <a:t>First-pass reject 30–40% → &lt;5%; cycle 4–6 weeks → ~4 hours; ~80% less prep labor. Productivity and customer-readiness analog. Not booked JE revenue lift.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230368"/>
            <a:ext cx="11247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0B1F3A"/>
                </a:solidFill>
                <a:latin typeface="Calibri"/>
              </a:rPr>
              <a:t>What we take from them: score, cite, structured reject, outbound pre-flight. What we do not do: outsource GM / VW / Ford overlays or our 5,000-row desk to a vendor that does not know our tree conventions. Johnson Electric metrics stay the ones on the pain and impact slides (50/day, ~5,000 open, 20-MDS live agent). Customer-satisfaction and revenue-lift figures above are theirs, not ours.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656832"/>
            <a:ext cx="12191695" cy="127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675120"/>
            <a:ext cx="89611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6A4"/>
                </a:solidFill>
                <a:latin typeface="Calibri"/>
              </a:rPr>
              <a:t>INTERNAL CONFIDENTIAL  ·  Johnson Electric  ·  Supplier Quality  ·  27 August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675120"/>
            <a:ext cx="15544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6A4"/>
                </a:solidFill>
                <a:latin typeface="Calibri"/>
              </a:rPr>
              <a:t>10  / 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4A35A"/>
                </a:solidFill>
                <a:latin typeface="Calibri"/>
              </a:rPr>
              <a:t>08  ·  CALL TO ACTION  ·  27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1064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Invest in Agentic AI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C4A35A"/>
                </a:solidFill>
                <a:latin typeface="Calibri"/>
              </a:rPr>
              <a:t>Approve the 20-MDS live pilot and the internal budget line this week.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14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2761488"/>
            <a:ext cx="384048" cy="384048"/>
          </a:xfrm>
          <a:prstGeom prst="ellipse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816352"/>
            <a:ext cx="3840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70048"/>
            <a:ext cx="1554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706624"/>
            <a:ext cx="82753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5DEE8"/>
                </a:solidFill>
                <a:latin typeface="Calibri"/>
              </a:rPr>
              <a:t>Authorize live runs of 20 received MDS on our company IMDS account (Colab one-button, Secrets in 🔑).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290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14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2" y="3630168"/>
            <a:ext cx="384048" cy="384048"/>
          </a:xfrm>
          <a:prstGeom prst="ellipse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85032"/>
            <a:ext cx="3840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538728"/>
            <a:ext cx="1554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575304"/>
            <a:ext cx="82753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5DEE8"/>
                </a:solidFill>
                <a:latin typeface="Calibri"/>
              </a:rPr>
              <a:t>Allocate the internal line: ~60 h implementation, ~16 h training, ~4 h/month maintenance. $0 licenses.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9768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14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498848"/>
            <a:ext cx="384048" cy="384048"/>
          </a:xfrm>
          <a:prstGeom prst="ellipse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553712"/>
            <a:ext cx="3840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407408"/>
            <a:ext cx="1554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443984"/>
            <a:ext cx="82753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5DEE8"/>
                </a:solidFill>
                <a:latin typeface="Calibri"/>
              </a:rPr>
              <a:t>Supplier Quality Director (Wong) owns rule packs, emergency halt, 90-day milestones, and the 5,000 burn-down.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16636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14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4672" y="5367528"/>
            <a:ext cx="384048" cy="384048"/>
          </a:xfrm>
          <a:prstGeom prst="ellipse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422392"/>
            <a:ext cx="3840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76088"/>
            <a:ext cx="1554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Sponsorship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312664"/>
            <a:ext cx="82753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5DEE8"/>
                </a:solidFill>
                <a:latin typeface="Calibri"/>
              </a:rPr>
              <a:t>VP/GM executive sponsorship and stakeholder alignment so the pilot is the house approach — not a weekly re-litigation of buy vs hire.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14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471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4A35A"/>
                </a:solidFill>
                <a:latin typeface="Calibri"/>
              </a:rPr>
              <a:t>APPENDIX  ·  Q&amp;A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Live-agent facts and glossary — skip in the 20-minute slot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76656"/>
            <a:ext cx="112471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5D0DC"/>
                </a:solidFill>
                <a:latin typeface="Calibri"/>
              </a:rPr>
              <a:t>Validate OEM overlays against current GM / VW / Ford IMDS portals before production use.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170432"/>
          <a:ext cx="11429998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749039"/>
                <a:gridCol w="1965960"/>
                <a:gridCol w="3749039"/>
              </a:tblGrid>
              <a:tr h="724988"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0B1F3A"/>
                          </a:solidFill>
                          <a:latin typeface="Calibri"/>
                        </a:rPr>
                        <a:t>Executive sponsorship</a:t>
                      </a:r>
                    </a:p>
                  </a:txBody>
                  <a:tcPr>
                    <a:solidFill>
                      <a:srgbClr val="F8F1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VP/GM publicly backs the pilot so buy-vs-hire is not reopened weekly.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0B1F3A"/>
                          </a:solidFill>
                          <a:latin typeface="Calibri"/>
                        </a:rPr>
                        <a:t>Emergency halt</a:t>
                      </a:r>
                    </a:p>
                  </a:txBody>
                  <a:tcPr>
                    <a:solidFill>
                      <a:srgbClr val="F8F1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One action stops auto-accept / auto-reject if a pack or Check rule drifts.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0B1F3A"/>
                          </a:solidFill>
                          <a:latin typeface="Calibri"/>
                        </a:rPr>
                        <a:t>Own-account only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Our IMDS users, our company inbox/outbox. No other company’s data.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0B1F3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IMDS Check with 0 errors → accept + forward + propose to 9994, 293798.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0B1F3A"/>
                          </a:solidFill>
                          <a:latin typeface="Calibri"/>
                        </a:rPr>
                        <a:t>FAIL</a:t>
                      </a:r>
                    </a:p>
                  </a:txBody>
                  <a:tcPr>
                    <a:solidFill>
                      <a:srgbClr val="F8F1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Check failure → reject. No forward, no propose.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0B1F3A"/>
                          </a:solidFill>
                          <a:latin typeface="Calibri"/>
                        </a:rPr>
                        <a:t>Preferred contact</a:t>
                      </a:r>
                    </a:p>
                  </a:txBody>
                  <a:tcPr>
                    <a:solidFill>
                      <a:srgbClr val="F8F1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Qu, Theresa. Fallback: any real Supplier Data name (not blank).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0B1F3A"/>
                          </a:solidFill>
                          <a:latin typeface="Calibri"/>
                        </a:rPr>
                        <a:t>Network resume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After a drop, wait and continue the 20-row loop instead of aborting.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0B1F3A"/>
                          </a:solidFill>
                          <a:latin typeface="Calibri"/>
                        </a:rPr>
                        <a:t>Save-changes Yes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Same forwarded MDS, switching Supplier / Recipient tabs.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0B1F3A"/>
                          </a:solidFill>
                          <a:latin typeface="Calibri"/>
                        </a:rPr>
                        <a:t>Save-changes No</a:t>
                      </a:r>
                    </a:p>
                  </a:txBody>
                  <a:tcPr>
                    <a:solidFill>
                      <a:srgbClr val="F8F1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Leaving a leftover own-MDS sheet to open the next received row.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0B1F3A"/>
                          </a:solidFill>
                          <a:latin typeface="Calibri"/>
                        </a:rPr>
                        <a:t>Dummy child</a:t>
                      </a:r>
                    </a:p>
                  </a:txBody>
                  <a:tcPr>
                    <a:solidFill>
                      <a:srgbClr val="F8F1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Placeholder node instead of an accepted sub-supplier MDS.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4992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0B1F3A"/>
                          </a:solidFill>
                          <a:latin typeface="Calibri"/>
                        </a:rPr>
                        <a:t>Pre-flight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Run the OEM overlay on outbound MDS before Propose.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0B1F3A"/>
                          </a:solidFill>
                          <a:latin typeface="Calibri"/>
                        </a:rPr>
                        <a:t>OEM-rule owner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3A4758"/>
                          </a:solidFill>
                          <a:latin typeface="Calibri"/>
                        </a:rPr>
                        <a:t>Specialist owns GM/VW/Ford packs and exceptions, not inbox volume.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127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675120"/>
            <a:ext cx="89611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6A4"/>
                </a:solidFill>
                <a:latin typeface="Calibri"/>
              </a:rPr>
              <a:t>INTERNAL CONFIDENTIAL  ·  Johnson Electric  ·  Supplier Quality  ·  27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675120"/>
            <a:ext cx="15544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6A4"/>
                </a:solidFill>
                <a:latin typeface="Calibri"/>
              </a:rPr>
              <a:t>12  /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